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ink/ink2.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70" r:id="rId9"/>
    <p:sldId id="271" r:id="rId10"/>
    <p:sldId id="267" r:id="rId11"/>
    <p:sldId id="268" r:id="rId12"/>
    <p:sldId id="269" r:id="rId13"/>
  </p:sldIdLst>
  <p:sldSz cx="9144000" cy="6858000" type="screen4x3"/>
  <p:notesSz cx="6858000" cy="9144000"/>
  <p:embeddedFontLst>
    <p:embeddedFont>
      <p:font typeface="Arial Black" panose="020B0A04020102020204" pitchFamily="34" charset="0"/>
      <p:regular r:id="rId15"/>
      <p:bold r:id="rId16"/>
    </p:embeddedFon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Cambria Math" panose="02040503050406030204" pitchFamily="18" charset="0"/>
      <p:regular r:id="rId25"/>
    </p:embeddedFont>
    <p:embeddedFont>
      <p:font typeface="Century Schoolbook" panose="02040604050505020304" pitchFamily="18" charset="0"/>
      <p:regular r:id="rId26"/>
      <p:bold r:id="rId27"/>
      <p:italic r:id="rId28"/>
      <p:boldItalic r:id="rId29"/>
    </p:embeddedFont>
    <p:embeddedFont>
      <p:font typeface="Roboto" panose="020000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gQmHZMLQPRrBnjCO/7tdUMXWB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3A9E66-F23F-4685-8762-FB8163C4B72E}">
  <a:tblStyle styleId="{803A9E66-F23F-4685-8762-FB8163C4B72E}"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CECEC"/>
          </a:solidFill>
        </a:fill>
      </a:tcStyle>
    </a:wholeTbl>
    <a:band1H>
      <a:tcTxStyle b="off" i="off"/>
      <a:tcStyle>
        <a:tcBdr/>
        <a:fill>
          <a:solidFill>
            <a:srgbClr val="D6D6D6"/>
          </a:solidFill>
        </a:fill>
      </a:tcStyle>
    </a:band1H>
    <a:band2H>
      <a:tcTxStyle b="off" i="off"/>
      <a:tcStyle>
        <a:tcBdr/>
      </a:tcStyle>
    </a:band2H>
    <a:band1V>
      <a:tcTxStyle b="off" i="off"/>
      <a:tcStyle>
        <a:tcBdr/>
        <a:fill>
          <a:solidFill>
            <a:srgbClr val="D6D6D6"/>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p:cViewPr varScale="1">
        <p:scale>
          <a:sx n="84" d="100"/>
          <a:sy n="84" d="100"/>
        </p:scale>
        <p:origin x="1387"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9" Type="http://schemas.openxmlformats.org/officeDocument/2006/relationships/theme" Target="theme/theme1.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font" Target="fonts/font19.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font" Target="fonts/font18.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7:38:33.935"/>
    </inkml:context>
    <inkml:brush xml:id="br0">
      <inkml:brushProperty name="width" value="0.035" units="cm"/>
      <inkml:brushProperty name="height" value="0.035" units="cm"/>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7:38:44.970"/>
    </inkml:context>
    <inkml:brush xml:id="br0">
      <inkml:brushProperty name="width" value="0.035" units="cm"/>
      <inkml:brushProperty name="height" value="0.035" units="cm"/>
    </inkml:brush>
  </inkml:definitions>
  <inkml:trace contextRef="#ctx0" brushRef="#br0">0 0 24575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 name="Google Shape;9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a64a40ef39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a64a40ef39_0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g3a64a40ef39_0_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a64a40ef39_0_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a64a40ef39_0_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g3a64a40ef39_0_1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a64a40ef39_0_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a64a40ef39_0_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g3a64a40ef39_0_1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a64a40ef39_2_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a64a40ef39_2_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g3a64a40ef39_2_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a64a40ef39_2_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a64a40ef39_2_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g3a64a40ef39_2_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C7BAB599-619D-8A1C-761E-9F72ABDA0DDF}"/>
            </a:ext>
          </a:extLst>
        </p:cNvPr>
        <p:cNvGrpSpPr/>
        <p:nvPr/>
      </p:nvGrpSpPr>
      <p:grpSpPr>
        <a:xfrm>
          <a:off x="0" y="0"/>
          <a:ext cx="0" cy="0"/>
          <a:chOff x="0" y="0"/>
          <a:chExt cx="0" cy="0"/>
        </a:xfrm>
      </p:grpSpPr>
      <p:sp>
        <p:nvSpPr>
          <p:cNvPr id="132" name="Google Shape;132;g3a64a40ef39_2_8:notes">
            <a:extLst>
              <a:ext uri="{FF2B5EF4-FFF2-40B4-BE49-F238E27FC236}">
                <a16:creationId xmlns:a16="http://schemas.microsoft.com/office/drawing/2014/main" id="{9A0871DD-638C-0CC0-5000-18F4A32776A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a64a40ef39_2_8:notes">
            <a:extLst>
              <a:ext uri="{FF2B5EF4-FFF2-40B4-BE49-F238E27FC236}">
                <a16:creationId xmlns:a16="http://schemas.microsoft.com/office/drawing/2014/main" id="{483250EB-AB48-E82A-1830-8E432E399E1C}"/>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g3a64a40ef39_2_8:notes">
            <a:extLst>
              <a:ext uri="{FF2B5EF4-FFF2-40B4-BE49-F238E27FC236}">
                <a16:creationId xmlns:a16="http://schemas.microsoft.com/office/drawing/2014/main" id="{D4403CD3-B630-36D6-2B3B-5DC3626A8013}"/>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8</a:t>
            </a:fld>
            <a:endParaRPr/>
          </a:p>
        </p:txBody>
      </p:sp>
    </p:spTree>
    <p:extLst>
      <p:ext uri="{BB962C8B-B14F-4D97-AF65-F5344CB8AC3E}">
        <p14:creationId xmlns:p14="http://schemas.microsoft.com/office/powerpoint/2010/main" val="1119334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4855845B-94FC-1E69-913F-A5485C75D151}"/>
            </a:ext>
          </a:extLst>
        </p:cNvPr>
        <p:cNvGrpSpPr/>
        <p:nvPr/>
      </p:nvGrpSpPr>
      <p:grpSpPr>
        <a:xfrm>
          <a:off x="0" y="0"/>
          <a:ext cx="0" cy="0"/>
          <a:chOff x="0" y="0"/>
          <a:chExt cx="0" cy="0"/>
        </a:xfrm>
      </p:grpSpPr>
      <p:sp>
        <p:nvSpPr>
          <p:cNvPr id="132" name="Google Shape;132;g3a64a40ef39_2_8:notes">
            <a:extLst>
              <a:ext uri="{FF2B5EF4-FFF2-40B4-BE49-F238E27FC236}">
                <a16:creationId xmlns:a16="http://schemas.microsoft.com/office/drawing/2014/main" id="{2AFAF206-5C37-F97A-123F-E7CC6423D3A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a64a40ef39_2_8:notes">
            <a:extLst>
              <a:ext uri="{FF2B5EF4-FFF2-40B4-BE49-F238E27FC236}">
                <a16:creationId xmlns:a16="http://schemas.microsoft.com/office/drawing/2014/main" id="{E01E0498-48A6-2906-09FE-66736F4051A7}"/>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g3a64a40ef39_2_8:notes">
            <a:extLst>
              <a:ext uri="{FF2B5EF4-FFF2-40B4-BE49-F238E27FC236}">
                <a16:creationId xmlns:a16="http://schemas.microsoft.com/office/drawing/2014/main" id="{FE503B04-531F-EAF8-CB81-5B9BEF0BB48D}"/>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9</a:t>
            </a:fld>
            <a:endParaRPr/>
          </a:p>
        </p:txBody>
      </p:sp>
    </p:spTree>
    <p:extLst>
      <p:ext uri="{BB962C8B-B14F-4D97-AF65-F5344CB8AC3E}">
        <p14:creationId xmlns:p14="http://schemas.microsoft.com/office/powerpoint/2010/main" val="1249388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a64a40ef39_2_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a64a40ef39_2_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g3a64a40ef39_2_4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a64a40ef39_2_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a64a40ef39_2_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g3a64a40ef39_2_5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a64a40ef39_2_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a64a40ef39_2_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g3a64a40ef39_2_59: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7"/>
        <p:cNvGrpSpPr/>
        <p:nvPr/>
      </p:nvGrpSpPr>
      <p:grpSpPr>
        <a:xfrm>
          <a:off x="0" y="0"/>
          <a:ext cx="0" cy="0"/>
          <a:chOff x="0" y="0"/>
          <a:chExt cx="0" cy="0"/>
        </a:xfrm>
      </p:grpSpPr>
      <p:sp>
        <p:nvSpPr>
          <p:cNvPr id="18" name="Google Shape;18;p5"/>
          <p:cNvSpPr txBox="1">
            <a:spLocks noGrp="1"/>
          </p:cNvSpPr>
          <p:nvPr>
            <p:ph type="ctrTitle"/>
          </p:nvPr>
        </p:nvSpPr>
        <p:spPr>
          <a:xfrm>
            <a:off x="457200" y="228600"/>
            <a:ext cx="7772400" cy="4571999"/>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8800"/>
              <a:buFont typeface="Arial Black"/>
              <a:buNone/>
              <a:defRPr sz="88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5"/>
          <p:cNvSpPr txBox="1">
            <a:spLocks noGrp="1"/>
          </p:cNvSpPr>
          <p:nvPr>
            <p:ph type="subTitle" idx="1"/>
          </p:nvPr>
        </p:nvSpPr>
        <p:spPr>
          <a:xfrm>
            <a:off x="457200" y="4800600"/>
            <a:ext cx="6858000" cy="9144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400"/>
              </a:spcBef>
              <a:spcAft>
                <a:spcPts val="0"/>
              </a:spcAft>
              <a:buClr>
                <a:schemeClr val="dk2"/>
              </a:buClr>
              <a:buSzPts val="2000"/>
              <a:buNone/>
              <a:defRPr b="0" cap="none">
                <a:solidFill>
                  <a:schemeClr val="dk2"/>
                </a:solidFill>
                <a:latin typeface="Arial Black"/>
                <a:ea typeface="Arial Black"/>
                <a:cs typeface="Arial Black"/>
                <a:sym typeface="Arial Black"/>
              </a:defRPr>
            </a:lvl1pPr>
            <a:lvl2pPr lvl="1" algn="ctr">
              <a:lnSpc>
                <a:spcPct val="100000"/>
              </a:lnSpc>
              <a:spcBef>
                <a:spcPts val="600"/>
              </a:spcBef>
              <a:spcAft>
                <a:spcPts val="0"/>
              </a:spcAft>
              <a:buSzPts val="2000"/>
              <a:buNone/>
              <a:defRPr>
                <a:solidFill>
                  <a:srgbClr val="888888"/>
                </a:solidFill>
              </a:defRPr>
            </a:lvl2pPr>
            <a:lvl3pPr lvl="2" algn="ctr">
              <a:lnSpc>
                <a:spcPct val="100000"/>
              </a:lnSpc>
              <a:spcBef>
                <a:spcPts val="360"/>
              </a:spcBef>
              <a:spcAft>
                <a:spcPts val="0"/>
              </a:spcAft>
              <a:buSzPts val="1800"/>
              <a:buNone/>
              <a:defRPr>
                <a:solidFill>
                  <a:srgbClr val="888888"/>
                </a:solidFill>
              </a:defRPr>
            </a:lvl3pPr>
            <a:lvl4pPr lvl="3" algn="ctr">
              <a:lnSpc>
                <a:spcPct val="100000"/>
              </a:lnSpc>
              <a:spcBef>
                <a:spcPts val="360"/>
              </a:spcBef>
              <a:spcAft>
                <a:spcPts val="0"/>
              </a:spcAft>
              <a:buSzPts val="1800"/>
              <a:buNone/>
              <a:defRPr>
                <a:solidFill>
                  <a:srgbClr val="888888"/>
                </a:solidFill>
              </a:defRPr>
            </a:lvl4pPr>
            <a:lvl5pPr lvl="4" algn="ctr">
              <a:lnSpc>
                <a:spcPct val="100000"/>
              </a:lnSpc>
              <a:spcBef>
                <a:spcPts val="360"/>
              </a:spcBef>
              <a:spcAft>
                <a:spcPts val="0"/>
              </a:spcAft>
              <a:buSzPts val="1800"/>
              <a:buNone/>
              <a:defRPr>
                <a:solidFill>
                  <a:srgbClr val="888888"/>
                </a:solidFill>
              </a:defRPr>
            </a:lvl5pPr>
            <a:lvl6pPr lvl="5" algn="ctr">
              <a:lnSpc>
                <a:spcPct val="100000"/>
              </a:lnSpc>
              <a:spcBef>
                <a:spcPts val="320"/>
              </a:spcBef>
              <a:spcAft>
                <a:spcPts val="0"/>
              </a:spcAft>
              <a:buSzPts val="1600"/>
              <a:buNone/>
              <a:defRPr>
                <a:solidFill>
                  <a:srgbClr val="888888"/>
                </a:solidFill>
              </a:defRPr>
            </a:lvl6pPr>
            <a:lvl7pPr lvl="6" algn="ctr">
              <a:lnSpc>
                <a:spcPct val="100000"/>
              </a:lnSpc>
              <a:spcBef>
                <a:spcPts val="320"/>
              </a:spcBef>
              <a:spcAft>
                <a:spcPts val="0"/>
              </a:spcAft>
              <a:buSzPts val="1600"/>
              <a:buNone/>
              <a:defRPr>
                <a:solidFill>
                  <a:srgbClr val="888888"/>
                </a:solidFill>
              </a:defRPr>
            </a:lvl7pPr>
            <a:lvl8pPr lvl="7" algn="ctr">
              <a:lnSpc>
                <a:spcPct val="100000"/>
              </a:lnSpc>
              <a:spcBef>
                <a:spcPts val="320"/>
              </a:spcBef>
              <a:spcAft>
                <a:spcPts val="0"/>
              </a:spcAft>
              <a:buSzPts val="1600"/>
              <a:buNone/>
              <a:defRPr>
                <a:solidFill>
                  <a:srgbClr val="888888"/>
                </a:solidFill>
              </a:defRPr>
            </a:lvl8pPr>
            <a:lvl9pPr lvl="8" algn="ctr">
              <a:lnSpc>
                <a:spcPct val="100000"/>
              </a:lnSpc>
              <a:spcBef>
                <a:spcPts val="320"/>
              </a:spcBef>
              <a:spcAft>
                <a:spcPts val="0"/>
              </a:spcAft>
              <a:buSzPts val="1600"/>
              <a:buNone/>
              <a:defRPr>
                <a:solidFill>
                  <a:srgbClr val="888888"/>
                </a:solidFill>
              </a:defRPr>
            </a:lvl9pPr>
          </a:lstStyle>
          <a:p>
            <a:endParaRPr/>
          </a:p>
        </p:txBody>
      </p:sp>
      <p:sp>
        <p:nvSpPr>
          <p:cNvPr id="20" name="Google Shape;20;p5"/>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5"/>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5"/>
          <p:cNvSpPr/>
          <p:nvPr/>
        </p:nvSpPr>
        <p:spPr>
          <a:xfrm>
            <a:off x="9001124" y="4846320"/>
            <a:ext cx="142876" cy="201168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3" name="Google Shape;23;p5"/>
          <p:cNvSpPr/>
          <p:nvPr/>
        </p:nvSpPr>
        <p:spPr>
          <a:xfrm>
            <a:off x="9001124" y="0"/>
            <a:ext cx="142876" cy="484632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4" name="Google Shape;24;p5"/>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
          <p:cNvSpPr txBox="1">
            <a:spLocks noGrp="1"/>
          </p:cNvSpPr>
          <p:nvPr>
            <p:ph type="body" idx="1"/>
          </p:nvPr>
        </p:nvSpPr>
        <p:spPr>
          <a:xfrm>
            <a:off x="457200" y="1752600"/>
            <a:ext cx="7620000" cy="43735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dk1"/>
              </a:buClr>
              <a:buSzPts val="18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8" name="Google Shape;28;p6"/>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6"/>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6"/>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457200" y="1447800"/>
            <a:ext cx="7772400" cy="43211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8800"/>
              <a:buFont typeface="Arial Black"/>
              <a:buNone/>
              <a:defRPr sz="8800" b="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7"/>
          <p:cNvSpPr txBox="1">
            <a:spLocks noGrp="1"/>
          </p:cNvSpPr>
          <p:nvPr>
            <p:ph type="body" idx="1"/>
          </p:nvPr>
        </p:nvSpPr>
        <p:spPr>
          <a:xfrm>
            <a:off x="457200" y="228601"/>
            <a:ext cx="7772400" cy="10668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chemeClr val="dk2"/>
              </a:buClr>
              <a:buSzPts val="2000"/>
              <a:buNone/>
              <a:defRPr sz="2000" b="0" cap="none">
                <a:solidFill>
                  <a:schemeClr val="dk2"/>
                </a:solidFill>
                <a:latin typeface="Arial Black"/>
                <a:ea typeface="Arial Black"/>
                <a:cs typeface="Arial Black"/>
                <a:sym typeface="Arial Black"/>
              </a:defRPr>
            </a:lvl1pPr>
            <a:lvl2pPr marL="914400" lvl="1" indent="-228600" algn="l">
              <a:lnSpc>
                <a:spcPct val="100000"/>
              </a:lnSpc>
              <a:spcBef>
                <a:spcPts val="600"/>
              </a:spcBef>
              <a:spcAft>
                <a:spcPts val="0"/>
              </a:spcAft>
              <a:buSzPts val="1800"/>
              <a:buNone/>
              <a:defRPr sz="1800">
                <a:solidFill>
                  <a:srgbClr val="888888"/>
                </a:solidFill>
              </a:defRPr>
            </a:lvl2pPr>
            <a:lvl3pPr marL="1371600" lvl="2" indent="-228600" algn="l">
              <a:lnSpc>
                <a:spcPct val="100000"/>
              </a:lnSpc>
              <a:spcBef>
                <a:spcPts val="320"/>
              </a:spcBef>
              <a:spcAft>
                <a:spcPts val="0"/>
              </a:spcAft>
              <a:buSzPts val="1600"/>
              <a:buNone/>
              <a:defRPr sz="1600">
                <a:solidFill>
                  <a:srgbClr val="888888"/>
                </a:solidFill>
              </a:defRPr>
            </a:lvl3pPr>
            <a:lvl4pPr marL="1828800" lvl="3" indent="-228600" algn="l">
              <a:lnSpc>
                <a:spcPct val="100000"/>
              </a:lnSpc>
              <a:spcBef>
                <a:spcPts val="280"/>
              </a:spcBef>
              <a:spcAft>
                <a:spcPts val="0"/>
              </a:spcAft>
              <a:buSzPts val="1400"/>
              <a:buNone/>
              <a:defRPr sz="1400">
                <a:solidFill>
                  <a:srgbClr val="888888"/>
                </a:solidFill>
              </a:defRPr>
            </a:lvl4pPr>
            <a:lvl5pPr marL="2286000" lvl="4" indent="-228600" algn="l">
              <a:lnSpc>
                <a:spcPct val="100000"/>
              </a:lnSpc>
              <a:spcBef>
                <a:spcPts val="280"/>
              </a:spcBef>
              <a:spcAft>
                <a:spcPts val="0"/>
              </a:spcAft>
              <a:buSzPts val="1400"/>
              <a:buNone/>
              <a:defRPr sz="1400">
                <a:solidFill>
                  <a:srgbClr val="888888"/>
                </a:solidFill>
              </a:defRPr>
            </a:lvl5pPr>
            <a:lvl6pPr marL="2743200" lvl="5" indent="-228600" algn="l">
              <a:lnSpc>
                <a:spcPct val="100000"/>
              </a:lnSpc>
              <a:spcBef>
                <a:spcPts val="280"/>
              </a:spcBef>
              <a:spcAft>
                <a:spcPts val="0"/>
              </a:spcAft>
              <a:buSzPts val="1400"/>
              <a:buNone/>
              <a:defRPr sz="1400">
                <a:solidFill>
                  <a:srgbClr val="888888"/>
                </a:solidFill>
              </a:defRPr>
            </a:lvl6pPr>
            <a:lvl7pPr marL="3200400" lvl="6" indent="-228600" algn="l">
              <a:lnSpc>
                <a:spcPct val="100000"/>
              </a:lnSpc>
              <a:spcBef>
                <a:spcPts val="280"/>
              </a:spcBef>
              <a:spcAft>
                <a:spcPts val="0"/>
              </a:spcAft>
              <a:buSzPts val="1400"/>
              <a:buNone/>
              <a:defRPr sz="1400">
                <a:solidFill>
                  <a:srgbClr val="888888"/>
                </a:solidFill>
              </a:defRPr>
            </a:lvl7pPr>
            <a:lvl8pPr marL="3657600" lvl="7" indent="-228600" algn="l">
              <a:lnSpc>
                <a:spcPct val="100000"/>
              </a:lnSpc>
              <a:spcBef>
                <a:spcPts val="280"/>
              </a:spcBef>
              <a:spcAft>
                <a:spcPts val="0"/>
              </a:spcAft>
              <a:buSzPts val="1400"/>
              <a:buNone/>
              <a:defRPr sz="1400">
                <a:solidFill>
                  <a:srgbClr val="888888"/>
                </a:solidFill>
              </a:defRPr>
            </a:lvl8pPr>
            <a:lvl9pPr marL="4114800" lvl="8" indent="-228600" algn="l">
              <a:lnSpc>
                <a:spcPct val="100000"/>
              </a:lnSpc>
              <a:spcBef>
                <a:spcPts val="280"/>
              </a:spcBef>
              <a:spcAft>
                <a:spcPts val="0"/>
              </a:spcAft>
              <a:buSzPts val="1400"/>
              <a:buNone/>
              <a:defRPr sz="1400">
                <a:solidFill>
                  <a:srgbClr val="888888"/>
                </a:solidFill>
              </a:defRPr>
            </a:lvl9pPr>
          </a:lstStyle>
          <a:p>
            <a:endParaRPr/>
          </a:p>
        </p:txBody>
      </p:sp>
      <p:sp>
        <p:nvSpPr>
          <p:cNvPr id="34" name="Google Shape;34;p7"/>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
        <p:nvSpPr>
          <p:cNvPr id="36" name="Google Shape;36;p7"/>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8"/>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8"/>
          <p:cNvSpPr txBox="1">
            <a:spLocks noGrp="1"/>
          </p:cNvSpPr>
          <p:nvPr>
            <p:ph type="body" idx="1"/>
          </p:nvPr>
        </p:nvSpPr>
        <p:spPr>
          <a:xfrm>
            <a:off x="1630680" y="1574800"/>
            <a:ext cx="3291840" cy="45259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560"/>
              </a:spcBef>
              <a:spcAft>
                <a:spcPts val="0"/>
              </a:spcAft>
              <a:buClr>
                <a:schemeClr val="dk1"/>
              </a:buClr>
              <a:buSzPts val="2800"/>
              <a:buNone/>
              <a:defRPr sz="2800"/>
            </a:lvl1pPr>
            <a:lvl2pPr marL="914400" lvl="1" indent="-381000" algn="l">
              <a:lnSpc>
                <a:spcPct val="100000"/>
              </a:lnSpc>
              <a:spcBef>
                <a:spcPts val="60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40" name="Google Shape;40;p8"/>
          <p:cNvSpPr txBox="1">
            <a:spLocks noGrp="1"/>
          </p:cNvSpPr>
          <p:nvPr>
            <p:ph type="body" idx="2"/>
          </p:nvPr>
        </p:nvSpPr>
        <p:spPr>
          <a:xfrm>
            <a:off x="5090160" y="1574800"/>
            <a:ext cx="3291840" cy="45259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560"/>
              </a:spcBef>
              <a:spcAft>
                <a:spcPts val="0"/>
              </a:spcAft>
              <a:buClr>
                <a:schemeClr val="dk1"/>
              </a:buClr>
              <a:buSzPts val="2800"/>
              <a:buNone/>
              <a:defRPr sz="2800"/>
            </a:lvl1pPr>
            <a:lvl2pPr marL="914400" lvl="1" indent="-381000" algn="l">
              <a:lnSpc>
                <a:spcPct val="100000"/>
              </a:lnSpc>
              <a:spcBef>
                <a:spcPts val="60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41" name="Google Shape;41;p8"/>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8"/>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8"/>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9"/>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36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9"/>
          <p:cNvSpPr txBox="1">
            <a:spLocks noGrp="1"/>
          </p:cNvSpPr>
          <p:nvPr>
            <p:ph type="body" idx="1"/>
          </p:nvPr>
        </p:nvSpPr>
        <p:spPr>
          <a:xfrm>
            <a:off x="1627632" y="1572768"/>
            <a:ext cx="3291840"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60"/>
              </a:spcBef>
              <a:spcAft>
                <a:spcPts val="0"/>
              </a:spcAft>
              <a:buClr>
                <a:schemeClr val="dk1"/>
              </a:buClr>
              <a:buSzPts val="1800"/>
              <a:buNone/>
              <a:defRPr sz="1800" b="0" cap="none">
                <a:solidFill>
                  <a:schemeClr val="dk1"/>
                </a:solidFill>
                <a:latin typeface="Arial Black"/>
                <a:ea typeface="Arial Black"/>
                <a:cs typeface="Arial Black"/>
                <a:sym typeface="Arial Black"/>
              </a:defRPr>
            </a:lvl1pPr>
            <a:lvl2pPr marL="914400" lvl="1" indent="-228600" algn="l">
              <a:lnSpc>
                <a:spcPct val="100000"/>
              </a:lnSpc>
              <a:spcBef>
                <a:spcPts val="60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47" name="Google Shape;47;p9"/>
          <p:cNvSpPr txBox="1">
            <a:spLocks noGrp="1"/>
          </p:cNvSpPr>
          <p:nvPr>
            <p:ph type="body" idx="2"/>
          </p:nvPr>
        </p:nvSpPr>
        <p:spPr>
          <a:xfrm>
            <a:off x="1627632" y="2259366"/>
            <a:ext cx="3291840" cy="384048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480"/>
              </a:spcBef>
              <a:spcAft>
                <a:spcPts val="0"/>
              </a:spcAft>
              <a:buClr>
                <a:schemeClr val="dk1"/>
              </a:buClr>
              <a:buSzPts val="2400"/>
              <a:buNone/>
              <a:defRPr sz="2400"/>
            </a:lvl1pPr>
            <a:lvl2pPr marL="914400" lvl="1" indent="-355600" algn="l">
              <a:lnSpc>
                <a:spcPct val="100000"/>
              </a:lnSpc>
              <a:spcBef>
                <a:spcPts val="600"/>
              </a:spcBef>
              <a:spcAft>
                <a:spcPts val="0"/>
              </a:spcAft>
              <a:buSzPts val="20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48" name="Google Shape;48;p9"/>
          <p:cNvSpPr txBox="1">
            <a:spLocks noGrp="1"/>
          </p:cNvSpPr>
          <p:nvPr>
            <p:ph type="body" idx="3"/>
          </p:nvPr>
        </p:nvSpPr>
        <p:spPr>
          <a:xfrm>
            <a:off x="5093208" y="1572768"/>
            <a:ext cx="3291840"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60"/>
              </a:spcBef>
              <a:spcAft>
                <a:spcPts val="0"/>
              </a:spcAft>
              <a:buClr>
                <a:schemeClr val="dk1"/>
              </a:buClr>
              <a:buSzPts val="1800"/>
              <a:buNone/>
              <a:defRPr sz="1800" b="0" cap="none">
                <a:solidFill>
                  <a:schemeClr val="dk1"/>
                </a:solidFill>
                <a:latin typeface="Arial Black"/>
                <a:ea typeface="Arial Black"/>
                <a:cs typeface="Arial Black"/>
                <a:sym typeface="Arial Black"/>
              </a:defRPr>
            </a:lvl1pPr>
            <a:lvl2pPr marL="914400" lvl="1" indent="-228600" algn="l">
              <a:lnSpc>
                <a:spcPct val="100000"/>
              </a:lnSpc>
              <a:spcBef>
                <a:spcPts val="60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49" name="Google Shape;49;p9"/>
          <p:cNvSpPr txBox="1">
            <a:spLocks noGrp="1"/>
          </p:cNvSpPr>
          <p:nvPr>
            <p:ph type="body" idx="4"/>
          </p:nvPr>
        </p:nvSpPr>
        <p:spPr>
          <a:xfrm>
            <a:off x="5093208" y="2259366"/>
            <a:ext cx="3291840" cy="384048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480"/>
              </a:spcBef>
              <a:spcAft>
                <a:spcPts val="0"/>
              </a:spcAft>
              <a:buClr>
                <a:schemeClr val="dk1"/>
              </a:buClr>
              <a:buSzPts val="2400"/>
              <a:buNone/>
              <a:defRPr sz="2400"/>
            </a:lvl1pPr>
            <a:lvl2pPr marL="914400" lvl="1" indent="-355600" algn="l">
              <a:lnSpc>
                <a:spcPct val="100000"/>
              </a:lnSpc>
              <a:spcBef>
                <a:spcPts val="600"/>
              </a:spcBef>
              <a:spcAft>
                <a:spcPts val="0"/>
              </a:spcAft>
              <a:buSzPts val="20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50" name="Google Shape;50;p9"/>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9"/>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10"/>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0"/>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0"/>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1"/>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1"/>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1"/>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12"/>
          <p:cNvSpPr txBox="1">
            <a:spLocks noGrp="1"/>
          </p:cNvSpPr>
          <p:nvPr>
            <p:ph type="body" idx="1"/>
          </p:nvPr>
        </p:nvSpPr>
        <p:spPr>
          <a:xfrm>
            <a:off x="3575050" y="1600200"/>
            <a:ext cx="5111750" cy="448056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640"/>
              </a:spcBef>
              <a:spcAft>
                <a:spcPts val="0"/>
              </a:spcAft>
              <a:buClr>
                <a:schemeClr val="dk1"/>
              </a:buClr>
              <a:buSzPts val="3200"/>
              <a:buNone/>
              <a:defRPr sz="3200"/>
            </a:lvl1pPr>
            <a:lvl2pPr marL="914400" lvl="1" indent="-406400" algn="l">
              <a:lnSpc>
                <a:spcPct val="100000"/>
              </a:lnSpc>
              <a:spcBef>
                <a:spcPts val="600"/>
              </a:spcBef>
              <a:spcAft>
                <a:spcPts val="0"/>
              </a:spcAft>
              <a:buSzPts val="2800"/>
              <a:buChar char="•"/>
              <a:defRPr sz="2800"/>
            </a:lvl2pPr>
            <a:lvl3pPr marL="1371600" lvl="2" indent="-381000" algn="l">
              <a:lnSpc>
                <a:spcPct val="100000"/>
              </a:lnSpc>
              <a:spcBef>
                <a:spcPts val="480"/>
              </a:spcBef>
              <a:spcAft>
                <a:spcPts val="0"/>
              </a:spcAft>
              <a:buSzPts val="2400"/>
              <a:buChar char="•"/>
              <a:defRPr sz="2400"/>
            </a:lvl3pPr>
            <a:lvl4pPr marL="1828800" lvl="3" indent="-355600" algn="l">
              <a:lnSpc>
                <a:spcPct val="100000"/>
              </a:lnSpc>
              <a:spcBef>
                <a:spcPts val="400"/>
              </a:spcBef>
              <a:spcAft>
                <a:spcPts val="0"/>
              </a:spcAft>
              <a:buSzPts val="2000"/>
              <a:buChar char="•"/>
              <a:defRPr sz="2000"/>
            </a:lvl4pPr>
            <a:lvl5pPr marL="2286000" lvl="4" indent="-355600" algn="l">
              <a:lnSpc>
                <a:spcPct val="100000"/>
              </a:lnSpc>
              <a:spcBef>
                <a:spcPts val="400"/>
              </a:spcBef>
              <a:spcAft>
                <a:spcPts val="0"/>
              </a:spcAft>
              <a:buSzPts val="2000"/>
              <a:buChar char="•"/>
              <a:defRPr sz="2000"/>
            </a:lvl5pPr>
            <a:lvl6pPr marL="2743200" lvl="5" indent="-355600" algn="l">
              <a:lnSpc>
                <a:spcPct val="100000"/>
              </a:lnSpc>
              <a:spcBef>
                <a:spcPts val="400"/>
              </a:spcBef>
              <a:spcAft>
                <a:spcPts val="0"/>
              </a:spcAft>
              <a:buSzPts val="2000"/>
              <a:buChar char="•"/>
              <a:defRPr sz="2000"/>
            </a:lvl6pPr>
            <a:lvl7pPr marL="3200400" lvl="6" indent="-355600" algn="l">
              <a:lnSpc>
                <a:spcPct val="100000"/>
              </a:lnSpc>
              <a:spcBef>
                <a:spcPts val="400"/>
              </a:spcBef>
              <a:spcAft>
                <a:spcPts val="0"/>
              </a:spcAft>
              <a:buSzPts val="2000"/>
              <a:buChar char="•"/>
              <a:defRPr sz="2000"/>
            </a:lvl7pPr>
            <a:lvl8pPr marL="3657600" lvl="7" indent="-355600" algn="l">
              <a:lnSpc>
                <a:spcPct val="100000"/>
              </a:lnSpc>
              <a:spcBef>
                <a:spcPts val="400"/>
              </a:spcBef>
              <a:spcAft>
                <a:spcPts val="0"/>
              </a:spcAft>
              <a:buSzPts val="2000"/>
              <a:buChar char="•"/>
              <a:defRPr sz="2000"/>
            </a:lvl8pPr>
            <a:lvl9pPr marL="4114800" lvl="8" indent="-355600" algn="l">
              <a:lnSpc>
                <a:spcPct val="100000"/>
              </a:lnSpc>
              <a:spcBef>
                <a:spcPts val="400"/>
              </a:spcBef>
              <a:spcAft>
                <a:spcPts val="0"/>
              </a:spcAft>
              <a:buSzPts val="2000"/>
              <a:buChar char="•"/>
              <a:defRPr sz="2000"/>
            </a:lvl9pPr>
          </a:lstStyle>
          <a:p>
            <a:endParaRPr/>
          </a:p>
        </p:txBody>
      </p:sp>
      <p:sp>
        <p:nvSpPr>
          <p:cNvPr id="64" name="Google Shape;64;p12"/>
          <p:cNvSpPr txBox="1">
            <a:spLocks noGrp="1"/>
          </p:cNvSpPr>
          <p:nvPr>
            <p:ph type="body" idx="2"/>
          </p:nvPr>
        </p:nvSpPr>
        <p:spPr>
          <a:xfrm>
            <a:off x="457200" y="1600200"/>
            <a:ext cx="3008313" cy="448056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20"/>
              </a:spcBef>
              <a:spcAft>
                <a:spcPts val="0"/>
              </a:spcAft>
              <a:buClr>
                <a:schemeClr val="dk1"/>
              </a:buClr>
              <a:buSzPts val="1600"/>
              <a:buNone/>
              <a:defRPr sz="16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65" name="Google Shape;65;p12"/>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2"/>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2"/>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
        <p:nvSpPr>
          <p:cNvPr id="68" name="Google Shape;68;p12"/>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69"/>
        <p:cNvGrpSpPr/>
        <p:nvPr/>
      </p:nvGrpSpPr>
      <p:grpSpPr>
        <a:xfrm>
          <a:off x="0" y="0"/>
          <a:ext cx="0" cy="0"/>
          <a:chOff x="0" y="0"/>
          <a:chExt cx="0" cy="0"/>
        </a:xfrm>
      </p:grpSpPr>
      <p:sp>
        <p:nvSpPr>
          <p:cNvPr id="70" name="Google Shape;70;p13"/>
          <p:cNvSpPr/>
          <p:nvPr/>
        </p:nvSpPr>
        <p:spPr>
          <a:xfrm>
            <a:off x="9001124" y="4846320"/>
            <a:ext cx="142876" cy="201168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1" name="Google Shape;71;p13"/>
          <p:cNvSpPr>
            <a:spLocks noGrp="1"/>
          </p:cNvSpPr>
          <p:nvPr>
            <p:ph type="pic" idx="2"/>
          </p:nvPr>
        </p:nvSpPr>
        <p:spPr>
          <a:xfrm>
            <a:off x="-1" y="0"/>
            <a:ext cx="9000877" cy="4846320"/>
          </a:xfrm>
          <a:prstGeom prst="rect">
            <a:avLst/>
          </a:prstGeom>
          <a:solidFill>
            <a:srgbClr val="BFBFBF"/>
          </a:solidFill>
          <a:ln>
            <a:noFill/>
          </a:ln>
        </p:spPr>
      </p:sp>
      <p:sp>
        <p:nvSpPr>
          <p:cNvPr id="72" name="Google Shape;72;p13"/>
          <p:cNvSpPr txBox="1">
            <a:spLocks noGrp="1"/>
          </p:cNvSpPr>
          <p:nvPr>
            <p:ph type="body" idx="1"/>
          </p:nvPr>
        </p:nvSpPr>
        <p:spPr>
          <a:xfrm>
            <a:off x="457200" y="5715000"/>
            <a:ext cx="8153400" cy="4572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20"/>
              </a:spcBef>
              <a:spcAft>
                <a:spcPts val="0"/>
              </a:spcAft>
              <a:buClr>
                <a:schemeClr val="dk1"/>
              </a:buClr>
              <a:buSzPts val="1600"/>
              <a:buNone/>
              <a:defRPr sz="16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73" name="Google Shape;73;p13"/>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3"/>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3"/>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
        <p:nvSpPr>
          <p:cNvPr id="76" name="Google Shape;76;p13"/>
          <p:cNvSpPr txBox="1">
            <a:spLocks noGrp="1"/>
          </p:cNvSpPr>
          <p:nvPr>
            <p:ph type="title"/>
          </p:nvPr>
        </p:nvSpPr>
        <p:spPr>
          <a:xfrm>
            <a:off x="457200" y="4953000"/>
            <a:ext cx="8153400" cy="7620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2"/>
              </a:buClr>
              <a:buSzPts val="3200"/>
              <a:buFont typeface="Arial Black"/>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3"/>
          <p:cNvSpPr/>
          <p:nvPr/>
        </p:nvSpPr>
        <p:spPr>
          <a:xfrm>
            <a:off x="9001124" y="0"/>
            <a:ext cx="142876" cy="484632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4"/>
          <p:cNvSpPr txBox="1">
            <a:spLocks noGrp="1"/>
          </p:cNvSpPr>
          <p:nvPr>
            <p:ph type="body" idx="1"/>
          </p:nvPr>
        </p:nvSpPr>
        <p:spPr>
          <a:xfrm rot="5400000">
            <a:off x="2080419" y="129382"/>
            <a:ext cx="4373563" cy="76200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dk1"/>
              </a:buClr>
              <a:buSzPts val="18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81" name="Google Shape;81;p14"/>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4"/>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4"/>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15"/>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5"/>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dk1"/>
              </a:buClr>
              <a:buSzPts val="18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87" name="Google Shape;87;p15"/>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5"/>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15"/>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dk2"/>
              </a:buClr>
              <a:buSzPts val="3600"/>
              <a:buFont typeface="Arial Black"/>
              <a:buNone/>
              <a:defRPr sz="3600" b="0" i="0" u="none" strike="noStrike" cap="none">
                <a:solidFill>
                  <a:schemeClr val="dk2"/>
                </a:solidFill>
                <a:latin typeface="Arial Black"/>
                <a:ea typeface="Arial Black"/>
                <a:cs typeface="Arial Black"/>
                <a:sym typeface="Arial Black"/>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
          <p:cNvSpPr txBox="1">
            <a:spLocks noGrp="1"/>
          </p:cNvSpPr>
          <p:nvPr>
            <p:ph type="body" idx="1"/>
          </p:nvPr>
        </p:nvSpPr>
        <p:spPr>
          <a:xfrm>
            <a:off x="457200" y="1752600"/>
            <a:ext cx="7620000" cy="437356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40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55600" algn="l" rtl="0">
              <a:lnSpc>
                <a:spcPct val="100000"/>
              </a:lnSpc>
              <a:spcBef>
                <a:spcPts val="600"/>
              </a:spcBef>
              <a:spcAft>
                <a:spcPts val="0"/>
              </a:spcAft>
              <a:buClr>
                <a:schemeClr val="dk2"/>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100000"/>
              </a:lnSpc>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00000"/>
              </a:lnSpc>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 name="Google Shape;12;p4"/>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4"/>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4"/>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
        <p:nvSpPr>
          <p:cNvPr id="15" name="Google Shape;15;p4"/>
          <p:cNvSpPr/>
          <p:nvPr/>
        </p:nvSpPr>
        <p:spPr>
          <a:xfrm>
            <a:off x="9001124" y="0"/>
            <a:ext cx="142876" cy="13716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6" name="Google Shape;16;p4"/>
          <p:cNvSpPr/>
          <p:nvPr/>
        </p:nvSpPr>
        <p:spPr>
          <a:xfrm>
            <a:off x="9001124" y="1371600"/>
            <a:ext cx="142876" cy="54864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customXml" Target="../ink/ink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
          <p:cNvSpPr txBox="1">
            <a:spLocks noGrp="1"/>
          </p:cNvSpPr>
          <p:nvPr>
            <p:ph type="subTitle" idx="1"/>
          </p:nvPr>
        </p:nvSpPr>
        <p:spPr>
          <a:xfrm>
            <a:off x="230909" y="1788088"/>
            <a:ext cx="8543636" cy="4825148"/>
          </a:xfrm>
          <a:prstGeom prst="rect">
            <a:avLst/>
          </a:prstGeom>
          <a:noFill/>
          <a:ln>
            <a:noFill/>
          </a:ln>
        </p:spPr>
        <p:txBody>
          <a:bodyPr spcFirstLastPara="1" wrap="square" lIns="91425" tIns="45700" rIns="91425" bIns="45700" anchor="t" anchorCtr="0">
            <a:normAutofit fontScale="85000" lnSpcReduction="20000"/>
          </a:bodyPr>
          <a:lstStyle/>
          <a:p>
            <a:pPr marL="0" lvl="0" indent="0" algn="ctr" rtl="0">
              <a:lnSpc>
                <a:spcPct val="100000"/>
              </a:lnSpc>
              <a:spcBef>
                <a:spcPts val="0"/>
              </a:spcBef>
              <a:spcAft>
                <a:spcPts val="0"/>
              </a:spcAft>
              <a:buSzPct val="100000"/>
              <a:buNone/>
            </a:pPr>
            <a:r>
              <a:rPr lang="en-US" sz="2800" b="1" dirty="0">
                <a:latin typeface="Century Schoolbook"/>
                <a:ea typeface="Century Schoolbook"/>
                <a:cs typeface="Century Schoolbook"/>
                <a:sym typeface="Century Schoolbook"/>
              </a:rPr>
              <a:t>REAL TIME AI/ML QUISHING AND SMISHING DETECTION AND PREVENTION SYSTEM</a:t>
            </a:r>
          </a:p>
          <a:p>
            <a:pPr marL="0" lvl="0" indent="0" algn="ctr" rtl="0">
              <a:lnSpc>
                <a:spcPct val="100000"/>
              </a:lnSpc>
              <a:spcBef>
                <a:spcPts val="0"/>
              </a:spcBef>
              <a:spcAft>
                <a:spcPts val="0"/>
              </a:spcAft>
              <a:buSzPct val="100000"/>
              <a:buNone/>
            </a:pPr>
            <a:endParaRPr sz="2800" b="1" dirty="0">
              <a:latin typeface="Century Schoolbook"/>
              <a:ea typeface="Century Schoolbook"/>
              <a:cs typeface="Century Schoolbook"/>
              <a:sym typeface="Century Schoolbook"/>
            </a:endParaRPr>
          </a:p>
          <a:p>
            <a:pPr marL="0" lvl="0" indent="0" algn="ctr" rtl="0">
              <a:lnSpc>
                <a:spcPct val="100000"/>
              </a:lnSpc>
              <a:spcBef>
                <a:spcPts val="776"/>
              </a:spcBef>
              <a:spcAft>
                <a:spcPts val="0"/>
              </a:spcAft>
              <a:buClr>
                <a:schemeClr val="dk2"/>
              </a:buClr>
              <a:buSzPct val="100000"/>
              <a:buNone/>
            </a:pPr>
            <a:r>
              <a:rPr lang="en-US" sz="1600" b="1" dirty="0">
                <a:latin typeface="Century Schoolbook"/>
                <a:ea typeface="Century Schoolbook"/>
                <a:cs typeface="Century Schoolbook"/>
                <a:sym typeface="Century Schoolbook"/>
              </a:rPr>
              <a:t>NITHIN NAIK.R(1BY23CS152)</a:t>
            </a:r>
            <a:br>
              <a:rPr lang="en-US" sz="1600" b="1" dirty="0">
                <a:latin typeface="Century Schoolbook"/>
                <a:ea typeface="Century Schoolbook"/>
                <a:cs typeface="Century Schoolbook"/>
                <a:sym typeface="Century Schoolbook"/>
              </a:rPr>
            </a:br>
            <a:r>
              <a:rPr lang="en-US" sz="1600" b="1" dirty="0">
                <a:latin typeface="Century Schoolbook"/>
                <a:ea typeface="Century Schoolbook"/>
                <a:cs typeface="Century Schoolbook"/>
                <a:sym typeface="Century Schoolbook"/>
              </a:rPr>
              <a:t>UMAR(1BY23CS190)</a:t>
            </a:r>
            <a:br>
              <a:rPr lang="en-US" sz="1600" b="1" dirty="0">
                <a:latin typeface="Century Schoolbook"/>
                <a:ea typeface="Century Schoolbook"/>
                <a:cs typeface="Century Schoolbook"/>
                <a:sym typeface="Century Schoolbook"/>
              </a:rPr>
            </a:br>
            <a:r>
              <a:rPr lang="en-US" sz="1600" b="1" dirty="0">
                <a:latin typeface="Century Schoolbook"/>
                <a:ea typeface="Century Schoolbook"/>
                <a:cs typeface="Century Schoolbook"/>
                <a:sym typeface="Century Schoolbook"/>
              </a:rPr>
              <a:t>SAGAR S.H(1BY24CS415)</a:t>
            </a:r>
            <a:br>
              <a:rPr lang="en-US" sz="1600" b="1" dirty="0">
                <a:latin typeface="Century Schoolbook"/>
                <a:ea typeface="Century Schoolbook"/>
                <a:cs typeface="Century Schoolbook"/>
                <a:sym typeface="Century Schoolbook"/>
              </a:rPr>
            </a:br>
            <a:r>
              <a:rPr lang="en-US" sz="1600" b="1" dirty="0">
                <a:latin typeface="Century Schoolbook"/>
                <a:ea typeface="Century Schoolbook"/>
                <a:cs typeface="Century Schoolbook"/>
                <a:sym typeface="Century Schoolbook"/>
              </a:rPr>
              <a:t>PRASHANTH(1BY23CS161)</a:t>
            </a:r>
            <a:endParaRPr dirty="0"/>
          </a:p>
          <a:p>
            <a:pPr marL="0" lvl="0" indent="0" algn="ctr" rtl="0">
              <a:lnSpc>
                <a:spcPct val="100000"/>
              </a:lnSpc>
              <a:spcBef>
                <a:spcPts val="776"/>
              </a:spcBef>
              <a:spcAft>
                <a:spcPts val="0"/>
              </a:spcAft>
              <a:buClr>
                <a:schemeClr val="dk2"/>
              </a:buClr>
              <a:buSzPct val="100000"/>
              <a:buNone/>
            </a:pPr>
            <a:endParaRPr sz="1600" b="1" dirty="0">
              <a:latin typeface="Century Schoolbook"/>
              <a:ea typeface="Century Schoolbook"/>
              <a:cs typeface="Century Schoolbook"/>
              <a:sym typeface="Century Schoolbook"/>
            </a:endParaRPr>
          </a:p>
          <a:p>
            <a:pPr marL="0" lvl="0" indent="0" algn="ctr" rtl="0">
              <a:lnSpc>
                <a:spcPct val="100000"/>
              </a:lnSpc>
              <a:spcBef>
                <a:spcPts val="776"/>
              </a:spcBef>
              <a:spcAft>
                <a:spcPts val="0"/>
              </a:spcAft>
              <a:buClr>
                <a:srgbClr val="0070C0"/>
              </a:buClr>
              <a:buSzPct val="100000"/>
              <a:buNone/>
            </a:pPr>
            <a:r>
              <a:rPr lang="en-IN" sz="1600" b="1" dirty="0">
                <a:solidFill>
                  <a:srgbClr val="0070C0"/>
                </a:solidFill>
                <a:latin typeface="Century Schoolbook"/>
                <a:ea typeface="Century Schoolbook"/>
                <a:cs typeface="Century Schoolbook"/>
                <a:sym typeface="Century Schoolbook"/>
              </a:rPr>
              <a:t>B.E.</a:t>
            </a:r>
            <a:endParaRPr dirty="0"/>
          </a:p>
          <a:p>
            <a:pPr marL="0" lvl="0" indent="0" algn="ctr" rtl="0">
              <a:lnSpc>
                <a:spcPct val="100000"/>
              </a:lnSpc>
              <a:spcBef>
                <a:spcPts val="776"/>
              </a:spcBef>
              <a:spcAft>
                <a:spcPts val="0"/>
              </a:spcAft>
              <a:buClr>
                <a:srgbClr val="0070C0"/>
              </a:buClr>
              <a:buSzPct val="100000"/>
              <a:buNone/>
            </a:pPr>
            <a:r>
              <a:rPr lang="en-IN" sz="1600" b="1" dirty="0">
                <a:solidFill>
                  <a:srgbClr val="0070C0"/>
                </a:solidFill>
                <a:latin typeface="Century Schoolbook"/>
                <a:ea typeface="Century Schoolbook"/>
                <a:cs typeface="Century Schoolbook"/>
                <a:sym typeface="Century Schoolbook"/>
              </a:rPr>
              <a:t>COMPUTER SCIENCE AND ENGINEERING</a:t>
            </a:r>
            <a:endParaRPr dirty="0"/>
          </a:p>
          <a:p>
            <a:pPr marL="0" lvl="0" indent="0" algn="ctr" rtl="0">
              <a:lnSpc>
                <a:spcPct val="100000"/>
              </a:lnSpc>
              <a:spcBef>
                <a:spcPts val="776"/>
              </a:spcBef>
              <a:spcAft>
                <a:spcPts val="0"/>
              </a:spcAft>
              <a:buClr>
                <a:schemeClr val="dk2"/>
              </a:buClr>
              <a:buSzPct val="100000"/>
              <a:buNone/>
            </a:pPr>
            <a:endParaRPr sz="1600" b="1" dirty="0">
              <a:latin typeface="Century Schoolbook"/>
              <a:ea typeface="Century Schoolbook"/>
              <a:cs typeface="Century Schoolbook"/>
              <a:sym typeface="Century Schoolbook"/>
            </a:endParaRPr>
          </a:p>
          <a:p>
            <a:pPr marL="0" lvl="0" indent="0" algn="ctr" rtl="0">
              <a:lnSpc>
                <a:spcPct val="100000"/>
              </a:lnSpc>
              <a:spcBef>
                <a:spcPts val="820"/>
              </a:spcBef>
              <a:spcAft>
                <a:spcPts val="0"/>
              </a:spcAft>
              <a:buClr>
                <a:schemeClr val="dk2"/>
              </a:buClr>
              <a:buSzPct val="100000"/>
              <a:buNone/>
            </a:pPr>
            <a:r>
              <a:rPr lang="en-IN" b="1" dirty="0">
                <a:latin typeface="Century Schoolbook"/>
                <a:ea typeface="Century Schoolbook"/>
                <a:cs typeface="Century Schoolbook"/>
                <a:sym typeface="Century Schoolbook"/>
              </a:rPr>
              <a:t>UNDER THE GUIDANCE OF:</a:t>
            </a:r>
            <a:endParaRPr dirty="0"/>
          </a:p>
          <a:p>
            <a:pPr marL="0" lvl="0" indent="0" algn="ctr" rtl="0">
              <a:lnSpc>
                <a:spcPct val="100000"/>
              </a:lnSpc>
              <a:spcBef>
                <a:spcPts val="809"/>
              </a:spcBef>
              <a:spcAft>
                <a:spcPts val="0"/>
              </a:spcAft>
              <a:buClr>
                <a:schemeClr val="dk2"/>
              </a:buClr>
              <a:buSzPct val="100000"/>
              <a:buNone/>
            </a:pPr>
            <a:r>
              <a:rPr lang="en-US" sz="1900" b="1" dirty="0">
                <a:latin typeface="Century Schoolbook"/>
                <a:ea typeface="Century Schoolbook"/>
                <a:cs typeface="Century Schoolbook"/>
                <a:sym typeface="Century Schoolbook"/>
              </a:rPr>
              <a:t>Prof. BRUNDA S</a:t>
            </a:r>
            <a:endParaRPr sz="1900" b="1" dirty="0">
              <a:latin typeface="Century Schoolbook"/>
              <a:ea typeface="Century Schoolbook"/>
              <a:cs typeface="Century Schoolbook"/>
              <a:sym typeface="Century Schoolbook"/>
            </a:endParaRPr>
          </a:p>
          <a:p>
            <a:pPr marL="0" lvl="0" indent="0" algn="ctr" rtl="0">
              <a:lnSpc>
                <a:spcPct val="100000"/>
              </a:lnSpc>
              <a:spcBef>
                <a:spcPts val="809"/>
              </a:spcBef>
              <a:spcAft>
                <a:spcPts val="0"/>
              </a:spcAft>
              <a:buClr>
                <a:schemeClr val="dk2"/>
              </a:buClr>
              <a:buSzPct val="100000"/>
              <a:buNone/>
            </a:pPr>
            <a:r>
              <a:rPr lang="en-IN" sz="1900" b="1" dirty="0">
                <a:latin typeface="Century Schoolbook"/>
                <a:ea typeface="Century Schoolbook"/>
                <a:cs typeface="Century Schoolbook"/>
                <a:sym typeface="Century Schoolbook"/>
              </a:rPr>
              <a:t>Assistant Professor</a:t>
            </a:r>
            <a:endParaRPr sz="1900" b="1" dirty="0">
              <a:latin typeface="Century Schoolbook"/>
              <a:ea typeface="Century Schoolbook"/>
              <a:cs typeface="Century Schoolbook"/>
              <a:sym typeface="Century Schoolbook"/>
            </a:endParaRPr>
          </a:p>
          <a:p>
            <a:pPr marL="0" lvl="0" indent="0" algn="ctr" rtl="0">
              <a:lnSpc>
                <a:spcPct val="100000"/>
              </a:lnSpc>
              <a:spcBef>
                <a:spcPts val="809"/>
              </a:spcBef>
              <a:spcAft>
                <a:spcPts val="0"/>
              </a:spcAft>
              <a:buClr>
                <a:schemeClr val="dk2"/>
              </a:buClr>
              <a:buSzPct val="100000"/>
              <a:buNone/>
            </a:pPr>
            <a:r>
              <a:rPr lang="en-IN" sz="1900" b="1" dirty="0">
                <a:latin typeface="Century Schoolbook"/>
                <a:ea typeface="Century Schoolbook"/>
                <a:cs typeface="Century Schoolbook"/>
                <a:sym typeface="Century Schoolbook"/>
              </a:rPr>
              <a:t>DEPT. OF CSE</a:t>
            </a:r>
            <a:endParaRPr dirty="0"/>
          </a:p>
          <a:p>
            <a:pPr marL="0" lvl="0" indent="0" algn="ctr" rtl="0">
              <a:lnSpc>
                <a:spcPct val="100000"/>
              </a:lnSpc>
              <a:spcBef>
                <a:spcPts val="809"/>
              </a:spcBef>
              <a:spcAft>
                <a:spcPts val="0"/>
              </a:spcAft>
              <a:buClr>
                <a:schemeClr val="dk2"/>
              </a:buClr>
              <a:buSzPct val="100000"/>
              <a:buNone/>
            </a:pPr>
            <a:r>
              <a:rPr lang="en-IN" sz="1900" b="1" dirty="0">
                <a:latin typeface="Century Schoolbook"/>
                <a:ea typeface="Century Schoolbook"/>
                <a:cs typeface="Century Schoolbook"/>
                <a:sym typeface="Century Schoolbook"/>
              </a:rPr>
              <a:t>BMSIT&amp;M</a:t>
            </a:r>
            <a:endParaRPr dirty="0"/>
          </a:p>
          <a:p>
            <a:pPr marL="0" lvl="0" indent="0" algn="ctr" rtl="0">
              <a:lnSpc>
                <a:spcPct val="100000"/>
              </a:lnSpc>
              <a:spcBef>
                <a:spcPts val="809"/>
              </a:spcBef>
              <a:spcAft>
                <a:spcPts val="0"/>
              </a:spcAft>
              <a:buClr>
                <a:schemeClr val="dk2"/>
              </a:buClr>
              <a:buSzPct val="100000"/>
              <a:buNone/>
            </a:pPr>
            <a:r>
              <a:rPr lang="en-IN" sz="1900" b="1" dirty="0">
                <a:latin typeface="Century Schoolbook"/>
                <a:ea typeface="Century Schoolbook"/>
                <a:cs typeface="Century Schoolbook"/>
                <a:sym typeface="Century Schoolbook"/>
              </a:rPr>
              <a:t>2026-27</a:t>
            </a:r>
            <a:endParaRPr dirty="0"/>
          </a:p>
          <a:p>
            <a:pPr marL="0" lvl="0" indent="0" algn="ctr" rtl="0">
              <a:lnSpc>
                <a:spcPct val="100000"/>
              </a:lnSpc>
              <a:spcBef>
                <a:spcPts val="820"/>
              </a:spcBef>
              <a:spcAft>
                <a:spcPts val="0"/>
              </a:spcAft>
              <a:buClr>
                <a:schemeClr val="dk2"/>
              </a:buClr>
              <a:buSzPct val="100000"/>
              <a:buNone/>
            </a:pPr>
            <a:endParaRPr dirty="0">
              <a:latin typeface="Century Schoolbook"/>
              <a:ea typeface="Century Schoolbook"/>
              <a:cs typeface="Century Schoolbook"/>
              <a:sym typeface="Century Schoolbook"/>
            </a:endParaRPr>
          </a:p>
        </p:txBody>
      </p:sp>
      <p:pic>
        <p:nvPicPr>
          <p:cNvPr id="6" name="Picture 5" descr="logo"/>
          <p:cNvPicPr/>
          <p:nvPr/>
        </p:nvPicPr>
        <p:blipFill rotWithShape="1">
          <a:blip r:embed="rId3" cstate="print">
            <a:extLst>
              <a:ext uri="{28A0092B-C50C-407E-A947-70E740481C1C}">
                <a14:useLocalDpi xmlns:a14="http://schemas.microsoft.com/office/drawing/2010/main" val="0"/>
              </a:ext>
            </a:extLst>
          </a:blip>
          <a:srcRect l="1539" r="6850"/>
          <a:stretch/>
        </p:blipFill>
        <p:spPr bwMode="auto">
          <a:xfrm>
            <a:off x="480291" y="147781"/>
            <a:ext cx="7961745" cy="1200245"/>
          </a:xfrm>
          <a:prstGeom prst="rect">
            <a:avLst/>
          </a:prstGeom>
          <a:noFill/>
          <a:ln>
            <a:noFill/>
          </a:ln>
          <a:extLst>
            <a:ext uri="{53640926-AAD7-44D8-BBD7-CCE9431645EC}">
              <a14:shadowObscured xmlns:a14="http://schemas.microsoft.com/office/drawing/2010/main"/>
            </a:ext>
          </a:extLst>
        </p:spPr>
      </p:pic>
      <p:sp>
        <p:nvSpPr>
          <p:cNvPr id="2" name="Rectangle 1"/>
          <p:cNvSpPr/>
          <p:nvPr/>
        </p:nvSpPr>
        <p:spPr>
          <a:xfrm>
            <a:off x="367146" y="1234090"/>
            <a:ext cx="8506690" cy="553998"/>
          </a:xfrm>
          <a:prstGeom prst="rect">
            <a:avLst/>
          </a:prstGeom>
        </p:spPr>
        <p:txBody>
          <a:bodyPr wrap="square">
            <a:spAutoFit/>
          </a:bodyPr>
          <a:lstStyle/>
          <a:p>
            <a:pPr algn="ctr"/>
            <a:r>
              <a:rPr lang="en-US" sz="1000" b="1" dirty="0">
                <a:latin typeface="Cambria" panose="02040503050406030204" pitchFamily="18" charset="0"/>
                <a:ea typeface="Cambria" panose="02040503050406030204" pitchFamily="18" charset="0"/>
                <a:cs typeface="Calibri" panose="020F0502020204030204" pitchFamily="34" charset="0"/>
              </a:rPr>
              <a:t> (</a:t>
            </a:r>
            <a:r>
              <a:rPr lang="en-US" sz="1000" b="1" dirty="0">
                <a:latin typeface="Cambria" panose="02040503050406030204" pitchFamily="18" charset="0"/>
                <a:ea typeface="Cambria" panose="02040503050406030204" pitchFamily="18" charset="0"/>
                <a:cs typeface="Cambria" panose="02040503050406030204" pitchFamily="18" charset="0"/>
              </a:rPr>
              <a:t>Accredited By National Assessment &amp; Accreditation Council (NAAC))</a:t>
            </a:r>
            <a:endParaRPr lang="en-IN" sz="1000" dirty="0">
              <a:latin typeface="Cambria" panose="02040503050406030204" pitchFamily="18" charset="0"/>
              <a:ea typeface="Cambria" panose="02040503050406030204" pitchFamily="18" charset="0"/>
              <a:cs typeface="Cambria" panose="02040503050406030204" pitchFamily="18" charset="0"/>
            </a:endParaRPr>
          </a:p>
          <a:p>
            <a:pPr marL="861695" indent="-779145" algn="ctr"/>
            <a:r>
              <a:rPr lang="en-US" sz="1000" b="1" dirty="0">
                <a:latin typeface="Cambria" panose="02040503050406030204" pitchFamily="18" charset="0"/>
                <a:ea typeface="Cambria" panose="02040503050406030204" pitchFamily="18" charset="0"/>
                <a:cs typeface="Cambria" panose="02040503050406030204" pitchFamily="18" charset="0"/>
              </a:rPr>
              <a:t>(Approved by AICTE, New Delhi &amp; Affiliated to </a:t>
            </a:r>
            <a:r>
              <a:rPr lang="en-US" sz="1000" b="1" dirty="0" err="1">
                <a:latin typeface="Cambria" panose="02040503050406030204" pitchFamily="18" charset="0"/>
                <a:ea typeface="Cambria" panose="02040503050406030204" pitchFamily="18" charset="0"/>
                <a:cs typeface="Cambria" panose="02040503050406030204" pitchFamily="18" charset="0"/>
              </a:rPr>
              <a:t>Visvesvaraya</a:t>
            </a:r>
            <a:r>
              <a:rPr lang="en-US" sz="1000" b="1" dirty="0">
                <a:latin typeface="Cambria" panose="02040503050406030204" pitchFamily="18" charset="0"/>
                <a:ea typeface="Cambria" panose="02040503050406030204" pitchFamily="18" charset="0"/>
                <a:cs typeface="Cambria" panose="02040503050406030204" pitchFamily="18" charset="0"/>
              </a:rPr>
              <a:t> Technological University, </a:t>
            </a:r>
            <a:r>
              <a:rPr lang="en-US" sz="1000" b="1" dirty="0" err="1">
                <a:latin typeface="Cambria" panose="02040503050406030204" pitchFamily="18" charset="0"/>
                <a:ea typeface="Cambria" panose="02040503050406030204" pitchFamily="18" charset="0"/>
                <a:cs typeface="Cambria" panose="02040503050406030204" pitchFamily="18" charset="0"/>
              </a:rPr>
              <a:t>Belagavi</a:t>
            </a:r>
            <a:r>
              <a:rPr lang="en-US" sz="1000" b="1" dirty="0">
                <a:latin typeface="Cambria" panose="02040503050406030204" pitchFamily="18" charset="0"/>
                <a:ea typeface="Cambria" panose="02040503050406030204" pitchFamily="18" charset="0"/>
                <a:cs typeface="Cambria" panose="02040503050406030204" pitchFamily="18" charset="0"/>
              </a:rPr>
              <a:t>)</a:t>
            </a:r>
            <a:endParaRPr lang="en-IN" sz="1000" dirty="0">
              <a:latin typeface="Cambria" panose="02040503050406030204" pitchFamily="18" charset="0"/>
              <a:ea typeface="Cambria" panose="02040503050406030204" pitchFamily="18" charset="0"/>
              <a:cs typeface="Cambria" panose="02040503050406030204" pitchFamily="18" charset="0"/>
            </a:endParaRPr>
          </a:p>
          <a:p>
            <a:pPr algn="ctr"/>
            <a:r>
              <a:rPr lang="en-US" sz="1000" b="1" dirty="0" err="1">
                <a:latin typeface="Cambria" panose="02040503050406030204" pitchFamily="18" charset="0"/>
                <a:ea typeface="Cambria" panose="02040503050406030204" pitchFamily="18" charset="0"/>
                <a:cs typeface="Cambria" panose="02040503050406030204" pitchFamily="18" charset="0"/>
              </a:rPr>
              <a:t>Doddaballapura</a:t>
            </a:r>
            <a:r>
              <a:rPr lang="en-US" sz="1000" b="1" dirty="0">
                <a:latin typeface="Cambria" panose="02040503050406030204" pitchFamily="18" charset="0"/>
                <a:ea typeface="Cambria" panose="02040503050406030204" pitchFamily="18" charset="0"/>
                <a:cs typeface="Cambria" panose="02040503050406030204" pitchFamily="18" charset="0"/>
              </a:rPr>
              <a:t> Main Road, </a:t>
            </a:r>
            <a:r>
              <a:rPr lang="en-US" sz="1000" b="1" dirty="0" err="1">
                <a:latin typeface="Cambria" panose="02040503050406030204" pitchFamily="18" charset="0"/>
                <a:ea typeface="Cambria" panose="02040503050406030204" pitchFamily="18" charset="0"/>
                <a:cs typeface="Cambria" panose="02040503050406030204" pitchFamily="18" charset="0"/>
              </a:rPr>
              <a:t>Avalahalli</a:t>
            </a:r>
            <a:r>
              <a:rPr lang="en-US" sz="1000" b="1" dirty="0">
                <a:latin typeface="Cambria" panose="02040503050406030204" pitchFamily="18" charset="0"/>
                <a:ea typeface="Cambria" panose="02040503050406030204" pitchFamily="18" charset="0"/>
                <a:cs typeface="Cambria" panose="02040503050406030204" pitchFamily="18" charset="0"/>
              </a:rPr>
              <a:t>, </a:t>
            </a:r>
            <a:r>
              <a:rPr lang="en-US" sz="1000" b="1" dirty="0" err="1">
                <a:latin typeface="Cambria" panose="02040503050406030204" pitchFamily="18" charset="0"/>
                <a:ea typeface="Cambria" panose="02040503050406030204" pitchFamily="18" charset="0"/>
                <a:cs typeface="Cambria" panose="02040503050406030204" pitchFamily="18" charset="0"/>
              </a:rPr>
              <a:t>Yelahanka</a:t>
            </a:r>
            <a:r>
              <a:rPr lang="en-US" sz="1000" b="1" dirty="0">
                <a:latin typeface="Cambria" panose="02040503050406030204" pitchFamily="18" charset="0"/>
                <a:ea typeface="Cambria" panose="02040503050406030204" pitchFamily="18" charset="0"/>
                <a:cs typeface="Cambria" panose="02040503050406030204" pitchFamily="18" charset="0"/>
              </a:rPr>
              <a:t>, Bengaluru-560119.</a:t>
            </a:r>
            <a:endParaRPr lang="en-IN"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dk2"/>
              </a:buClr>
              <a:buSzPts val="3600"/>
              <a:buFont typeface="Century Schoolbook"/>
              <a:buNone/>
            </a:pPr>
            <a:r>
              <a:rPr lang="en-IN" b="1">
                <a:latin typeface="Century Schoolbook"/>
                <a:ea typeface="Century Schoolbook"/>
                <a:cs typeface="Century Schoolbook"/>
                <a:sym typeface="Century Schoolbook"/>
              </a:rPr>
              <a:t>CONTENT</a:t>
            </a:r>
            <a:br>
              <a:rPr lang="en-IN" b="1">
                <a:latin typeface="Century Schoolbook"/>
                <a:ea typeface="Century Schoolbook"/>
                <a:cs typeface="Century Schoolbook"/>
                <a:sym typeface="Century Schoolbook"/>
              </a:rPr>
            </a:br>
            <a:endParaRPr b="1">
              <a:latin typeface="Century Schoolbook"/>
              <a:ea typeface="Century Schoolbook"/>
              <a:cs typeface="Century Schoolbook"/>
              <a:sym typeface="Century Schoolbook"/>
            </a:endParaRPr>
          </a:p>
        </p:txBody>
      </p:sp>
      <p:sp>
        <p:nvSpPr>
          <p:cNvPr id="102" name="Google Shape;102;p2"/>
          <p:cNvSpPr txBox="1">
            <a:spLocks noGrp="1"/>
          </p:cNvSpPr>
          <p:nvPr>
            <p:ph type="body" idx="1"/>
          </p:nvPr>
        </p:nvSpPr>
        <p:spPr>
          <a:xfrm>
            <a:off x="457200" y="1041009"/>
            <a:ext cx="8229600" cy="5542671"/>
          </a:xfrm>
          <a:prstGeom prst="rect">
            <a:avLst/>
          </a:prstGeom>
          <a:noFill/>
          <a:ln>
            <a:noFill/>
          </a:ln>
        </p:spPr>
        <p:txBody>
          <a:bodyPr spcFirstLastPara="1" wrap="square" lIns="91425" tIns="45700" rIns="91425" bIns="45700" anchor="t" anchorCtr="0">
            <a:normAutofit fontScale="92500" lnSpcReduction="20000"/>
          </a:bodyPr>
          <a:lstStyle/>
          <a:p>
            <a:pPr marL="571500" lvl="0" indent="-557720" algn="l" rtl="0">
              <a:lnSpc>
                <a:spcPct val="120000"/>
              </a:lnSpc>
              <a:spcBef>
                <a:spcPts val="0"/>
              </a:spcBef>
              <a:spcAft>
                <a:spcPts val="0"/>
              </a:spcAft>
              <a:buClr>
                <a:schemeClr val="dk1"/>
              </a:buClr>
              <a:buSzPct val="100000"/>
              <a:buFont typeface="Cambria Math"/>
              <a:buChar char="↪"/>
            </a:pPr>
            <a:r>
              <a:rPr lang="en-IN" sz="2900" dirty="0">
                <a:latin typeface="Bookman Old Style"/>
                <a:ea typeface="Bookman Old Style"/>
                <a:cs typeface="Bookman Old Style"/>
                <a:sym typeface="Bookman Old Style"/>
              </a:rPr>
              <a:t>Abstract  </a:t>
            </a:r>
            <a:endParaRPr sz="2900" dirty="0">
              <a:latin typeface="Bookman Old Style"/>
              <a:ea typeface="Bookman Old Style"/>
              <a:cs typeface="Bookman Old Style"/>
              <a:sym typeface="Bookman Old Style"/>
            </a:endParaRPr>
          </a:p>
          <a:p>
            <a:pPr marL="571500" lvl="0" indent="-557720" algn="l" rtl="0">
              <a:lnSpc>
                <a:spcPct val="120000"/>
              </a:lnSpc>
              <a:spcBef>
                <a:spcPts val="1118"/>
              </a:spcBef>
              <a:spcAft>
                <a:spcPts val="0"/>
              </a:spcAft>
              <a:buClr>
                <a:schemeClr val="dk1"/>
              </a:buClr>
              <a:buSzPct val="100000"/>
              <a:buFont typeface="Cambria Math"/>
              <a:buChar char="↪"/>
            </a:pPr>
            <a:r>
              <a:rPr lang="en-IN" sz="2900" dirty="0">
                <a:latin typeface="Bookman Old Style"/>
                <a:ea typeface="Bookman Old Style"/>
                <a:cs typeface="Bookman Old Style"/>
                <a:sym typeface="Bookman Old Style"/>
              </a:rPr>
              <a:t>Introduction</a:t>
            </a:r>
            <a:endParaRPr sz="2900" dirty="0">
              <a:latin typeface="Bookman Old Style"/>
              <a:ea typeface="Bookman Old Style"/>
              <a:cs typeface="Bookman Old Style"/>
              <a:sym typeface="Bookman Old Style"/>
            </a:endParaRPr>
          </a:p>
          <a:p>
            <a:pPr marL="571500" lvl="0" indent="-557720" algn="l" rtl="0">
              <a:lnSpc>
                <a:spcPct val="120000"/>
              </a:lnSpc>
              <a:spcBef>
                <a:spcPts val="1118"/>
              </a:spcBef>
              <a:spcAft>
                <a:spcPts val="0"/>
              </a:spcAft>
              <a:buSzPct val="100000"/>
              <a:buFont typeface="Cambria Math"/>
              <a:buChar char="↪"/>
            </a:pPr>
            <a:r>
              <a:rPr lang="en-IN" sz="2900" dirty="0">
                <a:latin typeface="Bookman Old Style"/>
                <a:ea typeface="Bookman Old Style"/>
                <a:cs typeface="Bookman Old Style"/>
                <a:sym typeface="Bookman Old Style"/>
              </a:rPr>
              <a:t>Problem statement</a:t>
            </a:r>
            <a:endParaRPr dirty="0"/>
          </a:p>
          <a:p>
            <a:pPr marL="571500" lvl="0" indent="-557720" algn="l" rtl="0">
              <a:lnSpc>
                <a:spcPct val="120000"/>
              </a:lnSpc>
              <a:spcBef>
                <a:spcPts val="1118"/>
              </a:spcBef>
              <a:spcAft>
                <a:spcPts val="0"/>
              </a:spcAft>
              <a:buClr>
                <a:schemeClr val="dk1"/>
              </a:buClr>
              <a:buSzPct val="100000"/>
              <a:buFont typeface="Cambria Math"/>
              <a:buChar char="↪"/>
            </a:pPr>
            <a:r>
              <a:rPr lang="en-IN" sz="2900" dirty="0">
                <a:latin typeface="Bookman Old Style"/>
                <a:ea typeface="Bookman Old Style"/>
                <a:cs typeface="Bookman Old Style"/>
                <a:sym typeface="Bookman Old Style"/>
              </a:rPr>
              <a:t>Objectives of the work</a:t>
            </a:r>
            <a:endParaRPr dirty="0"/>
          </a:p>
          <a:p>
            <a:pPr marL="571500" lvl="0" indent="-557720" algn="l" rtl="0">
              <a:lnSpc>
                <a:spcPct val="120000"/>
              </a:lnSpc>
              <a:spcBef>
                <a:spcPts val="1118"/>
              </a:spcBef>
              <a:spcAft>
                <a:spcPts val="0"/>
              </a:spcAft>
              <a:buSzPct val="100000"/>
              <a:buFont typeface="Cambria Math"/>
              <a:buChar char="↪"/>
            </a:pPr>
            <a:r>
              <a:rPr lang="en-IN" sz="2900" dirty="0">
                <a:latin typeface="Bookman Old Style"/>
                <a:ea typeface="Bookman Old Style"/>
                <a:cs typeface="Bookman Old Style"/>
                <a:sym typeface="Bookman Old Style"/>
              </a:rPr>
              <a:t>Proposed Methodology</a:t>
            </a:r>
          </a:p>
          <a:p>
            <a:pPr marL="571500" lvl="0" indent="-557720" algn="l" rtl="0">
              <a:lnSpc>
                <a:spcPct val="120000"/>
              </a:lnSpc>
              <a:spcBef>
                <a:spcPts val="1118"/>
              </a:spcBef>
              <a:spcAft>
                <a:spcPts val="0"/>
              </a:spcAft>
              <a:buSzPct val="100000"/>
              <a:buFont typeface="Cambria Math"/>
              <a:buChar char="↪"/>
            </a:pPr>
            <a:r>
              <a:rPr lang="en-IN" sz="2900" dirty="0">
                <a:latin typeface="Bookman Old Style"/>
                <a:ea typeface="Bookman Old Style"/>
                <a:cs typeface="Bookman Old Style"/>
                <a:sym typeface="Bookman Old Style"/>
              </a:rPr>
              <a:t>Flow Diagram </a:t>
            </a:r>
            <a:endParaRPr sz="2900" dirty="0">
              <a:latin typeface="Bookman Old Style"/>
              <a:ea typeface="Bookman Old Style"/>
              <a:cs typeface="Bookman Old Style"/>
              <a:sym typeface="Bookman Old Style"/>
            </a:endParaRPr>
          </a:p>
          <a:p>
            <a:pPr marL="571500" lvl="0" indent="-557720" algn="l" rtl="0">
              <a:lnSpc>
                <a:spcPct val="120000"/>
              </a:lnSpc>
              <a:spcBef>
                <a:spcPts val="1118"/>
              </a:spcBef>
              <a:spcAft>
                <a:spcPts val="0"/>
              </a:spcAft>
              <a:buSzPct val="100000"/>
              <a:buFont typeface="Cambria Math"/>
              <a:buChar char="↪"/>
            </a:pPr>
            <a:r>
              <a:rPr lang="en-IN" sz="2900" dirty="0">
                <a:solidFill>
                  <a:schemeClr val="dk1"/>
                </a:solidFill>
                <a:latin typeface="Bookman Old Style"/>
                <a:ea typeface="Bookman Old Style"/>
                <a:cs typeface="Bookman Old Style"/>
                <a:sym typeface="Bookman Old Style"/>
              </a:rPr>
              <a:t>SDG mapped (as per the metrics provided by Dept.)</a:t>
            </a:r>
            <a:endParaRPr sz="2900" dirty="0">
              <a:solidFill>
                <a:schemeClr val="dk1"/>
              </a:solidFill>
              <a:latin typeface="Bookman Old Style"/>
              <a:ea typeface="Bookman Old Style"/>
              <a:cs typeface="Bookman Old Style"/>
              <a:sym typeface="Bookman Old Style"/>
            </a:endParaRPr>
          </a:p>
          <a:p>
            <a:pPr marL="571500" lvl="0" indent="-557720" algn="l" rtl="0">
              <a:lnSpc>
                <a:spcPct val="120000"/>
              </a:lnSpc>
              <a:spcBef>
                <a:spcPts val="1118"/>
              </a:spcBef>
              <a:spcAft>
                <a:spcPts val="0"/>
              </a:spcAft>
              <a:buSzPct val="100000"/>
              <a:buFont typeface="Cambria Math"/>
              <a:buChar char="↪"/>
            </a:pPr>
            <a:r>
              <a:rPr lang="en-IN" sz="2900" dirty="0">
                <a:latin typeface="Bookman Old Style"/>
                <a:ea typeface="Bookman Old Style"/>
                <a:cs typeface="Bookman Old Style"/>
                <a:sym typeface="Bookman Old Style"/>
              </a:rPr>
              <a:t>Project management and Finance </a:t>
            </a:r>
          </a:p>
          <a:p>
            <a:pPr marL="571500" lvl="0" indent="-557720" algn="l" rtl="0">
              <a:lnSpc>
                <a:spcPct val="120000"/>
              </a:lnSpc>
              <a:spcBef>
                <a:spcPts val="1118"/>
              </a:spcBef>
              <a:spcAft>
                <a:spcPts val="0"/>
              </a:spcAft>
              <a:buClr>
                <a:schemeClr val="dk1"/>
              </a:buClr>
              <a:buSzPct val="100000"/>
              <a:buFont typeface="Cambria Math"/>
              <a:buChar char="↪"/>
            </a:pPr>
            <a:r>
              <a:rPr lang="en-IN" sz="2900" dirty="0">
                <a:latin typeface="Bookman Old Style"/>
                <a:ea typeface="Bookman Old Style"/>
                <a:cs typeface="Bookman Old Style"/>
                <a:sym typeface="Bookman Old Style"/>
              </a:rPr>
              <a:t>References(IEEE format)</a:t>
            </a:r>
            <a:endParaRPr sz="2900" dirty="0">
              <a:latin typeface="Bookman Old Style"/>
              <a:ea typeface="Bookman Old Style"/>
              <a:cs typeface="Bookman Old Style"/>
              <a:sym typeface="Bookman Old Style"/>
            </a:endParaRPr>
          </a:p>
          <a:p>
            <a:pPr marL="45720" lvl="0" indent="0" algn="l" rtl="0">
              <a:lnSpc>
                <a:spcPct val="100000"/>
              </a:lnSpc>
              <a:spcBef>
                <a:spcPts val="880"/>
              </a:spcBef>
              <a:spcAft>
                <a:spcPts val="0"/>
              </a:spcAft>
              <a:buClr>
                <a:schemeClr val="dk1"/>
              </a:buClr>
              <a:buSzPct val="1000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g3a64a40ef39_0_6"/>
          <p:cNvSpPr txBox="1">
            <a:spLocks noGrp="1"/>
          </p:cNvSpPr>
          <p:nvPr>
            <p:ph type="title"/>
          </p:nvPr>
        </p:nvSpPr>
        <p:spPr>
          <a:xfrm>
            <a:off x="274320" y="0"/>
            <a:ext cx="5791200" cy="72879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IN" dirty="0"/>
              <a:t>ABSTRACT</a:t>
            </a:r>
            <a:endParaRPr dirty="0"/>
          </a:p>
        </p:txBody>
      </p:sp>
      <p:sp>
        <p:nvSpPr>
          <p:cNvPr id="109" name="Google Shape;109;g3a64a40ef39_0_6"/>
          <p:cNvSpPr txBox="1">
            <a:spLocks noGrp="1"/>
          </p:cNvSpPr>
          <p:nvPr>
            <p:ph type="body" idx="1"/>
          </p:nvPr>
        </p:nvSpPr>
        <p:spPr>
          <a:xfrm>
            <a:off x="192947" y="710967"/>
            <a:ext cx="7877262" cy="5436066"/>
          </a:xfrm>
          <a:prstGeom prst="rect">
            <a:avLst/>
          </a:prstGeom>
        </p:spPr>
        <p:txBody>
          <a:bodyPr spcFirstLastPara="1" wrap="square" lIns="91425" tIns="45700" rIns="91425" bIns="45700" anchor="t" anchorCtr="0">
            <a:noAutofit/>
          </a:bodyPr>
          <a:lstStyle/>
          <a:p>
            <a:pPr algn="just"/>
            <a:r>
              <a:rPr lang="en-US" sz="1400" b="0" dirty="0"/>
              <a:t>	The rapid growth of mobile banking, QR-based payments, and SMS communication has led to an increase in phishing attacks targeting mobile users. QR phishing (</a:t>
            </a:r>
            <a:r>
              <a:rPr lang="en-US" sz="1400" b="0" dirty="0" err="1"/>
              <a:t>quishing</a:t>
            </a:r>
            <a:r>
              <a:rPr lang="en-US" sz="1400" b="0" dirty="0"/>
              <a:t>) and SMS phishing (smishing) exploit user trust by embedding malicious links in QR codes and deceptive text messages, making detection difficult, especially in zero-day scenarios. Traditional detection systems rely on blacklist databases and external APIs, which are ineffective against newly generated phishing domains and dynamically crafted messages. This project proposes a self-contained Unified Zero-Day Phishing Detection System that operates without external APIs, ensuring privacy and offline capability. The system uses Natural Language Processing techniques, including TF-IDF and Logistic Regression, to classify SMS content, along with URL feature extraction methods such as entropy analysis, special character frequency, homograph detection, and HTTPS validation. An Isolation Forest–based anomaly detection model is incorporated to identify previously unseen threats. Experimental evaluation demonstrates improved detection of novel phishing samples, reduced false negatives, and explainable risk scoring, enhancing resilience against zero-day QR and SMS phishing attacks.	</a:t>
            </a:r>
          </a:p>
          <a:p>
            <a:pPr algn="just"/>
            <a:endParaRPr lang="en-US" sz="1400" b="0" dirty="0"/>
          </a:p>
          <a:p>
            <a:pPr algn="just"/>
            <a:r>
              <a:rPr lang="en-US" sz="1400" b="0" dirty="0"/>
              <a:t>Key words:</a:t>
            </a:r>
          </a:p>
          <a:p>
            <a:pPr algn="just"/>
            <a:r>
              <a:rPr lang="en-US" sz="1400" b="0" dirty="0"/>
              <a:t>	Zero-Day Detection, QR Phishing, SMS Phishing, Machine Learning, NLP, Isolation Forest, Feature Engineering, Explainable AI, Cybersecurity, Offline Detection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g3a64a40ef39_0_12"/>
          <p:cNvSpPr txBox="1">
            <a:spLocks noGrp="1"/>
          </p:cNvSpPr>
          <p:nvPr>
            <p:ph type="title"/>
          </p:nvPr>
        </p:nvSpPr>
        <p:spPr>
          <a:xfrm>
            <a:off x="457200" y="128016"/>
            <a:ext cx="5791200" cy="673926"/>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IN" dirty="0"/>
              <a:t>INTRODUCTION</a:t>
            </a:r>
            <a:endParaRPr dirty="0"/>
          </a:p>
        </p:txBody>
      </p:sp>
      <p:sp>
        <p:nvSpPr>
          <p:cNvPr id="3" name="TextBox 2">
            <a:extLst>
              <a:ext uri="{FF2B5EF4-FFF2-40B4-BE49-F238E27FC236}">
                <a16:creationId xmlns:a16="http://schemas.microsoft.com/office/drawing/2014/main" id="{63FFDC1D-19F9-4303-2ED7-060975E6A690}"/>
              </a:ext>
            </a:extLst>
          </p:cNvPr>
          <p:cNvSpPr txBox="1"/>
          <p:nvPr/>
        </p:nvSpPr>
        <p:spPr>
          <a:xfrm>
            <a:off x="282626" y="1213003"/>
            <a:ext cx="8247888" cy="3785652"/>
          </a:xfrm>
          <a:prstGeom prst="rect">
            <a:avLst/>
          </a:prstGeom>
          <a:noFill/>
        </p:spPr>
        <p:txBody>
          <a:bodyPr wrap="square">
            <a:spAutoFit/>
          </a:bodyPr>
          <a:lstStyle/>
          <a:p>
            <a:pPr marL="285750" indent="-285750">
              <a:buFont typeface="Arial" panose="020B0604020202020204" pitchFamily="34" charset="0"/>
              <a:buChar char="•"/>
            </a:pPr>
            <a:r>
              <a:rPr lang="en-US" sz="2000" b="0" i="0" dirty="0">
                <a:solidFill>
                  <a:srgbClr val="212529"/>
                </a:solidFill>
                <a:effectLst/>
                <a:latin typeface="Times New Roman" panose="02020603050405020304" pitchFamily="18" charset="0"/>
                <a:cs typeface="Times New Roman" panose="02020603050405020304" pitchFamily="18" charset="0"/>
              </a:rPr>
              <a:t>Phishing attacks have evolved into highly sophisticated cyber threats exploiting human psychology, weak security configurations, and gaps in legacy detection mechanisms.</a:t>
            </a:r>
          </a:p>
          <a:p>
            <a:pPr marL="285750" indent="-285750">
              <a:buFont typeface="Arial" panose="020B0604020202020204" pitchFamily="34" charset="0"/>
              <a:buChar char="•"/>
            </a:pPr>
            <a:r>
              <a:rPr lang="en-US" sz="2000" b="0" i="0" dirty="0">
                <a:solidFill>
                  <a:srgbClr val="212529"/>
                </a:solidFill>
                <a:effectLst/>
                <a:latin typeface="Times New Roman" panose="02020603050405020304" pitchFamily="18" charset="0"/>
                <a:cs typeface="Times New Roman" panose="02020603050405020304" pitchFamily="18" charset="0"/>
              </a:rPr>
              <a:t> Threat actors now leverage Machine learning (ML), Deep learning (DL), and natural language generation (NLG) to create context-aware phishing campaigns that bypass signature- and rule-based security systems.</a:t>
            </a:r>
          </a:p>
          <a:p>
            <a:pPr marL="285750" indent="-285750">
              <a:buFont typeface="Arial" panose="020B0604020202020204" pitchFamily="34" charset="0"/>
              <a:buChar char="•"/>
            </a:pPr>
            <a:r>
              <a:rPr lang="en-US" sz="2000" b="0" i="0" dirty="0">
                <a:solidFill>
                  <a:srgbClr val="212529"/>
                </a:solidFill>
                <a:effectLst/>
                <a:latin typeface="Times New Roman" panose="02020603050405020304" pitchFamily="18" charset="0"/>
                <a:cs typeface="Times New Roman" panose="02020603050405020304" pitchFamily="18" charset="0"/>
              </a:rPr>
              <a:t>Attack vectors are no longer limited to email; they now span SMS, instant messaging platforms, and websites using domain spoofing, homoglyph attacks, and redirection chains.</a:t>
            </a:r>
          </a:p>
          <a:p>
            <a:pPr marL="285750" indent="-285750">
              <a:buFont typeface="Arial" panose="020B0604020202020204" pitchFamily="34" charset="0"/>
              <a:buChar char="•"/>
            </a:pPr>
            <a:r>
              <a:rPr lang="en-US" sz="2000" b="0" i="0" dirty="0">
                <a:solidFill>
                  <a:srgbClr val="212529"/>
                </a:solidFill>
                <a:effectLst/>
                <a:latin typeface="Times New Roman" panose="02020603050405020304" pitchFamily="18" charset="0"/>
                <a:cs typeface="Times New Roman" panose="02020603050405020304" pitchFamily="18" charset="0"/>
              </a:rPr>
              <a:t> The dynamic and polymorphic nature of these attacks has rendered traditional anti-phishing mechanisms such as static URL blacklists, regex-based filters, and signature matching ineffective against zero-day exploits.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3a64a40ef39_0_18"/>
          <p:cNvSpPr txBox="1">
            <a:spLocks noGrp="1"/>
          </p:cNvSpPr>
          <p:nvPr>
            <p:ph type="title"/>
          </p:nvPr>
        </p:nvSpPr>
        <p:spPr>
          <a:xfrm>
            <a:off x="143486" y="146304"/>
            <a:ext cx="7230300" cy="661927"/>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IN" dirty="0"/>
              <a:t>PROBLEM STATEMENT</a:t>
            </a:r>
            <a:endParaRPr dirty="0"/>
          </a:p>
        </p:txBody>
      </p:sp>
      <p:sp>
        <p:nvSpPr>
          <p:cNvPr id="123" name="Google Shape;123;g3a64a40ef39_0_18"/>
          <p:cNvSpPr txBox="1">
            <a:spLocks noGrp="1"/>
          </p:cNvSpPr>
          <p:nvPr>
            <p:ph type="body" idx="1"/>
          </p:nvPr>
        </p:nvSpPr>
        <p:spPr>
          <a:xfrm>
            <a:off x="377504" y="897622"/>
            <a:ext cx="8419023" cy="5164850"/>
          </a:xfrm>
          <a:prstGeom prst="rect">
            <a:avLst/>
          </a:prstGeom>
        </p:spPr>
        <p:txBody>
          <a:bodyPr spcFirstLastPara="1" wrap="square" lIns="91425" tIns="45700" rIns="91425" bIns="45700" anchor="t" anchorCtr="0">
            <a:noAutofit/>
          </a:bodyPr>
          <a:lstStyle/>
          <a:p>
            <a:pPr marL="88900" indent="0">
              <a:lnSpc>
                <a:spcPct val="115000"/>
              </a:lnSpc>
              <a:spcBef>
                <a:spcPts val="0"/>
              </a:spcBef>
              <a:buSzPts val="2200"/>
            </a:pPr>
            <a:r>
              <a:rPr lang="en-US" sz="1600" b="0" dirty="0"/>
              <a:t>In today’s digital world, mobile users depend heavily on QR codes and SMS messages for banking and payments, making them vulnerable to phishing attacks. QR phishing and SMS phishing exploit user trust by delivering malicious links that often bypass traditional security systems.</a:t>
            </a:r>
          </a:p>
          <a:p>
            <a:pPr marL="88900" indent="0">
              <a:lnSpc>
                <a:spcPct val="115000"/>
              </a:lnSpc>
              <a:spcBef>
                <a:spcPts val="0"/>
              </a:spcBef>
              <a:buSzPts val="2200"/>
            </a:pPr>
            <a:r>
              <a:rPr lang="en-US" sz="1600" b="0" dirty="0"/>
              <a:t>Most existing solutions rely on blacklists and external APIs, which fail to detect newly generated (zero-day) phishing attacks and raise concerns related to privacy and delayed response. As attackers continuously create new domains and deceptive message patterns, users remain exposed to financial loss and data theft. Therefore, there is a need for a self-contained, intelligent detection system that can proactively identify suspicious patterns and protect users against emerging QR and SMS-based phishing threats without relying on external services.</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g3a64a40ef39_2_2"/>
          <p:cNvSpPr txBox="1">
            <a:spLocks noGrp="1"/>
          </p:cNvSpPr>
          <p:nvPr>
            <p:ph type="title"/>
          </p:nvPr>
        </p:nvSpPr>
        <p:spPr>
          <a:xfrm>
            <a:off x="292608" y="137159"/>
            <a:ext cx="8194200" cy="692221"/>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IN" dirty="0"/>
              <a:t>OBJECTIVES OF THE WORK</a:t>
            </a:r>
            <a:endParaRPr dirty="0"/>
          </a:p>
        </p:txBody>
      </p:sp>
      <p:sp>
        <p:nvSpPr>
          <p:cNvPr id="2" name="Rectangle 1">
            <a:extLst>
              <a:ext uri="{FF2B5EF4-FFF2-40B4-BE49-F238E27FC236}">
                <a16:creationId xmlns:a16="http://schemas.microsoft.com/office/drawing/2014/main" id="{8921FBB1-E243-C00A-37C9-3DE1B0093B42}"/>
              </a:ext>
            </a:extLst>
          </p:cNvPr>
          <p:cNvSpPr>
            <a:spLocks noChangeArrowheads="1"/>
          </p:cNvSpPr>
          <p:nvPr/>
        </p:nvSpPr>
        <p:spPr bwMode="auto">
          <a:xfrm rot="10800000" flipV="1">
            <a:off x="461772" y="1049975"/>
            <a:ext cx="81942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To continuously monitor </a:t>
            </a:r>
            <a:r>
              <a:rPr lang="en-US" sz="1800" b="1" dirty="0">
                <a:latin typeface="Times New Roman" panose="02020603050405020304" pitchFamily="18" charset="0"/>
                <a:cs typeface="Times New Roman" panose="02020603050405020304" pitchFamily="18" charset="0"/>
              </a:rPr>
              <a:t>incoming SMS messages</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scanned or embedded QR codes</a:t>
            </a:r>
            <a:r>
              <a:rPr lang="en-US" sz="1800" dirty="0">
                <a:latin typeface="Times New Roman" panose="02020603050405020304" pitchFamily="18" charset="0"/>
                <a:cs typeface="Times New Roman" panose="02020603050405020304" pitchFamily="18" charset="0"/>
              </a:rPr>
              <a:t> in real time.</a:t>
            </a: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To preprocess SMS text and QR code images using </a:t>
            </a:r>
            <a:r>
              <a:rPr lang="en-US" sz="1800" b="1" dirty="0">
                <a:latin typeface="Times New Roman" panose="02020603050405020304" pitchFamily="18" charset="0"/>
                <a:cs typeface="Times New Roman" panose="02020603050405020304" pitchFamily="18" charset="0"/>
              </a:rPr>
              <a:t>NLP techniques</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computer vision methods</a:t>
            </a:r>
            <a:r>
              <a:rPr lang="en-US" sz="1800" dirty="0">
                <a:latin typeface="Times New Roman" panose="02020603050405020304" pitchFamily="18" charset="0"/>
                <a:cs typeface="Times New Roman" panose="02020603050405020304" pitchFamily="18" charset="0"/>
              </a:rPr>
              <a:t> for reliable feature extraction.</a:t>
            </a: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To analyze SMS content using </a:t>
            </a:r>
            <a:r>
              <a:rPr lang="en-US" sz="1800" b="1" dirty="0">
                <a:latin typeface="Times New Roman" panose="02020603050405020304" pitchFamily="18" charset="0"/>
                <a:cs typeface="Times New Roman" panose="02020603050405020304" pitchFamily="18" charset="0"/>
              </a:rPr>
              <a:t>AI/ML models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TinyBERT</a:t>
            </a:r>
            <a:r>
              <a:rPr lang="en-US" sz="1800" dirty="0">
                <a:latin typeface="Times New Roman" panose="02020603050405020304" pitchFamily="18" charset="0"/>
                <a:cs typeface="Times New Roman" panose="02020603050405020304" pitchFamily="18" charset="0"/>
              </a:rPr>
              <a:t> / CNN-GRU) for detecting smishing attacks based on context, urgency, and sender patterns.</a:t>
            </a: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To detect malicious QR codes using </a:t>
            </a:r>
            <a:r>
              <a:rPr lang="en-US" sz="1800" b="1" dirty="0">
                <a:latin typeface="Times New Roman" panose="02020603050405020304" pitchFamily="18" charset="0"/>
                <a:cs typeface="Times New Roman" panose="02020603050405020304" pitchFamily="18" charset="0"/>
              </a:rPr>
              <a:t>CNN-based visual analysis</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URL safety </a:t>
            </a:r>
            <a:r>
              <a:rPr lang="en-US" sz="1800" b="1">
                <a:latin typeface="Times New Roman" panose="02020603050405020304" pitchFamily="18" charset="0"/>
                <a:cs typeface="Times New Roman" panose="02020603050405020304" pitchFamily="18" charset="0"/>
              </a:rPr>
              <a:t>classification models.</a:t>
            </a:r>
            <a:endParaRPr lang="en-US" sz="18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To correlate SMS content with QR-decoded URLs to identify </a:t>
            </a:r>
            <a:r>
              <a:rPr lang="en-US" sz="1800" b="1" dirty="0">
                <a:latin typeface="Times New Roman" panose="02020603050405020304" pitchFamily="18" charset="0"/>
                <a:cs typeface="Times New Roman" panose="02020603050405020304" pitchFamily="18" charset="0"/>
              </a:rPr>
              <a:t>contextual phishing attacks</a:t>
            </a:r>
            <a:r>
              <a:rPr lang="en-US" sz="1800" dirty="0">
                <a:latin typeface="Times New Roman" panose="02020603050405020304" pitchFamily="18" charset="0"/>
                <a:cs typeface="Times New Roman" panose="02020603050405020304" pitchFamily="18" charset="0"/>
              </a:rPr>
              <a:t> and brand impersonation attempts.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AI/ML-based phishing detection and prevention system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malicious links and QR codes used in digital and UPI transactions and Threat SMS.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3a64a40ef39_2_8"/>
          <p:cNvSpPr txBox="1">
            <a:spLocks noGrp="1"/>
          </p:cNvSpPr>
          <p:nvPr>
            <p:ph type="title"/>
          </p:nvPr>
        </p:nvSpPr>
        <p:spPr>
          <a:xfrm>
            <a:off x="402336" y="155448"/>
            <a:ext cx="5791200" cy="664782"/>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IN" dirty="0"/>
              <a:t>METHODOLOGY </a:t>
            </a:r>
            <a:endParaRPr dirty="0"/>
          </a:p>
        </p:txBody>
      </p:sp>
      <p:sp>
        <p:nvSpPr>
          <p:cNvPr id="9" name="TextBox 8">
            <a:extLst>
              <a:ext uri="{FF2B5EF4-FFF2-40B4-BE49-F238E27FC236}">
                <a16:creationId xmlns:a16="http://schemas.microsoft.com/office/drawing/2014/main" id="{C7D41E3B-7DA0-75C3-C2A3-014D208B9EE7}"/>
              </a:ext>
            </a:extLst>
          </p:cNvPr>
          <p:cNvSpPr txBox="1"/>
          <p:nvPr/>
        </p:nvSpPr>
        <p:spPr>
          <a:xfrm>
            <a:off x="402336" y="1095905"/>
            <a:ext cx="8549640" cy="507831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Acquisition Layer:</a:t>
            </a:r>
          </a:p>
          <a:p>
            <a:pPr lvl="2" eaLnBrk="0" fontAlgn="base" hangingPunct="0">
              <a:spcBef>
                <a:spcPct val="0"/>
              </a:spcBef>
              <a:spcAft>
                <a:spcPct val="0"/>
              </a:spcAft>
              <a:buClrTx/>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Dual-Input Streams: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Simultaneous monitoring of incoming SMS text and 	  	  embedded/scanned QR code images.</a:t>
            </a:r>
          </a:p>
          <a:p>
            <a:pPr lvl="6" eaLnBrk="0" fontAlgn="base" hangingPunct="0">
              <a:spcBef>
                <a:spcPct val="0"/>
              </a:spcBef>
              <a:spcAft>
                <a:spcPct val="0"/>
              </a:spcAft>
              <a:buClrTx/>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*Feature Extraction: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Utilizing NLP for text metadata and Computer Vision 	  	  for QR payload extraction.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AI/ML Core (Hybrid Pipeline):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*Smishing Module: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Employs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TinyBERT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Hybrid CNN-GRU</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analyze 	  	  text context, urgency, and sender reputation.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Quishing</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Module: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CNN-based classification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ResNet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/VGG) to 	  	  detect "visual" tampering and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evaluate the decoded URL safety.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Cross-Verification Engine: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Correlates SMS context with QR landing pages to detect "Contextual Phishing" 	(e.g., an SMS about banking leading to a non-banking URL).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Actionable Prevention Layer:</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*Real-Time Risk Scoring: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Categorizes threats as Low, Medium, or High.</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*Automated Response: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Instant blocking of malicious links and user alerts  	  	  with visual safety indicators.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CF9E544F-685B-15B8-0844-EF8C60EAD715}"/>
            </a:ext>
          </a:extLst>
        </p:cNvPr>
        <p:cNvGrpSpPr/>
        <p:nvPr/>
      </p:nvGrpSpPr>
      <p:grpSpPr>
        <a:xfrm>
          <a:off x="0" y="0"/>
          <a:ext cx="0" cy="0"/>
          <a:chOff x="0" y="0"/>
          <a:chExt cx="0" cy="0"/>
        </a:xfrm>
      </p:grpSpPr>
      <p:sp>
        <p:nvSpPr>
          <p:cNvPr id="136" name="Google Shape;136;g3a64a40ef39_2_8">
            <a:extLst>
              <a:ext uri="{FF2B5EF4-FFF2-40B4-BE49-F238E27FC236}">
                <a16:creationId xmlns:a16="http://schemas.microsoft.com/office/drawing/2014/main" id="{D62D2ABD-FF2A-511E-0AB4-3214B8BBA0DB}"/>
              </a:ext>
            </a:extLst>
          </p:cNvPr>
          <p:cNvSpPr txBox="1">
            <a:spLocks noGrp="1"/>
          </p:cNvSpPr>
          <p:nvPr>
            <p:ph type="title"/>
          </p:nvPr>
        </p:nvSpPr>
        <p:spPr>
          <a:xfrm>
            <a:off x="548640" y="176467"/>
            <a:ext cx="5791200" cy="664782"/>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IN" dirty="0"/>
              <a:t>FLOW DIAGRAM</a:t>
            </a:r>
            <a:endParaRPr dirty="0"/>
          </a:p>
        </p:txBody>
      </p:sp>
      <p:pic>
        <p:nvPicPr>
          <p:cNvPr id="2" name="Picture 1">
            <a:extLst>
              <a:ext uri="{FF2B5EF4-FFF2-40B4-BE49-F238E27FC236}">
                <a16:creationId xmlns:a16="http://schemas.microsoft.com/office/drawing/2014/main" id="{4A8B14C0-B0DA-DF14-0FBB-562E469399CB}"/>
              </a:ext>
            </a:extLst>
          </p:cNvPr>
          <p:cNvPicPr>
            <a:picLocks noChangeAspect="1"/>
          </p:cNvPicPr>
          <p:nvPr/>
        </p:nvPicPr>
        <p:blipFill>
          <a:blip r:embed="rId3"/>
          <a:stretch>
            <a:fillRect/>
          </a:stretch>
        </p:blipFill>
        <p:spPr>
          <a:xfrm>
            <a:off x="448056" y="889842"/>
            <a:ext cx="7818120" cy="5126909"/>
          </a:xfrm>
          <a:prstGeom prst="rect">
            <a:avLst/>
          </a:prstGeom>
        </p:spPr>
      </p:pic>
    </p:spTree>
    <p:extLst>
      <p:ext uri="{BB962C8B-B14F-4D97-AF65-F5344CB8AC3E}">
        <p14:creationId xmlns:p14="http://schemas.microsoft.com/office/powerpoint/2010/main" val="3133782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3D3E08FD-60F4-3239-FF18-E63A2D62975C}"/>
            </a:ext>
          </a:extLst>
        </p:cNvPr>
        <p:cNvGrpSpPr/>
        <p:nvPr/>
      </p:nvGrpSpPr>
      <p:grpSpPr>
        <a:xfrm>
          <a:off x="0" y="0"/>
          <a:ext cx="0" cy="0"/>
          <a:chOff x="0" y="0"/>
          <a:chExt cx="0" cy="0"/>
        </a:xfrm>
      </p:grpSpPr>
      <p:sp>
        <p:nvSpPr>
          <p:cNvPr id="136" name="Google Shape;136;g3a64a40ef39_2_8">
            <a:extLst>
              <a:ext uri="{FF2B5EF4-FFF2-40B4-BE49-F238E27FC236}">
                <a16:creationId xmlns:a16="http://schemas.microsoft.com/office/drawing/2014/main" id="{F659B527-211F-577E-6B7B-32A760D3BB28}"/>
              </a:ext>
            </a:extLst>
          </p:cNvPr>
          <p:cNvSpPr txBox="1">
            <a:spLocks noGrp="1"/>
          </p:cNvSpPr>
          <p:nvPr>
            <p:ph type="title"/>
          </p:nvPr>
        </p:nvSpPr>
        <p:spPr>
          <a:xfrm>
            <a:off x="557784" y="149035"/>
            <a:ext cx="6848856" cy="664782"/>
          </a:xfrm>
          <a:prstGeom prst="rect">
            <a:avLst/>
          </a:prstGeom>
        </p:spPr>
        <p:txBody>
          <a:bodyPr spcFirstLastPara="1" wrap="square" lIns="91425" tIns="45700" rIns="91425" bIns="45700" anchor="b" anchorCtr="0">
            <a:normAutofit fontScale="90000"/>
          </a:bodyPr>
          <a:lstStyle/>
          <a:p>
            <a:pPr marL="0" lvl="0" indent="0" algn="l" rtl="0">
              <a:spcBef>
                <a:spcPts val="0"/>
              </a:spcBef>
              <a:spcAft>
                <a:spcPts val="0"/>
              </a:spcAft>
              <a:buNone/>
            </a:pPr>
            <a:r>
              <a:rPr lang="en-IN" dirty="0"/>
              <a:t>TOOLS AND TECHNOLOGY</a:t>
            </a:r>
            <a:endParaRPr dirty="0"/>
          </a:p>
        </p:txBody>
      </p:sp>
      <p:graphicFrame>
        <p:nvGraphicFramePr>
          <p:cNvPr id="3" name="Table 2">
            <a:extLst>
              <a:ext uri="{FF2B5EF4-FFF2-40B4-BE49-F238E27FC236}">
                <a16:creationId xmlns:a16="http://schemas.microsoft.com/office/drawing/2014/main" id="{CF590A84-EDD9-EF89-BF32-2DB5A879D6D7}"/>
              </a:ext>
            </a:extLst>
          </p:cNvPr>
          <p:cNvGraphicFramePr>
            <a:graphicFrameLocks noGrp="1"/>
          </p:cNvGraphicFramePr>
          <p:nvPr>
            <p:extLst>
              <p:ext uri="{D42A27DB-BD31-4B8C-83A1-F6EECF244321}">
                <p14:modId xmlns:p14="http://schemas.microsoft.com/office/powerpoint/2010/main" val="3044824219"/>
              </p:ext>
            </p:extLst>
          </p:nvPr>
        </p:nvGraphicFramePr>
        <p:xfrm>
          <a:off x="466344" y="1499616"/>
          <a:ext cx="7620000" cy="3851176"/>
        </p:xfrm>
        <a:graphic>
          <a:graphicData uri="http://schemas.openxmlformats.org/drawingml/2006/table">
            <a:tbl>
              <a:tblPr firstRow="1">
                <a:tableStyleId>{3C2FFA5D-87B4-456A-9821-1D502468CF0F}</a:tableStyleId>
              </a:tblPr>
              <a:tblGrid>
                <a:gridCol w="3810000">
                  <a:extLst>
                    <a:ext uri="{9D8B030D-6E8A-4147-A177-3AD203B41FA5}">
                      <a16:colId xmlns:a16="http://schemas.microsoft.com/office/drawing/2014/main" val="1722149853"/>
                    </a:ext>
                  </a:extLst>
                </a:gridCol>
                <a:gridCol w="3810000">
                  <a:extLst>
                    <a:ext uri="{9D8B030D-6E8A-4147-A177-3AD203B41FA5}">
                      <a16:colId xmlns:a16="http://schemas.microsoft.com/office/drawing/2014/main" val="4092460237"/>
                    </a:ext>
                  </a:extLst>
                </a:gridCol>
              </a:tblGrid>
              <a:tr h="481397">
                <a:tc>
                  <a:txBody>
                    <a:bodyPr/>
                    <a:lstStyle/>
                    <a:p>
                      <a:pPr>
                        <a:buNone/>
                      </a:pPr>
                      <a:r>
                        <a:rPr lang="en-IN" sz="1800" b="1" dirty="0">
                          <a:latin typeface="Times New Roman" panose="02020603050405020304" pitchFamily="18" charset="0"/>
                          <a:cs typeface="Times New Roman" panose="02020603050405020304" pitchFamily="18" charset="0"/>
                        </a:rPr>
                        <a:t>Layer</a:t>
                      </a:r>
                    </a:p>
                  </a:txBody>
                  <a:tcPr anchor="ctr"/>
                </a:tc>
                <a:tc>
                  <a:txBody>
                    <a:bodyPr/>
                    <a:lstStyle/>
                    <a:p>
                      <a:pPr>
                        <a:buNone/>
                      </a:pPr>
                      <a:r>
                        <a:rPr lang="en-IN" sz="1800" b="1" dirty="0">
                          <a:latin typeface="Times New Roman" panose="02020603050405020304" pitchFamily="18" charset="0"/>
                          <a:cs typeface="Times New Roman" panose="02020603050405020304" pitchFamily="18" charset="0"/>
                        </a:rPr>
                        <a:t>Tools &amp; Technologies</a:t>
                      </a:r>
                    </a:p>
                  </a:txBody>
                  <a:tcPr anchor="ctr"/>
                </a:tc>
                <a:extLst>
                  <a:ext uri="{0D108BD9-81ED-4DB2-BD59-A6C34878D82A}">
                    <a16:rowId xmlns:a16="http://schemas.microsoft.com/office/drawing/2014/main" val="3420256118"/>
                  </a:ext>
                </a:extLst>
              </a:tr>
              <a:tr h="481397">
                <a:tc>
                  <a:txBody>
                    <a:bodyPr/>
                    <a:lstStyle/>
                    <a:p>
                      <a:pPr>
                        <a:buNone/>
                      </a:pPr>
                      <a:r>
                        <a:rPr lang="en-IN" sz="1800" dirty="0">
                          <a:latin typeface="Times New Roman" panose="02020603050405020304" pitchFamily="18" charset="0"/>
                          <a:cs typeface="Times New Roman" panose="02020603050405020304" pitchFamily="18" charset="0"/>
                        </a:rPr>
                        <a:t>Data Acquisition</a:t>
                      </a:r>
                    </a:p>
                  </a:txBody>
                  <a:tcPr anchor="ctr"/>
                </a:tc>
                <a:tc>
                  <a:txBody>
                    <a:bodyPr/>
                    <a:lstStyle/>
                    <a:p>
                      <a:pPr>
                        <a:buNone/>
                      </a:pPr>
                      <a:r>
                        <a:rPr lang="en-IN" sz="1800">
                          <a:latin typeface="Times New Roman" panose="02020603050405020304" pitchFamily="18" charset="0"/>
                          <a:cs typeface="Times New Roman" panose="02020603050405020304" pitchFamily="18" charset="0"/>
                        </a:rPr>
                        <a:t>Android SMS API, CameraX, ZXing</a:t>
                      </a:r>
                    </a:p>
                  </a:txBody>
                  <a:tcPr anchor="ctr"/>
                </a:tc>
                <a:extLst>
                  <a:ext uri="{0D108BD9-81ED-4DB2-BD59-A6C34878D82A}">
                    <a16:rowId xmlns:a16="http://schemas.microsoft.com/office/drawing/2014/main" val="2393193305"/>
                  </a:ext>
                </a:extLst>
              </a:tr>
              <a:tr h="481397">
                <a:tc>
                  <a:txBody>
                    <a:bodyPr/>
                    <a:lstStyle/>
                    <a:p>
                      <a:pPr>
                        <a:buNone/>
                      </a:pPr>
                      <a:r>
                        <a:rPr lang="en-IN" sz="1800" dirty="0">
                          <a:latin typeface="Times New Roman" panose="02020603050405020304" pitchFamily="18" charset="0"/>
                          <a:cs typeface="Times New Roman" panose="02020603050405020304" pitchFamily="18" charset="0"/>
                        </a:rPr>
                        <a:t>Feature Extraction</a:t>
                      </a:r>
                    </a:p>
                  </a:txBody>
                  <a:tcPr anchor="ctr"/>
                </a:tc>
                <a:tc>
                  <a:txBody>
                    <a:bodyPr/>
                    <a:lstStyle/>
                    <a:p>
                      <a:pPr>
                        <a:buNone/>
                      </a:pPr>
                      <a:r>
                        <a:rPr lang="en-IN" sz="1800">
                          <a:latin typeface="Times New Roman" panose="02020603050405020304" pitchFamily="18" charset="0"/>
                          <a:cs typeface="Times New Roman" panose="02020603050405020304" pitchFamily="18" charset="0"/>
                        </a:rPr>
                        <a:t>NLTK, SpaCy, OpenCV</a:t>
                      </a:r>
                    </a:p>
                  </a:txBody>
                  <a:tcPr anchor="ctr"/>
                </a:tc>
                <a:extLst>
                  <a:ext uri="{0D108BD9-81ED-4DB2-BD59-A6C34878D82A}">
                    <a16:rowId xmlns:a16="http://schemas.microsoft.com/office/drawing/2014/main" val="708525058"/>
                  </a:ext>
                </a:extLst>
              </a:tr>
              <a:tr h="481397">
                <a:tc>
                  <a:txBody>
                    <a:bodyPr/>
                    <a:lstStyle/>
                    <a:p>
                      <a:pPr>
                        <a:buNone/>
                      </a:pPr>
                      <a:r>
                        <a:rPr lang="en-IN" sz="1800" dirty="0">
                          <a:latin typeface="Times New Roman" panose="02020603050405020304" pitchFamily="18" charset="0"/>
                          <a:cs typeface="Times New Roman" panose="02020603050405020304" pitchFamily="18" charset="0"/>
                        </a:rPr>
                        <a:t>Smishing Detection</a:t>
                      </a:r>
                    </a:p>
                  </a:txBody>
                  <a:tcPr anchor="ctr"/>
                </a:tc>
                <a:tc>
                  <a:txBody>
                    <a:bodyPr/>
                    <a:lstStyle/>
                    <a:p>
                      <a:pPr>
                        <a:buNone/>
                      </a:pPr>
                      <a:r>
                        <a:rPr lang="en-IN" sz="1800">
                          <a:latin typeface="Times New Roman" panose="02020603050405020304" pitchFamily="18" charset="0"/>
                          <a:cs typeface="Times New Roman" panose="02020603050405020304" pitchFamily="18" charset="0"/>
                        </a:rPr>
                        <a:t>TinyBERT, CNN-GRU</a:t>
                      </a:r>
                    </a:p>
                  </a:txBody>
                  <a:tcPr anchor="ctr"/>
                </a:tc>
                <a:extLst>
                  <a:ext uri="{0D108BD9-81ED-4DB2-BD59-A6C34878D82A}">
                    <a16:rowId xmlns:a16="http://schemas.microsoft.com/office/drawing/2014/main" val="4243998858"/>
                  </a:ext>
                </a:extLst>
              </a:tr>
              <a:tr h="481397">
                <a:tc>
                  <a:txBody>
                    <a:bodyPr/>
                    <a:lstStyle/>
                    <a:p>
                      <a:pPr>
                        <a:buNone/>
                      </a:pPr>
                      <a:r>
                        <a:rPr lang="en-IN" sz="1800" dirty="0" err="1">
                          <a:latin typeface="Times New Roman" panose="02020603050405020304" pitchFamily="18" charset="0"/>
                          <a:cs typeface="Times New Roman" panose="02020603050405020304" pitchFamily="18" charset="0"/>
                        </a:rPr>
                        <a:t>Quishing</a:t>
                      </a:r>
                      <a:r>
                        <a:rPr lang="en-IN" sz="1800" dirty="0">
                          <a:latin typeface="Times New Roman" panose="02020603050405020304" pitchFamily="18" charset="0"/>
                          <a:cs typeface="Times New Roman" panose="02020603050405020304" pitchFamily="18" charset="0"/>
                        </a:rPr>
                        <a:t> Detection</a:t>
                      </a:r>
                    </a:p>
                  </a:txBody>
                  <a:tcPr anchor="ctr"/>
                </a:tc>
                <a:tc>
                  <a:txBody>
                    <a:bodyPr/>
                    <a:lstStyle/>
                    <a:p>
                      <a:pPr>
                        <a:buNone/>
                      </a:pPr>
                      <a:r>
                        <a:rPr lang="en-IN" sz="1800">
                          <a:latin typeface="Times New Roman" panose="02020603050405020304" pitchFamily="18" charset="0"/>
                          <a:cs typeface="Times New Roman" panose="02020603050405020304" pitchFamily="18" charset="0"/>
                        </a:rPr>
                        <a:t>ResNet, VGG, XGBoost</a:t>
                      </a:r>
                    </a:p>
                  </a:txBody>
                  <a:tcPr anchor="ctr"/>
                </a:tc>
                <a:extLst>
                  <a:ext uri="{0D108BD9-81ED-4DB2-BD59-A6C34878D82A}">
                    <a16:rowId xmlns:a16="http://schemas.microsoft.com/office/drawing/2014/main" val="1043927884"/>
                  </a:ext>
                </a:extLst>
              </a:tr>
              <a:tr h="481397">
                <a:tc>
                  <a:txBody>
                    <a:bodyPr/>
                    <a:lstStyle/>
                    <a:p>
                      <a:pPr>
                        <a:buNone/>
                      </a:pPr>
                      <a:r>
                        <a:rPr lang="en-IN" sz="1800" dirty="0">
                          <a:latin typeface="Times New Roman" panose="02020603050405020304" pitchFamily="18" charset="0"/>
                          <a:cs typeface="Times New Roman" panose="02020603050405020304" pitchFamily="18" charset="0"/>
                        </a:rPr>
                        <a:t>Cross Verification</a:t>
                      </a:r>
                    </a:p>
                  </a:txBody>
                  <a:tcPr anchor="ctr"/>
                </a:tc>
                <a:tc>
                  <a:txBody>
                    <a:bodyPr/>
                    <a:lstStyle/>
                    <a:p>
                      <a:pPr>
                        <a:buNone/>
                      </a:pPr>
                      <a:r>
                        <a:rPr lang="en-IN" sz="1800">
                          <a:latin typeface="Times New Roman" panose="02020603050405020304" pitchFamily="18" charset="0"/>
                          <a:cs typeface="Times New Roman" panose="02020603050405020304" pitchFamily="18" charset="0"/>
                        </a:rPr>
                        <a:t>Rule Engine, NER</a:t>
                      </a:r>
                    </a:p>
                  </a:txBody>
                  <a:tcPr anchor="ctr"/>
                </a:tc>
                <a:extLst>
                  <a:ext uri="{0D108BD9-81ED-4DB2-BD59-A6C34878D82A}">
                    <a16:rowId xmlns:a16="http://schemas.microsoft.com/office/drawing/2014/main" val="4125383666"/>
                  </a:ext>
                </a:extLst>
              </a:tr>
              <a:tr h="481397">
                <a:tc>
                  <a:txBody>
                    <a:bodyPr/>
                    <a:lstStyle/>
                    <a:p>
                      <a:pPr>
                        <a:buNone/>
                      </a:pPr>
                      <a:r>
                        <a:rPr lang="en-IN" sz="1800" dirty="0">
                          <a:latin typeface="Times New Roman" panose="02020603050405020304" pitchFamily="18" charset="0"/>
                          <a:cs typeface="Times New Roman" panose="02020603050405020304" pitchFamily="18" charset="0"/>
                        </a:rPr>
                        <a:t>Dashboard</a:t>
                      </a:r>
                    </a:p>
                  </a:txBody>
                  <a:tcPr anchor="ctr"/>
                </a:tc>
                <a:tc>
                  <a:txBody>
                    <a:bodyPr/>
                    <a:lstStyle/>
                    <a:p>
                      <a:pPr>
                        <a:buNone/>
                      </a:pPr>
                      <a:r>
                        <a:rPr lang="en-IN" sz="1800" dirty="0" err="1">
                          <a:latin typeface="Times New Roman" panose="02020603050405020304" pitchFamily="18" charset="0"/>
                          <a:cs typeface="Times New Roman" panose="02020603050405020304" pitchFamily="18" charset="0"/>
                        </a:rPr>
                        <a:t>Streamlit</a:t>
                      </a:r>
                      <a:r>
                        <a:rPr lang="en-IN" sz="1800" dirty="0">
                          <a:latin typeface="Times New Roman" panose="02020603050405020304" pitchFamily="18" charset="0"/>
                          <a:cs typeface="Times New Roman" panose="02020603050405020304" pitchFamily="18" charset="0"/>
                        </a:rPr>
                        <a:t>, React</a:t>
                      </a:r>
                    </a:p>
                  </a:txBody>
                  <a:tcPr anchor="ctr"/>
                </a:tc>
                <a:extLst>
                  <a:ext uri="{0D108BD9-81ED-4DB2-BD59-A6C34878D82A}">
                    <a16:rowId xmlns:a16="http://schemas.microsoft.com/office/drawing/2014/main" val="976011613"/>
                  </a:ext>
                </a:extLst>
              </a:tr>
              <a:tr h="481397">
                <a:tc>
                  <a:txBody>
                    <a:bodyPr/>
                    <a:lstStyle/>
                    <a:p>
                      <a:pPr>
                        <a:buNone/>
                      </a:pPr>
                      <a:r>
                        <a:rPr lang="en-IN" sz="1800" dirty="0">
                          <a:latin typeface="Times New Roman" panose="02020603050405020304" pitchFamily="18" charset="0"/>
                          <a:cs typeface="Times New Roman" panose="02020603050405020304" pitchFamily="18" charset="0"/>
                        </a:rPr>
                        <a:t>Backend</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Flask, </a:t>
                      </a:r>
                      <a:r>
                        <a:rPr lang="en-IN" sz="1800" dirty="0" err="1">
                          <a:latin typeface="Times New Roman" panose="02020603050405020304" pitchFamily="18" charset="0"/>
                          <a:cs typeface="Times New Roman" panose="02020603050405020304" pitchFamily="18" charset="0"/>
                        </a:rPr>
                        <a:t>FastAPI</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30934507"/>
                  </a:ext>
                </a:extLst>
              </a:tr>
            </a:tbl>
          </a:graphicData>
        </a:graphic>
      </p:graphicFrame>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D11C6934-5A45-AAE1-B86D-639588650B54}"/>
                  </a:ext>
                </a:extLst>
              </p14:cNvPr>
              <p14:cNvContentPartPr/>
              <p14:nvPr/>
            </p14:nvContentPartPr>
            <p14:xfrm>
              <a:off x="-722376" y="1133496"/>
              <a:ext cx="360" cy="360"/>
            </p14:xfrm>
          </p:contentPart>
        </mc:Choice>
        <mc:Fallback xmlns="">
          <p:pic>
            <p:nvPicPr>
              <p:cNvPr id="7" name="Ink 6">
                <a:extLst>
                  <a:ext uri="{FF2B5EF4-FFF2-40B4-BE49-F238E27FC236}">
                    <a16:creationId xmlns:a16="http://schemas.microsoft.com/office/drawing/2014/main" id="{D11C6934-5A45-AAE1-B86D-639588650B54}"/>
                  </a:ext>
                </a:extLst>
              </p:cNvPr>
              <p:cNvPicPr/>
              <p:nvPr/>
            </p:nvPicPr>
            <p:blipFill>
              <a:blip r:embed="rId4"/>
              <a:stretch>
                <a:fillRect/>
              </a:stretch>
            </p:blipFill>
            <p:spPr>
              <a:xfrm>
                <a:off x="-728496" y="11273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A528381B-4F82-C345-9E01-DD4C0536D4EB}"/>
                  </a:ext>
                </a:extLst>
              </p14:cNvPr>
              <p14:cNvContentPartPr/>
              <p14:nvPr/>
            </p14:nvContentPartPr>
            <p14:xfrm>
              <a:off x="3044664" y="2066400"/>
              <a:ext cx="360" cy="360"/>
            </p14:xfrm>
          </p:contentPart>
        </mc:Choice>
        <mc:Fallback xmlns="">
          <p:pic>
            <p:nvPicPr>
              <p:cNvPr id="9" name="Ink 8">
                <a:extLst>
                  <a:ext uri="{FF2B5EF4-FFF2-40B4-BE49-F238E27FC236}">
                    <a16:creationId xmlns:a16="http://schemas.microsoft.com/office/drawing/2014/main" id="{A528381B-4F82-C345-9E01-DD4C0536D4EB}"/>
                  </a:ext>
                </a:extLst>
              </p:cNvPr>
              <p:cNvPicPr/>
              <p:nvPr/>
            </p:nvPicPr>
            <p:blipFill>
              <a:blip r:embed="rId4"/>
              <a:stretch>
                <a:fillRect/>
              </a:stretch>
            </p:blipFill>
            <p:spPr>
              <a:xfrm>
                <a:off x="3038544" y="2060280"/>
                <a:ext cx="12600" cy="12600"/>
              </a:xfrm>
              <a:prstGeom prst="rect">
                <a:avLst/>
              </a:prstGeom>
            </p:spPr>
          </p:pic>
        </mc:Fallback>
      </mc:AlternateContent>
    </p:spTree>
    <p:extLst>
      <p:ext uri="{BB962C8B-B14F-4D97-AF65-F5344CB8AC3E}">
        <p14:creationId xmlns:p14="http://schemas.microsoft.com/office/powerpoint/2010/main" val="1985077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g3a64a40ef39_2_44"/>
          <p:cNvSpPr txBox="1">
            <a:spLocks noGrp="1"/>
          </p:cNvSpPr>
          <p:nvPr>
            <p:ph type="title"/>
          </p:nvPr>
        </p:nvSpPr>
        <p:spPr>
          <a:xfrm>
            <a:off x="457200" y="0"/>
            <a:ext cx="8121600" cy="1524300"/>
          </a:xfrm>
          <a:prstGeom prst="rect">
            <a:avLst/>
          </a:prstGeom>
        </p:spPr>
        <p:txBody>
          <a:bodyPr spcFirstLastPara="1" wrap="square" lIns="91425" tIns="45700" rIns="91425" bIns="45700" anchor="b" anchorCtr="0">
            <a:normAutofit/>
          </a:bodyPr>
          <a:lstStyle/>
          <a:p>
            <a:pPr marL="0" lvl="0" indent="0" algn="l" rtl="0">
              <a:lnSpc>
                <a:spcPct val="120000"/>
              </a:lnSpc>
              <a:spcBef>
                <a:spcPts val="1118"/>
              </a:spcBef>
              <a:spcAft>
                <a:spcPts val="0"/>
              </a:spcAft>
              <a:buNone/>
            </a:pPr>
            <a:r>
              <a:rPr lang="en-IN" sz="2900" b="1" dirty="0">
                <a:latin typeface="Bookman Old Style"/>
                <a:ea typeface="Bookman Old Style"/>
                <a:cs typeface="Bookman Old Style"/>
                <a:sym typeface="Bookman Old Style"/>
              </a:rPr>
              <a:t>SDG (</a:t>
            </a:r>
            <a:r>
              <a:rPr lang="en-IN" sz="2700" b="1" dirty="0">
                <a:solidFill>
                  <a:srgbClr val="980000"/>
                </a:solidFill>
                <a:latin typeface="Roboto"/>
                <a:ea typeface="Roboto"/>
                <a:cs typeface="Roboto"/>
                <a:sym typeface="Roboto"/>
              </a:rPr>
              <a:t>Sustainable Development Goals)</a:t>
            </a:r>
            <a:endParaRPr sz="2700" b="1" dirty="0">
              <a:solidFill>
                <a:srgbClr val="980000"/>
              </a:solidFill>
              <a:latin typeface="Roboto"/>
              <a:ea typeface="Roboto"/>
              <a:cs typeface="Roboto"/>
              <a:sym typeface="Roboto"/>
            </a:endParaRPr>
          </a:p>
          <a:p>
            <a:pPr marL="0" lvl="0" indent="0" algn="l" rtl="0">
              <a:lnSpc>
                <a:spcPct val="120000"/>
              </a:lnSpc>
              <a:spcBef>
                <a:spcPts val="1118"/>
              </a:spcBef>
              <a:spcAft>
                <a:spcPts val="0"/>
              </a:spcAft>
              <a:buNone/>
            </a:pPr>
            <a:r>
              <a:rPr lang="en-IN" sz="1800" b="1" dirty="0">
                <a:latin typeface="Bookman Old Style"/>
                <a:ea typeface="Bookman Old Style"/>
                <a:cs typeface="Bookman Old Style"/>
                <a:sym typeface="Bookman Old Style"/>
              </a:rPr>
              <a:t>mapped (as per the metrics provided by Dept.)</a:t>
            </a:r>
            <a:endParaRPr sz="1800" dirty="0"/>
          </a:p>
        </p:txBody>
      </p:sp>
      <p:sp>
        <p:nvSpPr>
          <p:cNvPr id="172" name="Google Shape;172;g3a64a40ef39_2_44"/>
          <p:cNvSpPr txBox="1">
            <a:spLocks noGrp="1"/>
          </p:cNvSpPr>
          <p:nvPr>
            <p:ph type="body" idx="1"/>
          </p:nvPr>
        </p:nvSpPr>
        <p:spPr>
          <a:xfrm>
            <a:off x="457200" y="1752600"/>
            <a:ext cx="7620000" cy="4373700"/>
          </a:xfrm>
          <a:prstGeom prst="rect">
            <a:avLst/>
          </a:prstGeom>
        </p:spPr>
        <p:txBody>
          <a:bodyPr spcFirstLastPara="1" wrap="square" lIns="91425" tIns="45700" rIns="91425" bIns="45700" anchor="t" anchorCtr="0">
            <a:normAutofit lnSpcReduction="10000"/>
          </a:bodyPr>
          <a:lstStyle/>
          <a:p>
            <a:pPr indent="-342900">
              <a:lnSpc>
                <a:spcPct val="115000"/>
              </a:lnSpc>
              <a:spcBef>
                <a:spcPts val="0"/>
              </a:spcBef>
              <a:buFont typeface="Roboto"/>
              <a:buChar char="●"/>
            </a:pPr>
            <a:r>
              <a:rPr lang="en-IN" sz="1800" dirty="0">
                <a:latin typeface="Times New Roman" panose="02020603050405020304" pitchFamily="18" charset="0"/>
                <a:cs typeface="Times New Roman" panose="02020603050405020304" pitchFamily="18" charset="0"/>
              </a:rPr>
              <a:t>SDG 4 – Quality Education</a:t>
            </a:r>
          </a:p>
          <a:p>
            <a:pPr marL="114300" indent="0">
              <a:lnSpc>
                <a:spcPct val="115000"/>
              </a:lnSpc>
              <a:spcBef>
                <a:spcPts val="0"/>
              </a:spcBef>
            </a:pPr>
            <a:r>
              <a:rPr lang="en-IN" sz="1700" b="0" dirty="0">
                <a:latin typeface="Times New Roman" panose="02020603050405020304" pitchFamily="18" charset="0"/>
                <a:cs typeface="Times New Roman" panose="02020603050405020304" pitchFamily="18" charset="0"/>
              </a:rPr>
              <a:t>      </a:t>
            </a:r>
            <a:r>
              <a:rPr lang="en-US" sz="1700" b="0" dirty="0"/>
              <a:t>Protects students and educational platforms from phishing attacks</a:t>
            </a:r>
            <a:endParaRPr lang="en-IN" sz="1700" b="0" dirty="0">
              <a:latin typeface="Times New Roman" panose="02020603050405020304" pitchFamily="18" charset="0"/>
              <a:cs typeface="Times New Roman" panose="02020603050405020304" pitchFamily="18" charset="0"/>
            </a:endParaRPr>
          </a:p>
          <a:p>
            <a:pPr indent="-342900">
              <a:lnSpc>
                <a:spcPct val="115000"/>
              </a:lnSpc>
              <a:spcBef>
                <a:spcPts val="0"/>
              </a:spcBef>
              <a:buFont typeface="Roboto"/>
              <a:buChar char="●"/>
            </a:pPr>
            <a:endParaRPr lang="en-IN" sz="1800" b="0" dirty="0">
              <a:latin typeface="Times New Roman" panose="02020603050405020304" pitchFamily="18" charset="0"/>
              <a:cs typeface="Times New Roman" panose="02020603050405020304" pitchFamily="18" charset="0"/>
            </a:endParaRPr>
          </a:p>
          <a:p>
            <a:pPr indent="-342900">
              <a:lnSpc>
                <a:spcPct val="115000"/>
              </a:lnSpc>
              <a:spcBef>
                <a:spcPts val="0"/>
              </a:spcBef>
              <a:buFont typeface="Roboto"/>
              <a:buChar char="●"/>
            </a:pPr>
            <a:r>
              <a:rPr lang="en-US" sz="1800" dirty="0">
                <a:latin typeface="Times New Roman" panose="02020603050405020304" pitchFamily="18" charset="0"/>
                <a:cs typeface="Times New Roman" panose="02020603050405020304" pitchFamily="18" charset="0"/>
              </a:rPr>
              <a:t>SDG 8 – Decent Work and Economic Growth</a:t>
            </a:r>
          </a:p>
          <a:p>
            <a:pPr marL="114300" indent="0">
              <a:lnSpc>
                <a:spcPct val="115000"/>
              </a:lnSpc>
              <a:spcBef>
                <a:spcPts val="0"/>
              </a:spcBef>
            </a:pPr>
            <a:r>
              <a:rPr lang="en-US" sz="1700" b="0" dirty="0"/>
              <a:t>      Prevents financial losses due to phishing scams</a:t>
            </a:r>
          </a:p>
          <a:p>
            <a:pPr marL="114300" indent="0">
              <a:lnSpc>
                <a:spcPct val="115000"/>
              </a:lnSpc>
              <a:spcBef>
                <a:spcPts val="0"/>
              </a:spcBef>
            </a:pPr>
            <a:endParaRPr lang="en-US" sz="1700" b="0" dirty="0">
              <a:latin typeface="Times New Roman" panose="02020603050405020304" pitchFamily="18" charset="0"/>
              <a:cs typeface="Times New Roman" panose="02020603050405020304" pitchFamily="18" charset="0"/>
            </a:endParaRPr>
          </a:p>
          <a:p>
            <a:pPr lvl="0" indent="-342900">
              <a:lnSpc>
                <a:spcPct val="115000"/>
              </a:lnSpc>
              <a:spcBef>
                <a:spcPts val="0"/>
              </a:spcBef>
              <a:buFont typeface="Roboto"/>
              <a:buChar char="●"/>
            </a:pPr>
            <a:r>
              <a:rPr lang="en-US" sz="1800" dirty="0">
                <a:latin typeface="Times New Roman" panose="02020603050405020304" pitchFamily="18" charset="0"/>
                <a:cs typeface="Times New Roman" panose="02020603050405020304" pitchFamily="18" charset="0"/>
              </a:rPr>
              <a:t>SDG 9 – Industry, Innovation and Infrastructure</a:t>
            </a:r>
          </a:p>
          <a:p>
            <a:pPr marL="114300" lvl="0" indent="0">
              <a:lnSpc>
                <a:spcPct val="115000"/>
              </a:lnSpc>
              <a:spcBef>
                <a:spcPts val="0"/>
              </a:spcBef>
            </a:pPr>
            <a:r>
              <a:rPr lang="en-US" sz="1800" b="0" dirty="0">
                <a:latin typeface="Times New Roman" panose="02020603050405020304" pitchFamily="18" charset="0"/>
                <a:cs typeface="Times New Roman" panose="02020603050405020304" pitchFamily="18" charset="0"/>
              </a:rPr>
              <a:t>       </a:t>
            </a:r>
            <a:r>
              <a:rPr lang="en-US" sz="1700" b="0" dirty="0">
                <a:latin typeface="+mj-lt"/>
                <a:cs typeface="Times New Roman" panose="02020603050405020304" pitchFamily="18" charset="0"/>
              </a:rPr>
              <a:t>Support safe adoption of cloud services, online platforms, and digital </a:t>
            </a:r>
          </a:p>
          <a:p>
            <a:pPr marL="114300" lvl="0" indent="0">
              <a:lnSpc>
                <a:spcPct val="115000"/>
              </a:lnSpc>
              <a:spcBef>
                <a:spcPts val="0"/>
              </a:spcBef>
            </a:pPr>
            <a:r>
              <a:rPr lang="en-US" sz="1700" b="0" dirty="0">
                <a:latin typeface="+mj-lt"/>
                <a:cs typeface="Times New Roman" panose="02020603050405020304" pitchFamily="18" charset="0"/>
              </a:rPr>
              <a:t>      systems</a:t>
            </a:r>
          </a:p>
          <a:p>
            <a:pPr indent="-342900">
              <a:lnSpc>
                <a:spcPct val="115000"/>
              </a:lnSpc>
              <a:spcBef>
                <a:spcPts val="0"/>
              </a:spcBef>
              <a:buFont typeface="Roboto"/>
              <a:buChar char="●"/>
            </a:pPr>
            <a:endParaRPr lang="en-US" sz="1800" dirty="0">
              <a:latin typeface="Times New Roman" panose="02020603050405020304" pitchFamily="18" charset="0"/>
              <a:cs typeface="Times New Roman" panose="02020603050405020304" pitchFamily="18" charset="0"/>
            </a:endParaRPr>
          </a:p>
          <a:p>
            <a:pPr indent="-342900">
              <a:lnSpc>
                <a:spcPct val="115000"/>
              </a:lnSpc>
              <a:spcBef>
                <a:spcPts val="0"/>
              </a:spcBef>
              <a:buFont typeface="Roboto"/>
              <a:buChar char="●"/>
            </a:pPr>
            <a:r>
              <a:rPr lang="en-US" sz="1800" dirty="0">
                <a:latin typeface="Times New Roman" panose="02020603050405020304" pitchFamily="18" charset="0"/>
                <a:cs typeface="Times New Roman" panose="02020603050405020304" pitchFamily="18" charset="0"/>
              </a:rPr>
              <a:t>SDG 11 – Sustainable Cities and Communities</a:t>
            </a:r>
          </a:p>
          <a:p>
            <a:pPr marL="114300" indent="0">
              <a:lnSpc>
                <a:spcPct val="115000"/>
              </a:lnSpc>
              <a:spcBef>
                <a:spcPts val="0"/>
              </a:spcBef>
            </a:pPr>
            <a:r>
              <a:rPr lang="en-US" sz="1700" b="0" dirty="0"/>
              <a:t>     Protects citizens using online public services and QR-based systems</a:t>
            </a:r>
            <a:endParaRPr lang="en-IN" sz="1700" b="0" dirty="0">
              <a:latin typeface="Times New Roman" panose="02020603050405020304" pitchFamily="18" charset="0"/>
              <a:cs typeface="Times New Roman" panose="02020603050405020304" pitchFamily="18" charset="0"/>
            </a:endParaRPr>
          </a:p>
          <a:p>
            <a:pPr lvl="0" indent="-342900">
              <a:lnSpc>
                <a:spcPct val="115000"/>
              </a:lnSpc>
              <a:spcBef>
                <a:spcPts val="0"/>
              </a:spcBef>
              <a:buFont typeface="Roboto"/>
              <a:buChar char="●"/>
            </a:pPr>
            <a:endParaRPr lang="en-US" sz="1800" dirty="0">
              <a:latin typeface="Times New Roman" panose="02020603050405020304" pitchFamily="18" charset="0"/>
              <a:cs typeface="Times New Roman" panose="02020603050405020304" pitchFamily="18" charset="0"/>
            </a:endParaRPr>
          </a:p>
          <a:p>
            <a:pPr lvl="0" indent="-342900">
              <a:lnSpc>
                <a:spcPct val="115000"/>
              </a:lnSpc>
              <a:spcBef>
                <a:spcPts val="0"/>
              </a:spcBef>
              <a:buFont typeface="Roboto"/>
              <a:buChar char="●"/>
            </a:pPr>
            <a:r>
              <a:rPr lang="en-US" sz="1800" dirty="0">
                <a:latin typeface="Times New Roman" panose="02020603050405020304" pitchFamily="18" charset="0"/>
                <a:cs typeface="Times New Roman" panose="02020603050405020304" pitchFamily="18" charset="0"/>
              </a:rPr>
              <a:t>SDG 16 – Peace, Justice and Strong Institutions</a:t>
            </a:r>
          </a:p>
          <a:p>
            <a:pPr marL="114300" lvl="0" indent="0">
              <a:lnSpc>
                <a:spcPct val="115000"/>
              </a:lnSpc>
              <a:spcBef>
                <a:spcPts val="0"/>
              </a:spcBef>
            </a:pPr>
            <a:r>
              <a:rPr lang="en-US" sz="1800" b="0" dirty="0">
                <a:latin typeface="Times New Roman" panose="02020603050405020304" pitchFamily="18" charset="0"/>
                <a:cs typeface="Times New Roman" panose="02020603050405020304" pitchFamily="18" charset="0"/>
              </a:rPr>
              <a:t>      </a:t>
            </a:r>
            <a:r>
              <a:rPr lang="en-IN" sz="1700" b="0" dirty="0"/>
              <a:t>Helps combat cybercrime and digital fraud</a:t>
            </a:r>
            <a:endParaRPr lang="en-US" sz="1700" b="0" dirty="0">
              <a:latin typeface="Times New Roman" panose="02020603050405020304" pitchFamily="18" charset="0"/>
              <a:cs typeface="Times New Roman" panose="02020603050405020304" pitchFamily="18" charset="0"/>
            </a:endParaRPr>
          </a:p>
          <a:p>
            <a:pPr marL="114300" lvl="0" indent="0">
              <a:lnSpc>
                <a:spcPct val="115000"/>
              </a:lnSpc>
              <a:spcBef>
                <a:spcPts val="0"/>
              </a:spcBef>
            </a:pPr>
            <a:endParaRPr sz="1800" b="0" dirty="0">
              <a:latin typeface="Times New Roman" panose="02020603050405020304" pitchFamily="18" charset="0"/>
              <a:ea typeface="Roboto"/>
              <a:cs typeface="Times New Roman" panose="02020603050405020304" pitchFamily="18" charset="0"/>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g3a64a40ef39_2_52"/>
          <p:cNvSpPr txBox="1">
            <a:spLocks noGrp="1"/>
          </p:cNvSpPr>
          <p:nvPr>
            <p:ph type="title"/>
          </p:nvPr>
        </p:nvSpPr>
        <p:spPr>
          <a:xfrm>
            <a:off x="457200" y="152725"/>
            <a:ext cx="6973800" cy="13716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IN" dirty="0"/>
              <a:t>PROJECT MANAGEMENT </a:t>
            </a:r>
            <a:endParaRPr sz="2500" dirty="0"/>
          </a:p>
        </p:txBody>
      </p:sp>
      <p:graphicFrame>
        <p:nvGraphicFramePr>
          <p:cNvPr id="2" name="Table 1">
            <a:extLst>
              <a:ext uri="{FF2B5EF4-FFF2-40B4-BE49-F238E27FC236}">
                <a16:creationId xmlns:a16="http://schemas.microsoft.com/office/drawing/2014/main" id="{20D8BBAA-8306-5B2A-DD80-EA51744D8261}"/>
              </a:ext>
            </a:extLst>
          </p:cNvPr>
          <p:cNvGraphicFramePr>
            <a:graphicFrameLocks noGrp="1"/>
          </p:cNvGraphicFramePr>
          <p:nvPr>
            <p:extLst>
              <p:ext uri="{D42A27DB-BD31-4B8C-83A1-F6EECF244321}">
                <p14:modId xmlns:p14="http://schemas.microsoft.com/office/powerpoint/2010/main" val="80383292"/>
              </p:ext>
            </p:extLst>
          </p:nvPr>
        </p:nvGraphicFramePr>
        <p:xfrm>
          <a:off x="457200" y="1705196"/>
          <a:ext cx="7620000" cy="2162715"/>
        </p:xfrm>
        <a:graphic>
          <a:graphicData uri="http://schemas.openxmlformats.org/drawingml/2006/table">
            <a:tbl>
              <a:tblPr firstRow="1">
                <a:tableStyleId>{3C2FFA5D-87B4-456A-9821-1D502468CF0F}</a:tableStyleId>
              </a:tblPr>
              <a:tblGrid>
                <a:gridCol w="3810000">
                  <a:extLst>
                    <a:ext uri="{9D8B030D-6E8A-4147-A177-3AD203B41FA5}">
                      <a16:colId xmlns:a16="http://schemas.microsoft.com/office/drawing/2014/main" val="876301655"/>
                    </a:ext>
                  </a:extLst>
                </a:gridCol>
                <a:gridCol w="3810000">
                  <a:extLst>
                    <a:ext uri="{9D8B030D-6E8A-4147-A177-3AD203B41FA5}">
                      <a16:colId xmlns:a16="http://schemas.microsoft.com/office/drawing/2014/main" val="2172744811"/>
                    </a:ext>
                  </a:extLst>
                </a:gridCol>
              </a:tblGrid>
              <a:tr h="432543">
                <a:tc>
                  <a:txBody>
                    <a:bodyPr/>
                    <a:lstStyle/>
                    <a:p>
                      <a:pPr>
                        <a:buNone/>
                      </a:pPr>
                      <a:r>
                        <a:rPr lang="en-US" dirty="0"/>
                        <a:t>Member </a:t>
                      </a:r>
                      <a:endParaRPr lang="en-IN" dirty="0"/>
                    </a:p>
                  </a:txBody>
                  <a:tcPr anchor="ctr"/>
                </a:tc>
                <a:tc>
                  <a:txBody>
                    <a:bodyPr/>
                    <a:lstStyle/>
                    <a:p>
                      <a:pPr>
                        <a:buNone/>
                      </a:pPr>
                      <a:r>
                        <a:rPr lang="en-US" dirty="0"/>
                        <a:t>Role</a:t>
                      </a:r>
                      <a:endParaRPr lang="en-IN" dirty="0"/>
                    </a:p>
                  </a:txBody>
                  <a:tcPr anchor="ctr"/>
                </a:tc>
                <a:extLst>
                  <a:ext uri="{0D108BD9-81ED-4DB2-BD59-A6C34878D82A}">
                    <a16:rowId xmlns:a16="http://schemas.microsoft.com/office/drawing/2014/main" val="155763498"/>
                  </a:ext>
                </a:extLst>
              </a:tr>
              <a:tr h="432543">
                <a:tc>
                  <a:txBody>
                    <a:bodyPr/>
                    <a:lstStyle/>
                    <a:p>
                      <a:pPr>
                        <a:buNone/>
                      </a:pPr>
                      <a:r>
                        <a:rPr lang="en-US" dirty="0"/>
                        <a:t>N</a:t>
                      </a:r>
                      <a:r>
                        <a:rPr lang="en-IN" dirty="0" err="1"/>
                        <a:t>ithin</a:t>
                      </a:r>
                      <a:r>
                        <a:rPr lang="en-IN" dirty="0"/>
                        <a:t> Naik R</a:t>
                      </a:r>
                    </a:p>
                  </a:txBody>
                  <a:tcPr anchor="ctr"/>
                </a:tc>
                <a:tc>
                  <a:txBody>
                    <a:bodyPr/>
                    <a:lstStyle/>
                    <a:p>
                      <a:pPr>
                        <a:buNone/>
                      </a:pPr>
                      <a:r>
                        <a:rPr lang="en-IN"/>
                        <a:t>Data Acquisition &amp; Preprocessing</a:t>
                      </a:r>
                    </a:p>
                  </a:txBody>
                  <a:tcPr anchor="ctr"/>
                </a:tc>
                <a:extLst>
                  <a:ext uri="{0D108BD9-81ED-4DB2-BD59-A6C34878D82A}">
                    <a16:rowId xmlns:a16="http://schemas.microsoft.com/office/drawing/2014/main" val="3990319058"/>
                  </a:ext>
                </a:extLst>
              </a:tr>
              <a:tr h="432543">
                <a:tc>
                  <a:txBody>
                    <a:bodyPr/>
                    <a:lstStyle/>
                    <a:p>
                      <a:pPr>
                        <a:buNone/>
                      </a:pPr>
                      <a:r>
                        <a:rPr lang="en-US" dirty="0"/>
                        <a:t>S</a:t>
                      </a:r>
                      <a:r>
                        <a:rPr lang="en-IN" dirty="0"/>
                        <a:t> MD Umar</a:t>
                      </a:r>
                    </a:p>
                  </a:txBody>
                  <a:tcPr anchor="ctr"/>
                </a:tc>
                <a:tc>
                  <a:txBody>
                    <a:bodyPr/>
                    <a:lstStyle/>
                    <a:p>
                      <a:pPr>
                        <a:buNone/>
                      </a:pPr>
                      <a:r>
                        <a:rPr lang="en-IN"/>
                        <a:t>Smishing Detection (AI/ML)</a:t>
                      </a:r>
                    </a:p>
                  </a:txBody>
                  <a:tcPr anchor="ctr"/>
                </a:tc>
                <a:extLst>
                  <a:ext uri="{0D108BD9-81ED-4DB2-BD59-A6C34878D82A}">
                    <a16:rowId xmlns:a16="http://schemas.microsoft.com/office/drawing/2014/main" val="1944378169"/>
                  </a:ext>
                </a:extLst>
              </a:tr>
              <a:tr h="432543">
                <a:tc>
                  <a:txBody>
                    <a:bodyPr/>
                    <a:lstStyle/>
                    <a:p>
                      <a:pPr>
                        <a:buNone/>
                      </a:pPr>
                      <a:r>
                        <a:rPr lang="en-US" dirty="0"/>
                        <a:t>S</a:t>
                      </a:r>
                      <a:r>
                        <a:rPr lang="en-IN" dirty="0"/>
                        <a:t>agar S H</a:t>
                      </a:r>
                    </a:p>
                  </a:txBody>
                  <a:tcPr anchor="ctr"/>
                </a:tc>
                <a:tc>
                  <a:txBody>
                    <a:bodyPr/>
                    <a:lstStyle/>
                    <a:p>
                      <a:pPr>
                        <a:buNone/>
                      </a:pPr>
                      <a:r>
                        <a:rPr lang="en-IN"/>
                        <a:t>Quishing Detection &amp; Cross-Verification</a:t>
                      </a:r>
                    </a:p>
                  </a:txBody>
                  <a:tcPr anchor="ctr"/>
                </a:tc>
                <a:extLst>
                  <a:ext uri="{0D108BD9-81ED-4DB2-BD59-A6C34878D82A}">
                    <a16:rowId xmlns:a16="http://schemas.microsoft.com/office/drawing/2014/main" val="3404812427"/>
                  </a:ext>
                </a:extLst>
              </a:tr>
              <a:tr h="432543">
                <a:tc>
                  <a:txBody>
                    <a:bodyPr/>
                    <a:lstStyle/>
                    <a:p>
                      <a:pPr>
                        <a:buNone/>
                      </a:pPr>
                      <a:r>
                        <a:rPr lang="en-US" dirty="0"/>
                        <a:t>P</a:t>
                      </a:r>
                      <a:r>
                        <a:rPr lang="en-IN" dirty="0" err="1"/>
                        <a:t>rashanth</a:t>
                      </a:r>
                      <a:r>
                        <a:rPr lang="en-IN" dirty="0"/>
                        <a:t> </a:t>
                      </a:r>
                    </a:p>
                  </a:txBody>
                  <a:tcPr anchor="ctr"/>
                </a:tc>
                <a:tc>
                  <a:txBody>
                    <a:bodyPr/>
                    <a:lstStyle/>
                    <a:p>
                      <a:pPr>
                        <a:buNone/>
                      </a:pPr>
                      <a:r>
                        <a:rPr lang="en-IN" dirty="0"/>
                        <a:t>Dashboard, Prevention &amp; Integration</a:t>
                      </a:r>
                    </a:p>
                  </a:txBody>
                  <a:tcPr anchor="ctr"/>
                </a:tc>
                <a:extLst>
                  <a:ext uri="{0D108BD9-81ED-4DB2-BD59-A6C34878D82A}">
                    <a16:rowId xmlns:a16="http://schemas.microsoft.com/office/drawing/2014/main" val="3464060217"/>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3a64a40ef39_2_59"/>
          <p:cNvSpPr txBox="1">
            <a:spLocks noGrp="1"/>
          </p:cNvSpPr>
          <p:nvPr>
            <p:ph type="title"/>
          </p:nvPr>
        </p:nvSpPr>
        <p:spPr>
          <a:xfrm>
            <a:off x="0" y="0"/>
            <a:ext cx="5791200" cy="710502"/>
          </a:xfrm>
          <a:prstGeom prst="rect">
            <a:avLst/>
          </a:prstGeom>
        </p:spPr>
        <p:txBody>
          <a:bodyPr spcFirstLastPara="1" wrap="square" lIns="91425" tIns="45700" rIns="91425" bIns="45700" anchor="b" anchorCtr="0">
            <a:normAutofit fontScale="90000"/>
          </a:bodyPr>
          <a:lstStyle/>
          <a:p>
            <a:pPr marL="0" lvl="0" indent="0" algn="l" rtl="0">
              <a:lnSpc>
                <a:spcPct val="120000"/>
              </a:lnSpc>
              <a:spcBef>
                <a:spcPts val="1118"/>
              </a:spcBef>
              <a:spcAft>
                <a:spcPts val="0"/>
              </a:spcAft>
              <a:buNone/>
            </a:pPr>
            <a:r>
              <a:rPr lang="en-IN" sz="2900" b="1" dirty="0">
                <a:solidFill>
                  <a:schemeClr val="dk1"/>
                </a:solidFill>
                <a:latin typeface="Bookman Old Style"/>
                <a:ea typeface="Bookman Old Style"/>
                <a:cs typeface="Bookman Old Style"/>
                <a:sym typeface="Bookman Old Style"/>
              </a:rPr>
              <a:t>  </a:t>
            </a:r>
            <a:r>
              <a:rPr lang="en-IN" sz="2900" b="1" dirty="0">
                <a:latin typeface="Bookman Old Style"/>
                <a:ea typeface="Bookman Old Style"/>
                <a:cs typeface="Bookman Old Style"/>
                <a:sym typeface="Bookman Old Style"/>
              </a:rPr>
              <a:t>References(IEEE format)</a:t>
            </a:r>
            <a:endParaRPr dirty="0"/>
          </a:p>
        </p:txBody>
      </p:sp>
      <p:sp>
        <p:nvSpPr>
          <p:cNvPr id="186" name="Google Shape;186;g3a64a40ef39_2_59"/>
          <p:cNvSpPr txBox="1">
            <a:spLocks noGrp="1"/>
          </p:cNvSpPr>
          <p:nvPr>
            <p:ph type="body" idx="1"/>
          </p:nvPr>
        </p:nvSpPr>
        <p:spPr>
          <a:xfrm>
            <a:off x="155448" y="539496"/>
            <a:ext cx="8631936" cy="6165786"/>
          </a:xfrm>
          <a:prstGeom prst="rect">
            <a:avLst/>
          </a:prstGeom>
        </p:spPr>
        <p:txBody>
          <a:bodyPr spcFirstLastPara="1" wrap="square" lIns="91425" tIns="45700" rIns="91425" bIns="45700" anchor="t" anchorCtr="0">
            <a:noAutofit/>
          </a:bodyPr>
          <a:lstStyle/>
          <a:p>
            <a:r>
              <a:rPr lang="en-IN" sz="1300" b="0" dirty="0">
                <a:latin typeface="Times New Roman" panose="02020603050405020304" pitchFamily="18" charset="0"/>
                <a:cs typeface="Times New Roman" panose="02020603050405020304" pitchFamily="18" charset="0"/>
              </a:rPr>
              <a:t>[1] </a:t>
            </a:r>
            <a:r>
              <a:rPr lang="en-IN" sz="1300" b="0" dirty="0" err="1">
                <a:latin typeface="Times New Roman" panose="02020603050405020304" pitchFamily="18" charset="0"/>
                <a:cs typeface="Times New Roman" panose="02020603050405020304" pitchFamily="18" charset="0"/>
              </a:rPr>
              <a:t>Gangisetty</a:t>
            </a:r>
            <a:r>
              <a:rPr lang="en-IN" sz="1300" b="0" dirty="0">
                <a:latin typeface="Times New Roman" panose="02020603050405020304" pitchFamily="18" charset="0"/>
                <a:cs typeface="Times New Roman" panose="02020603050405020304" pitchFamily="18" charset="0"/>
              </a:rPr>
              <a:t> Raj Charan, K. Deepa </a:t>
            </a:r>
            <a:r>
              <a:rPr lang="en-IN" sz="1300" b="0" dirty="0" err="1">
                <a:latin typeface="Times New Roman" panose="02020603050405020304" pitchFamily="18" charset="0"/>
                <a:cs typeface="Times New Roman" panose="02020603050405020304" pitchFamily="18" charset="0"/>
              </a:rPr>
              <a:t>Thilak,“Detection</a:t>
            </a:r>
            <a:r>
              <a:rPr lang="en-IN" sz="1300" b="0" dirty="0">
                <a:latin typeface="Times New Roman" panose="02020603050405020304" pitchFamily="18" charset="0"/>
                <a:cs typeface="Times New Roman" panose="02020603050405020304" pitchFamily="18" charset="0"/>
              </a:rPr>
              <a:t> of Phishing Link and QR Code of UPI Transaction using Machine Learning”, </a:t>
            </a:r>
            <a:r>
              <a:rPr lang="en-IN" sz="1300" b="0" i="1" dirty="0">
                <a:latin typeface="Times New Roman" panose="02020603050405020304" pitchFamily="18" charset="0"/>
                <a:cs typeface="Times New Roman" panose="02020603050405020304" pitchFamily="18" charset="0"/>
              </a:rPr>
              <a:t>3rd International Conference on Innovative Mechanisms for Industry Applications (ICIMIA 2023), IEEE</a:t>
            </a:r>
            <a:r>
              <a:rPr lang="en-IN" sz="1300" b="0" dirty="0">
                <a:latin typeface="Times New Roman" panose="02020603050405020304" pitchFamily="18" charset="0"/>
                <a:cs typeface="Times New Roman" panose="02020603050405020304" pitchFamily="18" charset="0"/>
              </a:rPr>
              <a:t>.</a:t>
            </a:r>
          </a:p>
          <a:p>
            <a:r>
              <a:rPr lang="en-IN" sz="1300" b="0" dirty="0">
                <a:latin typeface="Times New Roman" panose="02020603050405020304" pitchFamily="18" charset="0"/>
                <a:cs typeface="Times New Roman" panose="02020603050405020304" pitchFamily="18" charset="0"/>
              </a:rPr>
              <a:t>[2] Muhammad Wahid Akram, Keshav Sood, Muneeb Ul Hassan, Basant </a:t>
            </a:r>
            <a:r>
              <a:rPr lang="en-IN" sz="1300" b="0" dirty="0" err="1">
                <a:latin typeface="Times New Roman" panose="02020603050405020304" pitchFamily="18" charset="0"/>
                <a:cs typeface="Times New Roman" panose="02020603050405020304" pitchFamily="18" charset="0"/>
              </a:rPr>
              <a:t>Subba,“Exemplifying</a:t>
            </a:r>
            <a:r>
              <a:rPr lang="en-IN" sz="1300" b="0" dirty="0">
                <a:latin typeface="Times New Roman" panose="02020603050405020304" pitchFamily="18" charset="0"/>
                <a:cs typeface="Times New Roman" panose="02020603050405020304" pitchFamily="18" charset="0"/>
              </a:rPr>
              <a:t> Emerging Phishing: QR-Based Browser-in-the-Browser (</a:t>
            </a:r>
            <a:r>
              <a:rPr lang="en-IN" sz="1300" b="0" dirty="0" err="1">
                <a:latin typeface="Times New Roman" panose="02020603050405020304" pitchFamily="18" charset="0"/>
                <a:cs typeface="Times New Roman" panose="02020603050405020304" pitchFamily="18" charset="0"/>
              </a:rPr>
              <a:t>BiTB</a:t>
            </a:r>
            <a:r>
              <a:rPr lang="en-IN" sz="1300" b="0" dirty="0">
                <a:latin typeface="Times New Roman" panose="02020603050405020304" pitchFamily="18" charset="0"/>
                <a:cs typeface="Times New Roman" panose="02020603050405020304" pitchFamily="18" charset="0"/>
              </a:rPr>
              <a:t>) Attack”, </a:t>
            </a:r>
            <a:r>
              <a:rPr lang="en-IN" sz="1300" b="0" i="1" dirty="0">
                <a:latin typeface="Times New Roman" panose="02020603050405020304" pitchFamily="18" charset="0"/>
                <a:cs typeface="Times New Roman" panose="02020603050405020304" pitchFamily="18" charset="0"/>
              </a:rPr>
              <a:t>IEEE Networking Letters, Vol. 7, No. 4, 2025</a:t>
            </a:r>
            <a:r>
              <a:rPr lang="en-IN" sz="1300" b="0" dirty="0">
                <a:latin typeface="Times New Roman" panose="02020603050405020304" pitchFamily="18" charset="0"/>
                <a:cs typeface="Times New Roman" panose="02020603050405020304" pitchFamily="18" charset="0"/>
              </a:rPr>
              <a:t>.</a:t>
            </a:r>
          </a:p>
          <a:p>
            <a:r>
              <a:rPr lang="en-IN" sz="1300" b="0" dirty="0">
                <a:latin typeface="Times New Roman" panose="02020603050405020304" pitchFamily="18" charset="0"/>
                <a:cs typeface="Times New Roman" panose="02020603050405020304" pitchFamily="18" charset="0"/>
              </a:rPr>
              <a:t>[3] Aleksandr </a:t>
            </a:r>
            <a:r>
              <a:rPr lang="en-IN" sz="1300" b="0" dirty="0" err="1">
                <a:latin typeface="Times New Roman" panose="02020603050405020304" pitchFamily="18" charset="0"/>
                <a:cs typeface="Times New Roman" panose="02020603050405020304" pitchFamily="18" charset="0"/>
              </a:rPr>
              <a:t>Nahapetyan</a:t>
            </a:r>
            <a:r>
              <a:rPr lang="en-IN" sz="1300" b="0" dirty="0">
                <a:latin typeface="Times New Roman" panose="02020603050405020304" pitchFamily="18" charset="0"/>
                <a:cs typeface="Times New Roman" panose="02020603050405020304" pitchFamily="18" charset="0"/>
              </a:rPr>
              <a:t>, Sathvik Prasad, Kevin Childs, Adam Oest, Yeganeh Ladwig, Alexandros </a:t>
            </a:r>
            <a:r>
              <a:rPr lang="en-IN" sz="1300" b="0" dirty="0" err="1">
                <a:latin typeface="Times New Roman" panose="02020603050405020304" pitchFamily="18" charset="0"/>
                <a:cs typeface="Times New Roman" panose="02020603050405020304" pitchFamily="18" charset="0"/>
              </a:rPr>
              <a:t>Kapravelos</a:t>
            </a:r>
            <a:r>
              <a:rPr lang="en-IN" sz="1300" b="0" dirty="0">
                <a:latin typeface="Times New Roman" panose="02020603050405020304" pitchFamily="18" charset="0"/>
                <a:cs typeface="Times New Roman" panose="02020603050405020304" pitchFamily="18" charset="0"/>
              </a:rPr>
              <a:t>, Bradley </a:t>
            </a:r>
            <a:r>
              <a:rPr lang="en-IN" sz="1300" b="0" dirty="0" err="1">
                <a:latin typeface="Times New Roman" panose="02020603050405020304" pitchFamily="18" charset="0"/>
                <a:cs typeface="Times New Roman" panose="02020603050405020304" pitchFamily="18" charset="0"/>
              </a:rPr>
              <a:t>Reaves,“On</a:t>
            </a:r>
            <a:r>
              <a:rPr lang="en-IN" sz="1300" b="0" dirty="0">
                <a:latin typeface="Times New Roman" panose="02020603050405020304" pitchFamily="18" charset="0"/>
                <a:cs typeface="Times New Roman" panose="02020603050405020304" pitchFamily="18" charset="0"/>
              </a:rPr>
              <a:t> SMS Phishing Tactics and Infrastructure”, </a:t>
            </a:r>
            <a:r>
              <a:rPr lang="en-IN" sz="1300" b="0" i="1" dirty="0">
                <a:latin typeface="Times New Roman" panose="02020603050405020304" pitchFamily="18" charset="0"/>
                <a:cs typeface="Times New Roman" panose="02020603050405020304" pitchFamily="18" charset="0"/>
              </a:rPr>
              <a:t>IEEE Symposium on Security and Privacy (SP 2024)</a:t>
            </a:r>
            <a:r>
              <a:rPr lang="en-IN" sz="1300" b="0" dirty="0">
                <a:latin typeface="Times New Roman" panose="02020603050405020304" pitchFamily="18" charset="0"/>
                <a:cs typeface="Times New Roman" panose="02020603050405020304" pitchFamily="18" charset="0"/>
              </a:rPr>
              <a:t>.</a:t>
            </a:r>
          </a:p>
          <a:p>
            <a:r>
              <a:rPr lang="en-IN" sz="1300" b="0" dirty="0">
                <a:latin typeface="Times New Roman" panose="02020603050405020304" pitchFamily="18" charset="0"/>
                <a:cs typeface="Times New Roman" panose="02020603050405020304" pitchFamily="18" charset="0"/>
              </a:rPr>
              <a:t>[4] Zeynep </a:t>
            </a:r>
            <a:r>
              <a:rPr lang="en-IN" sz="1300" b="0" dirty="0" err="1">
                <a:latin typeface="Times New Roman" panose="02020603050405020304" pitchFamily="18" charset="0"/>
                <a:cs typeface="Times New Roman" panose="02020603050405020304" pitchFamily="18" charset="0"/>
              </a:rPr>
              <a:t>Aslanpençesi</a:t>
            </a:r>
            <a:r>
              <a:rPr lang="en-IN" sz="1300" b="0" dirty="0">
                <a:latin typeface="Times New Roman" panose="02020603050405020304" pitchFamily="18" charset="0"/>
                <a:cs typeface="Times New Roman" panose="02020603050405020304" pitchFamily="18" charset="0"/>
              </a:rPr>
              <a:t>, Muhammet Baykara, Talha Burak </a:t>
            </a:r>
            <a:r>
              <a:rPr lang="en-IN" sz="1300" b="0" dirty="0" err="1">
                <a:latin typeface="Times New Roman" panose="02020603050405020304" pitchFamily="18" charset="0"/>
                <a:cs typeface="Times New Roman" panose="02020603050405020304" pitchFamily="18" charset="0"/>
              </a:rPr>
              <a:t>Alakuş</a:t>
            </a:r>
            <a:r>
              <a:rPr lang="en-IN" sz="1300" b="0" dirty="0">
                <a:latin typeface="Times New Roman" panose="02020603050405020304" pitchFamily="18" charset="0"/>
                <a:cs typeface="Times New Roman" panose="02020603050405020304" pitchFamily="18" charset="0"/>
              </a:rPr>
              <a:t>,“SMS Phishing Detection with Hybrid CNN-GRU”, </a:t>
            </a:r>
            <a:r>
              <a:rPr lang="en-IN" sz="1300" b="0" i="1" dirty="0">
                <a:latin typeface="Times New Roman" panose="02020603050405020304" pitchFamily="18" charset="0"/>
                <a:cs typeface="Times New Roman" panose="02020603050405020304" pitchFamily="18" charset="0"/>
              </a:rPr>
              <a:t>7th World Symposium on Communication Engineering (WSCE 2024)</a:t>
            </a:r>
            <a:r>
              <a:rPr lang="en-IN" sz="1300" b="0" dirty="0">
                <a:latin typeface="Times New Roman" panose="02020603050405020304" pitchFamily="18" charset="0"/>
                <a:cs typeface="Times New Roman" panose="02020603050405020304" pitchFamily="18" charset="0"/>
              </a:rPr>
              <a:t>.</a:t>
            </a:r>
          </a:p>
          <a:p>
            <a:r>
              <a:rPr lang="en-IN" sz="1300" b="0" dirty="0">
                <a:latin typeface="Times New Roman" panose="02020603050405020304" pitchFamily="18" charset="0"/>
                <a:cs typeface="Times New Roman" panose="02020603050405020304" pitchFamily="18" charset="0"/>
              </a:rPr>
              <a:t>[5] Samadhan M. </a:t>
            </a:r>
            <a:r>
              <a:rPr lang="en-IN" sz="1300" b="0" dirty="0" err="1">
                <a:latin typeface="Times New Roman" panose="02020603050405020304" pitchFamily="18" charset="0"/>
                <a:cs typeface="Times New Roman" panose="02020603050405020304" pitchFamily="18" charset="0"/>
              </a:rPr>
              <a:t>Nagare</a:t>
            </a:r>
            <a:r>
              <a:rPr lang="en-IN" sz="1300" b="0" dirty="0">
                <a:latin typeface="Times New Roman" panose="02020603050405020304" pitchFamily="18" charset="0"/>
                <a:cs typeface="Times New Roman" panose="02020603050405020304" pitchFamily="18" charset="0"/>
              </a:rPr>
              <a:t>, Pratibha P. Dapke, Syed </a:t>
            </a:r>
            <a:r>
              <a:rPr lang="en-IN" sz="1300" b="0" dirty="0" err="1">
                <a:latin typeface="Times New Roman" panose="02020603050405020304" pitchFamily="18" charset="0"/>
                <a:cs typeface="Times New Roman" panose="02020603050405020304" pitchFamily="18" charset="0"/>
              </a:rPr>
              <a:t>Ahteshamuddin</a:t>
            </a:r>
            <a:r>
              <a:rPr lang="en-IN" sz="1300" b="0" dirty="0">
                <a:latin typeface="Times New Roman" panose="02020603050405020304" pitchFamily="18" charset="0"/>
                <a:cs typeface="Times New Roman" panose="02020603050405020304" pitchFamily="18" charset="0"/>
              </a:rPr>
              <a:t> Quadri, Sagar B. </a:t>
            </a:r>
            <a:r>
              <a:rPr lang="en-IN" sz="1300" b="0" dirty="0" err="1">
                <a:latin typeface="Times New Roman" panose="02020603050405020304" pitchFamily="18" charset="0"/>
                <a:cs typeface="Times New Roman" panose="02020603050405020304" pitchFamily="18" charset="0"/>
              </a:rPr>
              <a:t>Bandal</a:t>
            </a:r>
            <a:r>
              <a:rPr lang="en-IN" sz="1300" b="0" dirty="0">
                <a:latin typeface="Times New Roman" panose="02020603050405020304" pitchFamily="18" charset="0"/>
                <a:cs typeface="Times New Roman" panose="02020603050405020304" pitchFamily="18" charset="0"/>
              </a:rPr>
              <a:t>, Manasi R. </a:t>
            </a:r>
            <a:r>
              <a:rPr lang="en-IN" sz="1300" b="0" dirty="0" err="1">
                <a:latin typeface="Times New Roman" panose="02020603050405020304" pitchFamily="18" charset="0"/>
                <a:cs typeface="Times New Roman" panose="02020603050405020304" pitchFamily="18" charset="0"/>
              </a:rPr>
              <a:t>Baheti</a:t>
            </a:r>
            <a:r>
              <a:rPr lang="en-IN" sz="1300" b="0" dirty="0">
                <a:latin typeface="Times New Roman" panose="02020603050405020304" pitchFamily="18" charset="0"/>
                <a:cs typeface="Times New Roman" panose="02020603050405020304" pitchFamily="18" charset="0"/>
              </a:rPr>
              <a:t>,</a:t>
            </a:r>
            <a:br>
              <a:rPr lang="en-IN" sz="1300" b="0" dirty="0">
                <a:latin typeface="Times New Roman" panose="02020603050405020304" pitchFamily="18" charset="0"/>
                <a:cs typeface="Times New Roman" panose="02020603050405020304" pitchFamily="18" charset="0"/>
              </a:rPr>
            </a:br>
            <a:r>
              <a:rPr lang="en-IN" sz="1300" b="0" dirty="0">
                <a:latin typeface="Times New Roman" panose="02020603050405020304" pitchFamily="18" charset="0"/>
                <a:cs typeface="Times New Roman" panose="02020603050405020304" pitchFamily="18" charset="0"/>
              </a:rPr>
              <a:t>“Short Message Service (SMS) Mobile Spam Detection using Naïve Bayes”, </a:t>
            </a:r>
            <a:r>
              <a:rPr lang="en-IN" sz="1300" b="0" i="1" dirty="0">
                <a:latin typeface="Times New Roman" panose="02020603050405020304" pitchFamily="18" charset="0"/>
                <a:cs typeface="Times New Roman" panose="02020603050405020304" pitchFamily="18" charset="0"/>
              </a:rPr>
              <a:t>5th International Conference on Mobile Computing and Sustainable Informatics (ICMCSI 2024)</a:t>
            </a:r>
            <a:r>
              <a:rPr lang="en-IN" sz="1300" b="0" dirty="0">
                <a:latin typeface="Times New Roman" panose="02020603050405020304" pitchFamily="18" charset="0"/>
                <a:cs typeface="Times New Roman" panose="02020603050405020304" pitchFamily="18" charset="0"/>
              </a:rPr>
              <a:t>.</a:t>
            </a:r>
          </a:p>
          <a:p>
            <a:r>
              <a:rPr lang="en-IN" sz="1300" b="0" dirty="0">
                <a:latin typeface="Times New Roman" panose="02020603050405020304" pitchFamily="18" charset="0"/>
                <a:cs typeface="Times New Roman" panose="02020603050405020304" pitchFamily="18" charset="0"/>
              </a:rPr>
              <a:t>[6] </a:t>
            </a:r>
            <a:r>
              <a:rPr lang="en-IN" sz="1300" b="0" dirty="0" err="1">
                <a:latin typeface="Times New Roman" panose="02020603050405020304" pitchFamily="18" charset="0"/>
                <a:cs typeface="Times New Roman" panose="02020603050405020304" pitchFamily="18" charset="0"/>
              </a:rPr>
              <a:t>Swarangi</a:t>
            </a:r>
            <a:r>
              <a:rPr lang="en-IN" sz="1300" b="0" dirty="0">
                <a:latin typeface="Times New Roman" panose="02020603050405020304" pitchFamily="18" charset="0"/>
                <a:cs typeface="Times New Roman" panose="02020603050405020304" pitchFamily="18" charset="0"/>
              </a:rPr>
              <a:t> Uplenchwar, Shilpa Deshpande, Varsha Sawant, Supriya Kelkar, Prajakta </a:t>
            </a:r>
            <a:r>
              <a:rPr lang="en-IN" sz="1300" b="0" dirty="0" err="1">
                <a:latin typeface="Times New Roman" panose="02020603050405020304" pitchFamily="18" charset="0"/>
                <a:cs typeface="Times New Roman" panose="02020603050405020304" pitchFamily="18" charset="0"/>
              </a:rPr>
              <a:t>Surve,“Phishing</a:t>
            </a:r>
            <a:r>
              <a:rPr lang="en-IN" sz="1300" b="0" dirty="0">
                <a:latin typeface="Times New Roman" panose="02020603050405020304" pitchFamily="18" charset="0"/>
                <a:cs typeface="Times New Roman" panose="02020603050405020304" pitchFamily="18" charset="0"/>
              </a:rPr>
              <a:t> Attack Detection on Text Messages Using Machine Learning Techniques”, </a:t>
            </a:r>
            <a:r>
              <a:rPr lang="en-IN" sz="1300" b="0" i="1" dirty="0">
                <a:latin typeface="Times New Roman" panose="02020603050405020304" pitchFamily="18" charset="0"/>
                <a:cs typeface="Times New Roman" panose="02020603050405020304" pitchFamily="18" charset="0"/>
              </a:rPr>
              <a:t>IEEE Pune Section International Conference (</a:t>
            </a:r>
            <a:r>
              <a:rPr lang="en-IN" sz="1300" b="0" i="1" dirty="0" err="1">
                <a:latin typeface="Times New Roman" panose="02020603050405020304" pitchFamily="18" charset="0"/>
                <a:cs typeface="Times New Roman" panose="02020603050405020304" pitchFamily="18" charset="0"/>
              </a:rPr>
              <a:t>PuneCon</a:t>
            </a:r>
            <a:r>
              <a:rPr lang="en-IN" sz="1300" b="0" i="1" dirty="0">
                <a:latin typeface="Times New Roman" panose="02020603050405020304" pitchFamily="18" charset="0"/>
                <a:cs typeface="Times New Roman" panose="02020603050405020304" pitchFamily="18" charset="0"/>
              </a:rPr>
              <a:t> 2022)</a:t>
            </a:r>
            <a:r>
              <a:rPr lang="en-IN" sz="1300" b="0" dirty="0">
                <a:latin typeface="Times New Roman" panose="02020603050405020304" pitchFamily="18" charset="0"/>
                <a:cs typeface="Times New Roman" panose="02020603050405020304" pitchFamily="18" charset="0"/>
              </a:rPr>
              <a:t>.</a:t>
            </a:r>
          </a:p>
          <a:p>
            <a:r>
              <a:rPr lang="en-IN" sz="1300" b="0" dirty="0">
                <a:latin typeface="Times New Roman" panose="02020603050405020304" pitchFamily="18" charset="0"/>
                <a:cs typeface="Times New Roman" panose="02020603050405020304" pitchFamily="18" charset="0"/>
              </a:rPr>
              <a:t>[7] Akshat Gaurav, Brij B. Gupta, Kwok Tai </a:t>
            </a:r>
            <a:r>
              <a:rPr lang="en-IN" sz="1300" b="0" dirty="0" err="1">
                <a:latin typeface="Times New Roman" panose="02020603050405020304" pitchFamily="18" charset="0"/>
                <a:cs typeface="Times New Roman" panose="02020603050405020304" pitchFamily="18" charset="0"/>
              </a:rPr>
              <a:t>Chui,“AI</a:t>
            </a:r>
            <a:r>
              <a:rPr lang="en-IN" sz="1300" b="0" dirty="0">
                <a:latin typeface="Times New Roman" panose="02020603050405020304" pitchFamily="18" charset="0"/>
                <a:cs typeface="Times New Roman" panose="02020603050405020304" pitchFamily="18" charset="0"/>
              </a:rPr>
              <a:t>-Driven Smishing Detection in Android Devices Using </a:t>
            </a:r>
            <a:r>
              <a:rPr lang="en-IN" sz="1300" b="0" dirty="0" err="1">
                <a:latin typeface="Times New Roman" panose="02020603050405020304" pitchFamily="18" charset="0"/>
                <a:cs typeface="Times New Roman" panose="02020603050405020304" pitchFamily="18" charset="0"/>
              </a:rPr>
              <a:t>TinyBERT</a:t>
            </a:r>
            <a:r>
              <a:rPr lang="en-IN" sz="1300" b="0" dirty="0">
                <a:latin typeface="Times New Roman" panose="02020603050405020304" pitchFamily="18" charset="0"/>
                <a:cs typeface="Times New Roman" panose="02020603050405020304" pitchFamily="18" charset="0"/>
              </a:rPr>
              <a:t> and Aquila Optimization”, </a:t>
            </a:r>
            <a:r>
              <a:rPr lang="en-IN" sz="1300" b="0" i="1" dirty="0">
                <a:latin typeface="Times New Roman" panose="02020603050405020304" pitchFamily="18" charset="0"/>
                <a:cs typeface="Times New Roman" panose="02020603050405020304" pitchFamily="18" charset="0"/>
              </a:rPr>
              <a:t>27th International Conference on Advanced Communications Technology (ICACT 2025)</a:t>
            </a:r>
            <a:r>
              <a:rPr lang="en-IN" sz="1300" b="0" dirty="0">
                <a:latin typeface="Times New Roman" panose="02020603050405020304" pitchFamily="18" charset="0"/>
                <a:cs typeface="Times New Roman" panose="02020603050405020304" pitchFamily="18" charset="0"/>
              </a:rPr>
              <a:t>.</a:t>
            </a:r>
          </a:p>
          <a:p>
            <a:r>
              <a:rPr lang="en-IN" sz="1300" b="0" dirty="0">
                <a:latin typeface="Times New Roman" panose="02020603050405020304" pitchFamily="18" charset="0"/>
                <a:cs typeface="Times New Roman" panose="02020603050405020304" pitchFamily="18" charset="0"/>
              </a:rPr>
              <a:t>[8] Saleem Raja Abdul Samad, </a:t>
            </a:r>
            <a:r>
              <a:rPr lang="en-IN" sz="1300" b="0" dirty="0" err="1">
                <a:latin typeface="Times New Roman" panose="02020603050405020304" pitchFamily="18" charset="0"/>
                <a:cs typeface="Times New Roman" panose="02020603050405020304" pitchFamily="18" charset="0"/>
              </a:rPr>
              <a:t>Sundaravadivazhagan</a:t>
            </a:r>
            <a:r>
              <a:rPr lang="en-IN" sz="1300" b="0" dirty="0">
                <a:latin typeface="Times New Roman" panose="02020603050405020304" pitchFamily="18" charset="0"/>
                <a:cs typeface="Times New Roman" panose="02020603050405020304" pitchFamily="18" charset="0"/>
              </a:rPr>
              <a:t> Balasubramaniyan, Pradeepa Ganesan, Saranya </a:t>
            </a:r>
            <a:r>
              <a:rPr lang="en-IN" sz="1300" b="0" dirty="0" err="1">
                <a:latin typeface="Times New Roman" panose="02020603050405020304" pitchFamily="18" charset="0"/>
                <a:cs typeface="Times New Roman" panose="02020603050405020304" pitchFamily="18" charset="0"/>
              </a:rPr>
              <a:t>Rajiakodi</a:t>
            </a:r>
            <a:r>
              <a:rPr lang="en-IN" sz="1300" b="0" dirty="0">
                <a:latin typeface="Times New Roman" panose="02020603050405020304" pitchFamily="18" charset="0"/>
                <a:cs typeface="Times New Roman" panose="02020603050405020304" pitchFamily="18" charset="0"/>
              </a:rPr>
              <a:t>, </a:t>
            </a:r>
            <a:r>
              <a:rPr lang="en-IN" sz="1300" b="0" dirty="0" err="1">
                <a:latin typeface="Times New Roman" panose="02020603050405020304" pitchFamily="18" charset="0"/>
                <a:cs typeface="Times New Roman" panose="02020603050405020304" pitchFamily="18" charset="0"/>
              </a:rPr>
              <a:t>ThangamS</a:t>
            </a:r>
            <a:r>
              <a:rPr lang="en-IN" sz="1300" b="0" dirty="0">
                <a:latin typeface="Times New Roman" panose="02020603050405020304" pitchFamily="18" charset="0"/>
                <a:cs typeface="Times New Roman" panose="02020603050405020304" pitchFamily="18" charset="0"/>
              </a:rPr>
              <a:t>, Amna Salim Rashid Al </a:t>
            </a:r>
            <a:r>
              <a:rPr lang="en-IN" sz="1300" b="0" dirty="0" err="1">
                <a:latin typeface="Times New Roman" panose="02020603050405020304" pitchFamily="18" charset="0"/>
                <a:cs typeface="Times New Roman" panose="02020603050405020304" pitchFamily="18" charset="0"/>
              </a:rPr>
              <a:t>Kaabi</a:t>
            </a:r>
            <a:r>
              <a:rPr lang="en-IN" sz="1300" b="0" dirty="0">
                <a:latin typeface="Times New Roman" panose="02020603050405020304" pitchFamily="18" charset="0"/>
                <a:cs typeface="Times New Roman" panose="02020603050405020304" pitchFamily="18" charset="0"/>
              </a:rPr>
              <a:t>,“SMS-Shield: A Lightweight Approach for Smishing Detection using Machine Learning”, </a:t>
            </a:r>
            <a:r>
              <a:rPr lang="en-IN" sz="1300" b="0" i="1" dirty="0">
                <a:latin typeface="Times New Roman" panose="02020603050405020304" pitchFamily="18" charset="0"/>
                <a:cs typeface="Times New Roman" panose="02020603050405020304" pitchFamily="18" charset="0"/>
              </a:rPr>
              <a:t>1st International Conference on Innovative Engineering Sciences and Technological Research (ICIESTR 2024)</a:t>
            </a:r>
            <a:r>
              <a:rPr lang="en-IN" sz="1300" b="0" dirty="0">
                <a:latin typeface="Times New Roman" panose="02020603050405020304" pitchFamily="18" charset="0"/>
                <a:cs typeface="Times New Roman" panose="02020603050405020304" pitchFamily="18" charset="0"/>
              </a:rPr>
              <a:t>.</a:t>
            </a:r>
          </a:p>
          <a:p>
            <a:r>
              <a:rPr lang="en-IN" sz="1300" b="0" dirty="0">
                <a:latin typeface="Times New Roman" panose="02020603050405020304" pitchFamily="18" charset="0"/>
                <a:cs typeface="Times New Roman" panose="02020603050405020304" pitchFamily="18" charset="0"/>
              </a:rPr>
              <a:t>[9] Md. Anwar </a:t>
            </a:r>
            <a:r>
              <a:rPr lang="en-IN" sz="1300" b="0" dirty="0" err="1">
                <a:latin typeface="Times New Roman" panose="02020603050405020304" pitchFamily="18" charset="0"/>
                <a:cs typeface="Times New Roman" panose="02020603050405020304" pitchFamily="18" charset="0"/>
              </a:rPr>
              <a:t>Hussain,“Intuitionistic</a:t>
            </a:r>
            <a:r>
              <a:rPr lang="en-IN" sz="1300" b="0" dirty="0">
                <a:latin typeface="Times New Roman" panose="02020603050405020304" pitchFamily="18" charset="0"/>
                <a:cs typeface="Times New Roman" panose="02020603050405020304" pitchFamily="18" charset="0"/>
              </a:rPr>
              <a:t> Fuzzy Logic Based Decision Tree for E-Transactional Fraud Detection”, </a:t>
            </a:r>
            <a:r>
              <a:rPr lang="en-IN" sz="1300" b="0" i="1" dirty="0">
                <a:latin typeface="Times New Roman" panose="02020603050405020304" pitchFamily="18" charset="0"/>
                <a:cs typeface="Times New Roman" panose="02020603050405020304" pitchFamily="18" charset="0"/>
              </a:rPr>
              <a:t>IEEE Conference, 2020</a:t>
            </a:r>
            <a:r>
              <a:rPr lang="en-IN" sz="1300" b="0" dirty="0">
                <a:latin typeface="Times New Roman" panose="02020603050405020304" pitchFamily="18" charset="0"/>
                <a:cs typeface="Times New Roman" panose="02020603050405020304" pitchFamily="18" charset="0"/>
              </a:rPr>
              <a:t>.</a:t>
            </a:r>
          </a:p>
          <a:p>
            <a:r>
              <a:rPr lang="en-IN" sz="1300" b="0" dirty="0">
                <a:latin typeface="Times New Roman" panose="02020603050405020304" pitchFamily="18" charset="0"/>
                <a:cs typeface="Times New Roman" panose="02020603050405020304" pitchFamily="18" charset="0"/>
              </a:rPr>
              <a:t>[10] </a:t>
            </a:r>
            <a:r>
              <a:rPr lang="en-IN" sz="1300" b="0" dirty="0" err="1">
                <a:latin typeface="Times New Roman" panose="02020603050405020304" pitchFamily="18" charset="0"/>
                <a:cs typeface="Times New Roman" panose="02020603050405020304" pitchFamily="18" charset="0"/>
              </a:rPr>
              <a:t>Xuting</a:t>
            </a:r>
            <a:r>
              <a:rPr lang="en-IN" sz="1300" b="0" dirty="0">
                <a:latin typeface="Times New Roman" panose="02020603050405020304" pitchFamily="18" charset="0"/>
                <a:cs typeface="Times New Roman" panose="02020603050405020304" pitchFamily="18" charset="0"/>
              </a:rPr>
              <a:t> </a:t>
            </a:r>
            <a:r>
              <a:rPr lang="en-IN" sz="1300" b="0" dirty="0" err="1">
                <a:latin typeface="Times New Roman" panose="02020603050405020304" pitchFamily="18" charset="0"/>
                <a:cs typeface="Times New Roman" panose="02020603050405020304" pitchFamily="18" charset="0"/>
              </a:rPr>
              <a:t>Mao,“Financial</a:t>
            </a:r>
            <a:r>
              <a:rPr lang="en-IN" sz="1300" b="0" dirty="0">
                <a:latin typeface="Times New Roman" panose="02020603050405020304" pitchFamily="18" charset="0"/>
                <a:cs typeface="Times New Roman" panose="02020603050405020304" pitchFamily="18" charset="0"/>
              </a:rPr>
              <a:t> Fraud Detection using Related-Party Transaction Knowledge Graph”, </a:t>
            </a:r>
            <a:r>
              <a:rPr lang="en-IN" sz="1300" b="0" i="1" dirty="0">
                <a:latin typeface="Times New Roman" panose="02020603050405020304" pitchFamily="18" charset="0"/>
                <a:cs typeface="Times New Roman" panose="02020603050405020304" pitchFamily="18" charset="0"/>
              </a:rPr>
              <a:t>IEEE Conference, 2021</a:t>
            </a:r>
            <a:r>
              <a:rPr lang="en-IN" sz="1300" b="0" dirty="0">
                <a:latin typeface="Times New Roman" panose="02020603050405020304" pitchFamily="18" charset="0"/>
                <a:cs typeface="Times New Roman" panose="02020603050405020304" pitchFamily="18" charset="0"/>
              </a:rPr>
              <a:t>.</a:t>
            </a:r>
          </a:p>
          <a:p>
            <a:r>
              <a:rPr lang="en-IN" sz="1300" b="0" dirty="0">
                <a:latin typeface="Times New Roman" panose="02020603050405020304" pitchFamily="18" charset="0"/>
                <a:cs typeface="Times New Roman" panose="02020603050405020304" pitchFamily="18" charset="0"/>
              </a:rPr>
              <a:t>[11] </a:t>
            </a:r>
            <a:r>
              <a:rPr lang="en-IN" sz="1300" b="0" dirty="0" err="1">
                <a:latin typeface="Times New Roman" panose="02020603050405020304" pitchFamily="18" charset="0"/>
                <a:cs typeface="Times New Roman" panose="02020603050405020304" pitchFamily="18" charset="0"/>
              </a:rPr>
              <a:t>Chenglong</a:t>
            </a:r>
            <a:r>
              <a:rPr lang="en-IN" sz="1300" b="0" dirty="0">
                <a:latin typeface="Times New Roman" panose="02020603050405020304" pitchFamily="18" charset="0"/>
                <a:cs typeface="Times New Roman" panose="02020603050405020304" pitchFamily="18" charset="0"/>
              </a:rPr>
              <a:t> </a:t>
            </a:r>
            <a:r>
              <a:rPr lang="en-IN" sz="1300" b="0" dirty="0" err="1">
                <a:latin typeface="Times New Roman" panose="02020603050405020304" pitchFamily="18" charset="0"/>
                <a:cs typeface="Times New Roman" panose="02020603050405020304" pitchFamily="18" charset="0"/>
              </a:rPr>
              <a:t>Zhang,“Uncertainty</a:t>
            </a:r>
            <a:r>
              <a:rPr lang="en-IN" sz="1300" b="0" dirty="0">
                <a:latin typeface="Times New Roman" panose="02020603050405020304" pitchFamily="18" charset="0"/>
                <a:cs typeface="Times New Roman" panose="02020603050405020304" pitchFamily="18" charset="0"/>
              </a:rPr>
              <a:t>-Aware Credit Card Fraud Detection using Deep Learning”, </a:t>
            </a:r>
            <a:r>
              <a:rPr lang="en-IN" sz="1300" b="0" i="1" dirty="0">
                <a:latin typeface="Times New Roman" panose="02020603050405020304" pitchFamily="18" charset="0"/>
                <a:cs typeface="Times New Roman" panose="02020603050405020304" pitchFamily="18" charset="0"/>
              </a:rPr>
              <a:t>IEEE Conference, 2021</a:t>
            </a:r>
            <a:r>
              <a:rPr lang="en-IN" sz="1300" b="0" dirty="0">
                <a:latin typeface="Times New Roman" panose="02020603050405020304" pitchFamily="18" charset="0"/>
                <a:cs typeface="Times New Roman" panose="02020603050405020304" pitchFamily="18" charset="0"/>
              </a:rPr>
              <a:t>.</a:t>
            </a:r>
          </a:p>
          <a:p>
            <a:r>
              <a:rPr lang="en-IN" sz="1300" b="0" dirty="0">
                <a:latin typeface="Times New Roman" panose="02020603050405020304" pitchFamily="18" charset="0"/>
                <a:cs typeface="Times New Roman" panose="02020603050405020304" pitchFamily="18" charset="0"/>
              </a:rPr>
              <a:t>[12] Vinicius </a:t>
            </a:r>
            <a:r>
              <a:rPr lang="en-IN" sz="1300" b="0" dirty="0" err="1">
                <a:latin typeface="Times New Roman" panose="02020603050405020304" pitchFamily="18" charset="0"/>
                <a:cs typeface="Times New Roman" panose="02020603050405020304" pitchFamily="18" charset="0"/>
              </a:rPr>
              <a:t>Facco</a:t>
            </a:r>
            <a:r>
              <a:rPr lang="en-IN" sz="1300" b="0" dirty="0">
                <a:latin typeface="Times New Roman" panose="02020603050405020304" pitchFamily="18" charset="0"/>
                <a:cs typeface="Times New Roman" panose="02020603050405020304" pitchFamily="18" charset="0"/>
              </a:rPr>
              <a:t> </a:t>
            </a:r>
            <a:r>
              <a:rPr lang="en-IN" sz="1300" b="0" dirty="0" err="1">
                <a:latin typeface="Times New Roman" panose="02020603050405020304" pitchFamily="18" charset="0"/>
                <a:cs typeface="Times New Roman" panose="02020603050405020304" pitchFamily="18" charset="0"/>
              </a:rPr>
              <a:t>Rodrigues,“Fraud</a:t>
            </a:r>
            <a:r>
              <a:rPr lang="en-IN" sz="1300" b="0" dirty="0">
                <a:latin typeface="Times New Roman" panose="02020603050405020304" pitchFamily="18" charset="0"/>
                <a:cs typeface="Times New Roman" panose="02020603050405020304" pitchFamily="18" charset="0"/>
              </a:rPr>
              <a:t> Detection and Prevention in E-Commerce using Machine Learning Techniques”, </a:t>
            </a:r>
            <a:r>
              <a:rPr lang="en-IN" sz="1300" b="0" i="1" dirty="0">
                <a:latin typeface="Times New Roman" panose="02020603050405020304" pitchFamily="18" charset="0"/>
                <a:cs typeface="Times New Roman" panose="02020603050405020304" pitchFamily="18" charset="0"/>
              </a:rPr>
              <a:t>IEEE Conference, 2020</a:t>
            </a:r>
            <a:r>
              <a:rPr lang="en-IN" sz="1300" b="0" dirty="0">
                <a:latin typeface="Times New Roman" panose="02020603050405020304" pitchFamily="18" charset="0"/>
                <a:cs typeface="Times New Roman" panose="02020603050405020304" pitchFamily="18" charset="0"/>
              </a:rPr>
              <a:t>.</a:t>
            </a:r>
          </a:p>
        </p:txBody>
      </p:sp>
    </p:spTree>
  </p:cSld>
  <p:clrMapOvr>
    <a:masterClrMapping/>
  </p:clrMapOvr>
</p:sld>
</file>

<file path=ppt/theme/theme1.xml><?xml version="1.0" encoding="utf-8"?>
<a:theme xmlns:a="http://schemas.openxmlformats.org/drawingml/2006/main" name="Essential">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276</TotalTime>
  <Words>1569</Words>
  <Application>Microsoft Office PowerPoint</Application>
  <PresentationFormat>On-screen Show (4:3)</PresentationFormat>
  <Paragraphs>127</Paragraphs>
  <Slides>12</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Cambria Math</vt:lpstr>
      <vt:lpstr>Cambria</vt:lpstr>
      <vt:lpstr>Bookman Old Style</vt:lpstr>
      <vt:lpstr>Century Schoolbook</vt:lpstr>
      <vt:lpstr>Arial</vt:lpstr>
      <vt:lpstr>Roboto</vt:lpstr>
      <vt:lpstr>Calibri</vt:lpstr>
      <vt:lpstr>Times New Roman</vt:lpstr>
      <vt:lpstr>Arial Black</vt:lpstr>
      <vt:lpstr>Wingdings</vt:lpstr>
      <vt:lpstr>Essential</vt:lpstr>
      <vt:lpstr>PowerPoint Presentation</vt:lpstr>
      <vt:lpstr>CONTENT </vt:lpstr>
      <vt:lpstr>ABSTRACT</vt:lpstr>
      <vt:lpstr>INTRODUCTION</vt:lpstr>
      <vt:lpstr>PROBLEM STATEMENT</vt:lpstr>
      <vt:lpstr>OBJECTIVES OF THE WORK</vt:lpstr>
      <vt:lpstr>METHODOLOGY </vt:lpstr>
      <vt:lpstr>FLOW DIAGRAM</vt:lpstr>
      <vt:lpstr>TOOLS AND TECHNOLOGY</vt:lpstr>
      <vt:lpstr>SDG (Sustainable Development Goals) mapped (as per the metrics provided by Dept.)</vt:lpstr>
      <vt:lpstr>PROJECT MANAGEMENT </vt:lpstr>
      <vt:lpstr>  References(IEEE format)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NITHIN NAIK.R</dc:creator>
  <cp:lastModifiedBy>Nithin Naik R</cp:lastModifiedBy>
  <cp:revision>13</cp:revision>
  <dcterms:modified xsi:type="dcterms:W3CDTF">2026-02-13T13:45:03Z</dcterms:modified>
</cp:coreProperties>
</file>