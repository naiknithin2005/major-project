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7" r:id="rId10"/>
    <p:sldId id="268" r:id="rId11"/>
    <p:sldId id="269" r:id="rId12"/>
  </p:sldIdLst>
  <p:sldSz cx="9144000" cy="6858000" type="screen4x3"/>
  <p:notesSz cx="6858000" cy="9144000"/>
  <p:embeddedFontLst>
    <p:embeddedFont>
      <p:font typeface="Arial Black" panose="020B0A04020102020204" pitchFamily="34" charset="0"/>
      <p:regular r:id="rId14"/>
      <p:bold r:id="rId15"/>
    </p:embeddedFon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Cambria Math" panose="02040503050406030204" pitchFamily="18" charset="0"/>
      <p:regular r:id="rId24"/>
    </p:embeddedFont>
    <p:embeddedFont>
      <p:font typeface="Century Schoolbook" panose="02040604050505020304" pitchFamily="18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gQmHZMLQPRrBnjCO/7tdUMXWBY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3A9E66-F23F-4685-8762-FB8163C4B72E}">
  <a:tblStyle styleId="{803A9E66-F23F-4685-8762-FB8163C4B72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CEC"/>
          </a:solidFill>
        </a:fill>
      </a:tcStyle>
    </a:wholeTbl>
    <a:band1H>
      <a:tcTxStyle b="off" i="off"/>
      <a:tcStyle>
        <a:tcBdr/>
        <a:fill>
          <a:solidFill>
            <a:srgbClr val="D6D6D6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6D6D6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387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theme" Target="theme/theme1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64a40ef3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64a40ef3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a64a40ef39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64a40ef3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64a40ef3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a64a40ef39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64a40ef3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64a40ef3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a64a40ef39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64a40ef39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64a40ef39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a64a40ef39_2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64a40ef39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64a40ef39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a64a40ef39_2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3EC16D0B-0C7F-BD43-605B-389549EEB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64a40ef39_2_8:notes">
            <a:extLst>
              <a:ext uri="{FF2B5EF4-FFF2-40B4-BE49-F238E27FC236}">
                <a16:creationId xmlns:a16="http://schemas.microsoft.com/office/drawing/2014/main" id="{5206B499-C5F3-6275-76F0-7525823FE1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64a40ef39_2_8:notes">
            <a:extLst>
              <a:ext uri="{FF2B5EF4-FFF2-40B4-BE49-F238E27FC236}">
                <a16:creationId xmlns:a16="http://schemas.microsoft.com/office/drawing/2014/main" id="{1A431CF6-28FF-ABA2-0692-FA9037EC0E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a64a40ef39_2_8:notes">
            <a:extLst>
              <a:ext uri="{FF2B5EF4-FFF2-40B4-BE49-F238E27FC236}">
                <a16:creationId xmlns:a16="http://schemas.microsoft.com/office/drawing/2014/main" id="{27769291-140C-B755-775D-2CF26EE707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7611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64a40ef39_2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64a40ef39_2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a64a40ef39_2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64a40ef39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64a40ef39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a64a40ef39_2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64a40ef39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64a40ef39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a64a40ef39_2_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 Black"/>
              <a:buNone/>
              <a:defRPr sz="8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 Black"/>
              <a:buNone/>
              <a:defRPr sz="88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1630680" y="1574800"/>
            <a:ext cx="32918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5090160" y="1574800"/>
            <a:ext cx="32918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1627632" y="2259366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3"/>
          </p:nvPr>
        </p:nvSpPr>
        <p:spPr>
          <a:xfrm>
            <a:off x="5093208" y="1572768"/>
            <a:ext cx="329184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4"/>
          </p:nvPr>
        </p:nvSpPr>
        <p:spPr>
          <a:xfrm>
            <a:off x="5093208" y="2259366"/>
            <a:ext cx="329184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3"/>
          <p:cNvSpPr>
            <a:spLocks noGrp="1"/>
          </p:cNvSpPr>
          <p:nvPr>
            <p:ph type="pic" idx="2"/>
          </p:nvPr>
        </p:nvSpPr>
        <p:spPr>
          <a:xfrm>
            <a:off x="-1" y="0"/>
            <a:ext cx="9000877" cy="484632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457200" y="5715000"/>
            <a:ext cx="815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 Black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2080419" y="129382"/>
            <a:ext cx="4373563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  <a:defRPr sz="36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 rot="-5400000">
            <a:off x="8227377" y="5885497"/>
            <a:ext cx="13157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4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230909" y="1788088"/>
            <a:ext cx="8543636" cy="482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REAL TIME AI/ML PHISHING DETECTION AND PREVENTION SYSTEM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28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776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US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NITHIN NAIK.R(1BY23CS152)</a:t>
            </a:r>
            <a:br>
              <a:rPr lang="en-US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lang="en-US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UMAR(1BY23CS190)</a:t>
            </a:r>
            <a:br>
              <a:rPr lang="en-US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lang="en-US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SAGAR S.H(1BY24CS415)</a:t>
            </a:r>
            <a:br>
              <a:rPr lang="en-US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lang="en-US" sz="16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PRASHANTH(1NY23CS161)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776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sz="16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77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IN" sz="1600" b="1" dirty="0">
                <a:solidFill>
                  <a:srgbClr val="0070C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B.E.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776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IN" sz="1600" b="1" dirty="0">
                <a:solidFill>
                  <a:srgbClr val="0070C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COMPUTER SCIENCE AND ENGINEERING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776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sz="16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IN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UNDER THE GUIDANCE OF: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809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US" sz="19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Prof. BRUNDA S</a:t>
            </a:r>
            <a:endParaRPr sz="19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809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IN" sz="19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Assistant Professor</a:t>
            </a:r>
            <a:endParaRPr sz="1900" b="1" dirty="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lvl="0" indent="0" algn="ctr" rtl="0">
              <a:lnSpc>
                <a:spcPct val="100000"/>
              </a:lnSpc>
              <a:spcBef>
                <a:spcPts val="809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IN" sz="19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DEPT. OF CSE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809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IN" sz="19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BMSIT&amp;M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809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rPr lang="en-IN" sz="1900" b="1" dirty="0">
                <a:latin typeface="Century Schoolbook"/>
                <a:ea typeface="Century Schoolbook"/>
                <a:cs typeface="Century Schoolbook"/>
                <a:sym typeface="Century Schoolbook"/>
              </a:rPr>
              <a:t>2026-27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dirty="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6" name="Picture 5" descr="logo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" r="6850"/>
          <a:stretch/>
        </p:blipFill>
        <p:spPr bwMode="auto">
          <a:xfrm>
            <a:off x="480291" y="147781"/>
            <a:ext cx="7961745" cy="12002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angle 1"/>
          <p:cNvSpPr/>
          <p:nvPr/>
        </p:nvSpPr>
        <p:spPr>
          <a:xfrm>
            <a:off x="367146" y="1234090"/>
            <a:ext cx="850669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(</a:t>
            </a:r>
            <a:r>
              <a:rPr lang="en-US" sz="1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Accredited By National Assessment &amp; Accreditation Council (NAAC))</a:t>
            </a:r>
            <a:endParaRPr lang="en-IN" sz="10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861695" indent="-779145" algn="ctr"/>
            <a:r>
              <a:rPr lang="en-US" sz="1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(Approved by AICTE, New Delhi &amp; Affiliated to </a:t>
            </a:r>
            <a:r>
              <a:rPr lang="en-US" sz="1000" b="1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Visvesvaraya</a:t>
            </a:r>
            <a:r>
              <a:rPr lang="en-US" sz="1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Technological University, </a:t>
            </a:r>
            <a:r>
              <a:rPr lang="en-US" sz="1000" b="1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Belagavi</a:t>
            </a:r>
            <a:r>
              <a:rPr lang="en-US" sz="1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)</a:t>
            </a:r>
            <a:endParaRPr lang="en-IN" sz="10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algn="ctr"/>
            <a:r>
              <a:rPr lang="en-US" sz="1000" b="1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Doddaballapura</a:t>
            </a:r>
            <a:r>
              <a:rPr lang="en-US" sz="1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Main Road, </a:t>
            </a:r>
            <a:r>
              <a:rPr lang="en-US" sz="1000" b="1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Avalahalli</a:t>
            </a:r>
            <a:r>
              <a:rPr lang="en-US" sz="1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sz="1000" b="1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Yelahanka</a:t>
            </a:r>
            <a:r>
              <a:rPr lang="en-US" sz="10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Bengaluru-560119.</a:t>
            </a:r>
            <a:endParaRPr lang="en-I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entury Schoolbook"/>
              <a:buNone/>
            </a:pPr>
            <a:r>
              <a:rPr lang="en-IN" b="1">
                <a:latin typeface="Century Schoolbook"/>
                <a:ea typeface="Century Schoolbook"/>
                <a:cs typeface="Century Schoolbook"/>
                <a:sym typeface="Century Schoolbook"/>
              </a:rPr>
              <a:t>CONTENT</a:t>
            </a:r>
            <a:br>
              <a:rPr lang="en-IN" b="1"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endParaRPr b="1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457200" y="1041009"/>
            <a:ext cx="8229600" cy="5542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71500" lvl="0" indent="-5577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rPr lang="en-IN" sz="2900" dirty="0">
                <a:latin typeface="Bookman Old Style"/>
                <a:ea typeface="Bookman Old Style"/>
                <a:cs typeface="Bookman Old Style"/>
                <a:sym typeface="Bookman Old Style"/>
              </a:rPr>
              <a:t>Abstract  </a:t>
            </a:r>
            <a:endParaRPr sz="2900" dirty="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rPr lang="en-IN" sz="2900" dirty="0"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sz="2900" dirty="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dirty="0">
                <a:latin typeface="Bookman Old Style"/>
                <a:ea typeface="Bookman Old Style"/>
                <a:cs typeface="Bookman Old Style"/>
                <a:sym typeface="Bookman Old Style"/>
              </a:rPr>
              <a:t>Problem statement</a:t>
            </a:r>
            <a:endParaRPr dirty="0"/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rPr lang="en-IN" sz="2900" dirty="0">
                <a:latin typeface="Bookman Old Style"/>
                <a:ea typeface="Bookman Old Style"/>
                <a:cs typeface="Bookman Old Style"/>
                <a:sym typeface="Bookman Old Style"/>
              </a:rPr>
              <a:t>Objectives of the work</a:t>
            </a:r>
            <a:endParaRPr dirty="0"/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dirty="0">
                <a:latin typeface="Bookman Old Style"/>
                <a:ea typeface="Bookman Old Style"/>
                <a:cs typeface="Bookman Old Style"/>
                <a:sym typeface="Bookman Old Style"/>
              </a:rPr>
              <a:t>Proposed Methodology </a:t>
            </a:r>
            <a:endParaRPr sz="2900" dirty="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SDG mapped (as per the metrics provided by Dept.)</a:t>
            </a:r>
            <a:endParaRPr sz="2900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IN" sz="2900" dirty="0">
                <a:latin typeface="Bookman Old Style"/>
                <a:ea typeface="Bookman Old Style"/>
                <a:cs typeface="Bookman Old Style"/>
                <a:sym typeface="Bookman Old Style"/>
              </a:rPr>
              <a:t>Project management and Finance </a:t>
            </a: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SzPct val="100000"/>
              <a:buFont typeface="Cambria Math"/>
              <a:buChar char="↪"/>
            </a:pPr>
            <a:r>
              <a:rPr lang="en-US" sz="2900" dirty="0">
                <a:latin typeface="Bookman Old Style"/>
                <a:ea typeface="Bookman Old Style"/>
                <a:cs typeface="Bookman Old Style"/>
                <a:sym typeface="Bookman Old Style"/>
              </a:rPr>
              <a:t>Expected outcomes</a:t>
            </a:r>
            <a:endParaRPr sz="2900" dirty="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571500" lvl="0" indent="-55772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↪"/>
            </a:pPr>
            <a:r>
              <a:rPr lang="en-IN" sz="2900" dirty="0">
                <a:latin typeface="Bookman Old Style"/>
                <a:ea typeface="Bookman Old Style"/>
                <a:cs typeface="Bookman Old Style"/>
                <a:sym typeface="Bookman Old Style"/>
              </a:rPr>
              <a:t>References(IEEE format)</a:t>
            </a:r>
            <a:endParaRPr sz="2900" dirty="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45720" lvl="0" indent="0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64a40ef39_0_6"/>
          <p:cNvSpPr txBox="1">
            <a:spLocks noGrp="1"/>
          </p:cNvSpPr>
          <p:nvPr>
            <p:ph type="title"/>
          </p:nvPr>
        </p:nvSpPr>
        <p:spPr>
          <a:xfrm>
            <a:off x="274320" y="0"/>
            <a:ext cx="5791200" cy="72879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ABSTRACT</a:t>
            </a:r>
            <a:endParaRPr dirty="0"/>
          </a:p>
        </p:txBody>
      </p:sp>
      <p:sp>
        <p:nvSpPr>
          <p:cNvPr id="109" name="Google Shape;109;g3a64a40ef39_0_6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85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200" b="0" dirty="0">
                <a:latin typeface="Times New Roman"/>
                <a:ea typeface="Times New Roman"/>
                <a:cs typeface="Times New Roman"/>
                <a:sym typeface="Times New Roman"/>
              </a:rPr>
              <a:t>Context: Write the background or setting of your mini-project here. Explain why the topic is important and what motivated the work. </a:t>
            </a: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200" b="0" dirty="0">
                <a:latin typeface="Times New Roman"/>
                <a:ea typeface="Times New Roman"/>
                <a:cs typeface="Times New Roman"/>
                <a:sym typeface="Times New Roman"/>
              </a:rPr>
              <a:t>Problem Identified: Clearly mention the specific problem, gap, or challenge that your project aims to solve. Objective: State the goals of the project—what you set out to build, </a:t>
            </a:r>
            <a:r>
              <a:rPr lang="en-IN" sz="1200" b="0" dirty="0" err="1">
                <a:latin typeface="Times New Roman"/>
                <a:ea typeface="Times New Roman"/>
                <a:cs typeface="Times New Roman"/>
                <a:sym typeface="Times New Roman"/>
              </a:rPr>
              <a:t>analyze</a:t>
            </a:r>
            <a:r>
              <a:rPr lang="en-IN" sz="1200" b="0" dirty="0">
                <a:latin typeface="Times New Roman"/>
                <a:ea typeface="Times New Roman"/>
                <a:cs typeface="Times New Roman"/>
                <a:sym typeface="Times New Roman"/>
              </a:rPr>
              <a:t>, or achieve.</a:t>
            </a: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200" b="0" dirty="0">
                <a:latin typeface="Times New Roman"/>
                <a:ea typeface="Times New Roman"/>
                <a:cs typeface="Times New Roman"/>
                <a:sym typeface="Times New Roman"/>
              </a:rPr>
              <a:t> Methods: Briefly describe the methodology you used. This may include algorithms, models, datasets, frameworks, or tools.</a:t>
            </a: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200" b="0" dirty="0">
                <a:latin typeface="Times New Roman"/>
                <a:ea typeface="Times New Roman"/>
                <a:cs typeface="Times New Roman"/>
                <a:sym typeface="Times New Roman"/>
              </a:rPr>
              <a:t> Results: Summarize the key outcomes, model performance, detection accuracy, system </a:t>
            </a:r>
            <a:r>
              <a:rPr lang="en-IN" sz="1200" b="0" dirty="0" err="1">
                <a:latin typeface="Times New Roman"/>
                <a:ea typeface="Times New Roman"/>
                <a:cs typeface="Times New Roman"/>
                <a:sym typeface="Times New Roman"/>
              </a:rPr>
              <a:t>behavior</a:t>
            </a:r>
            <a:r>
              <a:rPr lang="en-IN" sz="1200" b="0" dirty="0">
                <a:latin typeface="Times New Roman"/>
                <a:ea typeface="Times New Roman"/>
                <a:cs typeface="Times New Roman"/>
                <a:sym typeface="Times New Roman"/>
              </a:rPr>
              <a:t>, or improvements achieved. </a:t>
            </a: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200" b="0" dirty="0">
                <a:latin typeface="Times New Roman"/>
                <a:ea typeface="Times New Roman"/>
                <a:cs typeface="Times New Roman"/>
                <a:sym typeface="Times New Roman"/>
              </a:rPr>
              <a:t>Keywords: Add all important keywords used in the project (e.g., Deep Learning, Image Processing, CNN, Object Detection, YOLO, Dataset Name, etc.).</a:t>
            </a: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IN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Note:The</a:t>
            </a:r>
            <a:r>
              <a:rPr lang="en-IN" sz="1200" dirty="0">
                <a:latin typeface="Times New Roman"/>
                <a:ea typeface="Times New Roman"/>
                <a:cs typeface="Times New Roman"/>
                <a:sym typeface="Times New Roman"/>
              </a:rPr>
              <a:t> entire abstract should be between 200 to 250 words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F03A0-C156-A6FE-9E11-BD514BA80508}"/>
              </a:ext>
            </a:extLst>
          </p:cNvPr>
          <p:cNvSpPr txBox="1"/>
          <p:nvPr/>
        </p:nvSpPr>
        <p:spPr>
          <a:xfrm>
            <a:off x="457200" y="832794"/>
            <a:ext cx="7973568" cy="815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1850" lvl="1" indent="-285750">
              <a:lnSpc>
                <a:spcPct val="115000"/>
              </a:lnSpc>
              <a:spcBef>
                <a:spcPts val="0"/>
              </a:spcBef>
              <a:buClr>
                <a:schemeClr val="tx1"/>
              </a:buClr>
              <a:buSzPts val="2200"/>
            </a:pP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inability to provide real-time, adaptive, and explainable threat detection significantly</a:t>
            </a:r>
          </a:p>
          <a:p>
            <a:pPr marL="831850" lvl="1" indent="-285750">
              <a:lnSpc>
                <a:spcPct val="115000"/>
              </a:lnSpc>
              <a:spcBef>
                <a:spcPts val="0"/>
              </a:spcBef>
              <a:buClr>
                <a:schemeClr val="tx1"/>
              </a:buClr>
              <a:buSzPts val="2200"/>
            </a:pP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the probability of credential harvesting, session hijacking, ransomware deployment,</a:t>
            </a:r>
          </a:p>
          <a:p>
            <a:pPr marL="831850" lvl="1" indent="-285750">
              <a:lnSpc>
                <a:spcPct val="115000"/>
              </a:lnSpc>
              <a:spcBef>
                <a:spcPts val="0"/>
              </a:spcBef>
              <a:buClr>
                <a:schemeClr val="tx1"/>
              </a:buClr>
              <a:buSzPts val="2200"/>
            </a:pP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large-scale data breaches.</a:t>
            </a:r>
            <a:r>
              <a:rPr lang="en-US" sz="1400" b="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64a40ef39_0_12"/>
          <p:cNvSpPr txBox="1">
            <a:spLocks noGrp="1"/>
          </p:cNvSpPr>
          <p:nvPr>
            <p:ph type="title"/>
          </p:nvPr>
        </p:nvSpPr>
        <p:spPr>
          <a:xfrm>
            <a:off x="457200" y="128016"/>
            <a:ext cx="5791200" cy="673926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INTRODUCTION</a:t>
            </a:r>
            <a:endParaRPr dirty="0"/>
          </a:p>
        </p:txBody>
      </p:sp>
      <p:sp>
        <p:nvSpPr>
          <p:cNvPr id="116" name="Google Shape;116;g3a64a40ef39_0_12"/>
          <p:cNvSpPr txBox="1">
            <a:spLocks noGrp="1"/>
          </p:cNvSpPr>
          <p:nvPr>
            <p:ph type="body" idx="1"/>
          </p:nvPr>
        </p:nvSpPr>
        <p:spPr>
          <a:xfrm>
            <a:off x="1002792" y="4888992"/>
            <a:ext cx="7620000" cy="24902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Roboto"/>
                <a:ea typeface="Roboto"/>
                <a:cs typeface="Roboto"/>
                <a:sym typeface="Roboto"/>
              </a:rPr>
              <a:t>Explain background and motivation.</a:t>
            </a:r>
            <a:endParaRPr sz="2100" b="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Roboto"/>
                <a:ea typeface="Roboto"/>
                <a:cs typeface="Roboto"/>
                <a:sym typeface="Roboto"/>
              </a:rPr>
              <a:t>Define the problem statement clearly.</a:t>
            </a:r>
            <a:endParaRPr sz="2100" b="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Roboto"/>
                <a:ea typeface="Roboto"/>
                <a:cs typeface="Roboto"/>
                <a:sym typeface="Roboto"/>
              </a:rPr>
              <a:t>Scope and importance of the project.</a:t>
            </a:r>
            <a:endParaRPr sz="2100" b="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-IN" sz="2100" b="0" dirty="0">
                <a:latin typeface="Roboto"/>
                <a:ea typeface="Roboto"/>
                <a:cs typeface="Roboto"/>
                <a:sym typeface="Roboto"/>
              </a:rPr>
              <a:t>Literature review or related work overview.</a:t>
            </a:r>
            <a:endParaRPr sz="2100" b="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FDC1D-19F9-4303-2ED7-060975E6A690}"/>
              </a:ext>
            </a:extLst>
          </p:cNvPr>
          <p:cNvSpPr txBox="1"/>
          <p:nvPr/>
        </p:nvSpPr>
        <p:spPr>
          <a:xfrm>
            <a:off x="374904" y="801942"/>
            <a:ext cx="82478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Phishing attacks have evolved into highly sophisticated cyber threats exploiting human psychology, weak security configurations, and gaps in legacy detection mechanisms.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Threat actors now leverage Machine learning (ML), Deep learning (DL), and natural language generation (NLG) to create context-aware phishing campaigns that bypass signature- and rule-based security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Attack vectors are no longer limited to email; they now span SMS, instant messaging platforms, and websites using domain spoofing, homoglyph attacks, and redirection chains.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dynamic and polymorphic nature of these attacks has rendered traditional anti-phishing mechanisms—such as static URL blacklists, regex-based filters, and signature matching—ineffective against zero-day exploits.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64a40ef39_0_18"/>
          <p:cNvSpPr txBox="1">
            <a:spLocks noGrp="1"/>
          </p:cNvSpPr>
          <p:nvPr>
            <p:ph type="title"/>
          </p:nvPr>
        </p:nvSpPr>
        <p:spPr>
          <a:xfrm>
            <a:off x="143486" y="146304"/>
            <a:ext cx="7230300" cy="661927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PROBLEM STATEMENT</a:t>
            </a:r>
            <a:endParaRPr dirty="0"/>
          </a:p>
        </p:txBody>
      </p:sp>
      <p:sp>
        <p:nvSpPr>
          <p:cNvPr id="123" name="Google Shape;123;g3a64a40ef39_0_18"/>
          <p:cNvSpPr txBox="1">
            <a:spLocks noGrp="1"/>
          </p:cNvSpPr>
          <p:nvPr>
            <p:ph type="body" idx="1"/>
          </p:nvPr>
        </p:nvSpPr>
        <p:spPr>
          <a:xfrm>
            <a:off x="0" y="716790"/>
            <a:ext cx="8796528" cy="534568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74650" indent="-285750">
              <a:lnSpc>
                <a:spcPct val="115000"/>
              </a:lnSpc>
              <a:spcBef>
                <a:spcPts val="0"/>
              </a:spcBef>
              <a:buSzPts val="2200"/>
              <a:buFont typeface="Wingdings" panose="05000000000000000000" pitchFamily="2" charset="2"/>
              <a:buChar char="§"/>
            </a:pP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anti-phishing ecosystems lack the technical adaptability and intelligence required to detect and mitigate emerging threats in real time. </a:t>
            </a:r>
          </a:p>
          <a:p>
            <a:pPr marL="374650" indent="-285750">
              <a:lnSpc>
                <a:spcPct val="115000"/>
              </a:lnSpc>
              <a:spcBef>
                <a:spcPts val="0"/>
              </a:spcBef>
              <a:buSzPts val="2200"/>
              <a:buFont typeface="Wingdings" panose="05000000000000000000" pitchFamily="2" charset="2"/>
              <a:buChar char="§"/>
            </a:pP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technical limitations include:</a:t>
            </a:r>
          </a:p>
          <a:p>
            <a:pPr marL="831850" lvl="1" indent="-285750">
              <a:lnSpc>
                <a:spcPct val="115000"/>
              </a:lnSpc>
              <a:spcBef>
                <a:spcPts val="0"/>
              </a:spcBef>
              <a:buClr>
                <a:schemeClr val="tx1"/>
              </a:buClr>
              <a:buSzPts val="2200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Detection Models: </a:t>
            </a: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tools rely on rule-based engines and signature libraries that fail against dynamically generated URLs, short-lived domains, and polymorphic attack payloads.</a:t>
            </a:r>
          </a:p>
          <a:p>
            <a:pPr marL="831850" lvl="1" indent="-285750">
              <a:lnSpc>
                <a:spcPct val="115000"/>
              </a:lnSpc>
              <a:spcBef>
                <a:spcPts val="0"/>
              </a:spcBef>
              <a:buClr>
                <a:schemeClr val="tx1"/>
              </a:buClr>
              <a:buSzPts val="2200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NLP/ML Analysis: </a:t>
            </a: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lack advanced contextual and semantic analysis, resulting in undetected threats embedded in AI-generated or obfuscated messages.</a:t>
            </a:r>
          </a:p>
          <a:p>
            <a:pPr marL="831850" lvl="1" indent="-285750">
              <a:lnSpc>
                <a:spcPct val="115000"/>
              </a:lnSpc>
              <a:spcBef>
                <a:spcPts val="0"/>
              </a:spcBef>
              <a:buClr>
                <a:schemeClr val="tx1"/>
              </a:buClr>
              <a:buSzPts val="2200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Link Obfuscation: </a:t>
            </a: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URLs often employ techniques like multiple HTTP 3xx redirection hops, Base64/hex encoding, and URL parameter cloaking, evading traditional scanners.</a:t>
            </a:r>
          </a:p>
          <a:p>
            <a:pPr marL="831850" lvl="1" indent="-285750">
              <a:lnSpc>
                <a:spcPct val="115000"/>
              </a:lnSpc>
              <a:spcBef>
                <a:spcPts val="0"/>
              </a:spcBef>
              <a:buClr>
                <a:schemeClr val="tx1"/>
              </a:buClr>
              <a:buSzPts val="2200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in Detection:</a:t>
            </a: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security platforms perform post-delivery scans or asynchronous sandboxing, providing alerts after the end-user has engaged with the malicious link or attachment.</a:t>
            </a:r>
          </a:p>
          <a:p>
            <a:pPr marL="831850" lvl="1" indent="-285750">
              <a:lnSpc>
                <a:spcPct val="115000"/>
              </a:lnSpc>
              <a:spcBef>
                <a:spcPts val="0"/>
              </a:spcBef>
              <a:buClr>
                <a:schemeClr val="tx1"/>
              </a:buClr>
              <a:buSzPts val="2200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Model Generalization:</a:t>
            </a: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 classifiers trained on historical datasets often exhibit model drift and fail to generalize to zero-day phishing campaigns without active retraining pipelines.</a:t>
            </a:r>
          </a:p>
          <a:p>
            <a:pPr marL="831850" lvl="1" indent="-285750">
              <a:lnSpc>
                <a:spcPct val="115000"/>
              </a:lnSpc>
              <a:spcBef>
                <a:spcPts val="0"/>
              </a:spcBef>
              <a:buClr>
                <a:schemeClr val="tx1"/>
              </a:buClr>
              <a:buSzPts val="2200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Endpoint and Browser Integration</a:t>
            </a: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Available solutions are primarily cloud- or gateway-based, lacking lightweight real-time integrations with browsers, mail clients, and endpoint security agents.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64a40ef39_2_2"/>
          <p:cNvSpPr txBox="1">
            <a:spLocks noGrp="1"/>
          </p:cNvSpPr>
          <p:nvPr>
            <p:ph type="title"/>
          </p:nvPr>
        </p:nvSpPr>
        <p:spPr>
          <a:xfrm>
            <a:off x="292608" y="137159"/>
            <a:ext cx="8194200" cy="692221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OBJECTIVES OF THE WORK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21FBB1-E243-C00A-37C9-3DE1B0093B4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71500" y="982177"/>
            <a:ext cx="763641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AI/ML-based phishing detection and prevention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malicious links and QR codes used in digital and UPI transactions and Threat SMS.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enhance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safety and trust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preventing credential theft, financial fraud, and unauthorized access.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 limitations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rule-based phishing detection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using intelligent, data-driven models.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adaptable security 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capable of handling evolving phishing techniques.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64a40ef39_2_8"/>
          <p:cNvSpPr txBox="1">
            <a:spLocks noGrp="1"/>
          </p:cNvSpPr>
          <p:nvPr>
            <p:ph type="title"/>
          </p:nvPr>
        </p:nvSpPr>
        <p:spPr>
          <a:xfrm>
            <a:off x="164592" y="174297"/>
            <a:ext cx="5791200" cy="715546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METHODOLOGY 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EDCAE6-8374-EEF4-3932-317C33F4F27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93462" y="889843"/>
            <a:ext cx="838419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Layer: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*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Dual-Input Streams: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Simultaneous monitoring of incoming SMS text and 	  embedded/scanned QR code images.</a:t>
            </a:r>
          </a:p>
          <a:p>
            <a:pPr lvl="6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*Feature Extraction: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Utilizing NLP for text metadata and Computer Vision 	  for QR payload extraction.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AI/ML Core (Hybrid Pipeline):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*Smishing Module: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Employs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TinyBERT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CNN-GRU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analyze 	  text context, urgency, and sender reputation.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*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Quishing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CNN-based classification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/VGG) to 	  detect "visual" tampering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the decoded URL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Cross-Verification Engine: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Correlates SMS context with QR landing pages to detect "Contextual Phishing" 	(e.g., an SMS about banking leading to a non-banking URL).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Actionable Prevention Layer: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*Real-Time Risk Scoring: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Categorizes threats as Low, Medium, or High.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*Automated Response: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Instant blocking of malicious links and user alerts  	  with visual safety indicators.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1866E2AD-6CE9-8A6D-3360-523E028E7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64a40ef39_2_8">
            <a:extLst>
              <a:ext uri="{FF2B5EF4-FFF2-40B4-BE49-F238E27FC236}">
                <a16:creationId xmlns:a16="http://schemas.microsoft.com/office/drawing/2014/main" id="{70CD5C0E-0146-7107-1CA7-9754DD5FF2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592" y="174297"/>
            <a:ext cx="5791200" cy="715546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FLOW DIAGRAM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857AA1-96C0-B61E-240D-5CADD2173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67" y="889843"/>
            <a:ext cx="8682641" cy="569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36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64a40ef39_2_44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121600" cy="1524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None/>
            </a:pPr>
            <a:r>
              <a:rPr lang="en-IN" sz="2900" b="1">
                <a:latin typeface="Bookman Old Style"/>
                <a:ea typeface="Bookman Old Style"/>
                <a:cs typeface="Bookman Old Style"/>
                <a:sym typeface="Bookman Old Style"/>
              </a:rPr>
              <a:t>SDG (</a:t>
            </a:r>
            <a:r>
              <a:rPr lang="en-IN" sz="2700" b="1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Sustainable Development Goals)</a:t>
            </a:r>
            <a:endParaRPr sz="2700" b="1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None/>
            </a:pPr>
            <a:r>
              <a:rPr lang="en-IN" sz="2900" b="1">
                <a:latin typeface="Bookman Old Style"/>
                <a:ea typeface="Bookman Old Style"/>
                <a:cs typeface="Bookman Old Style"/>
                <a:sym typeface="Bookman Old Style"/>
              </a:rPr>
              <a:t>mapped (as per the metrics provided by Dept.)</a:t>
            </a:r>
            <a:endParaRPr/>
          </a:p>
        </p:txBody>
      </p:sp>
      <p:sp>
        <p:nvSpPr>
          <p:cNvPr id="172" name="Google Shape;172;g3a64a40ef39_2_44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indent="-342900">
              <a:lnSpc>
                <a:spcPct val="115000"/>
              </a:lnSpc>
              <a:spcBef>
                <a:spcPts val="0"/>
              </a:spcBef>
              <a:buFont typeface="Roboto"/>
              <a:buChar char="●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4 – Quality Education</a:t>
            </a:r>
          </a:p>
          <a:p>
            <a:pPr marL="114300" indent="0">
              <a:lnSpc>
                <a:spcPct val="115000"/>
              </a:lnSpc>
              <a:spcBef>
                <a:spcPts val="0"/>
              </a:spcBef>
            </a:pPr>
            <a:r>
              <a:rPr lang="en-IN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700" b="0" dirty="0"/>
              <a:t>Protects students and educational platforms from phishing attacks</a:t>
            </a:r>
            <a:endParaRPr lang="en-IN" sz="17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>
              <a:lnSpc>
                <a:spcPct val="115000"/>
              </a:lnSpc>
              <a:spcBef>
                <a:spcPts val="0"/>
              </a:spcBef>
              <a:buFont typeface="Roboto"/>
              <a:buChar char="●"/>
            </a:pP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>
              <a:lnSpc>
                <a:spcPct val="115000"/>
              </a:lnSpc>
              <a:spcBef>
                <a:spcPts val="0"/>
              </a:spcBef>
              <a:buFont typeface="Roboto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8 – Decent Work and Economic Growth</a:t>
            </a:r>
          </a:p>
          <a:p>
            <a:pPr marL="114300" indent="0">
              <a:lnSpc>
                <a:spcPct val="115000"/>
              </a:lnSpc>
              <a:spcBef>
                <a:spcPts val="0"/>
              </a:spcBef>
            </a:pPr>
            <a:r>
              <a:rPr lang="en-US" sz="1700" b="0" dirty="0"/>
              <a:t>      Prevents financial losses due to phishing scams</a:t>
            </a:r>
          </a:p>
          <a:p>
            <a:pPr marL="114300" indent="0">
              <a:lnSpc>
                <a:spcPct val="115000"/>
              </a:lnSpc>
              <a:spcBef>
                <a:spcPts val="0"/>
              </a:spcBef>
            </a:pPr>
            <a:endParaRPr lang="en-US" sz="17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342900">
              <a:lnSpc>
                <a:spcPct val="115000"/>
              </a:lnSpc>
              <a:spcBef>
                <a:spcPts val="0"/>
              </a:spcBef>
              <a:buFont typeface="Roboto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</a:t>
            </a:r>
          </a:p>
          <a:p>
            <a:pPr marL="114300" lvl="0" indent="0">
              <a:lnSpc>
                <a:spcPct val="115000"/>
              </a:lnSpc>
              <a:spcBef>
                <a:spcPts val="0"/>
              </a:spcBef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safe adoption of cloud services, online platforms, and digital </a:t>
            </a:r>
          </a:p>
          <a:p>
            <a:pPr marL="114300" lvl="0" indent="0">
              <a:lnSpc>
                <a:spcPct val="115000"/>
              </a:lnSpc>
              <a:spcBef>
                <a:spcPts val="0"/>
              </a:spcBef>
            </a:pP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systems</a:t>
            </a:r>
          </a:p>
          <a:p>
            <a:pPr indent="-342900">
              <a:lnSpc>
                <a:spcPct val="115000"/>
              </a:lnSpc>
              <a:spcBef>
                <a:spcPts val="0"/>
              </a:spcBef>
              <a:buFont typeface="Roboto"/>
              <a:buChar char="●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>
              <a:lnSpc>
                <a:spcPct val="115000"/>
              </a:lnSpc>
              <a:spcBef>
                <a:spcPts val="0"/>
              </a:spcBef>
              <a:buFont typeface="Roboto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11 – Sustainable Cities and Communities</a:t>
            </a:r>
          </a:p>
          <a:p>
            <a:pPr marL="114300" indent="0">
              <a:lnSpc>
                <a:spcPct val="115000"/>
              </a:lnSpc>
              <a:spcBef>
                <a:spcPts val="0"/>
              </a:spcBef>
            </a:pPr>
            <a:r>
              <a:rPr lang="en-US" sz="1700" b="0" dirty="0"/>
              <a:t>     Protects citizens using online public services and QR-based systems</a:t>
            </a:r>
            <a:endParaRPr lang="en-IN" sz="17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342900">
              <a:lnSpc>
                <a:spcPct val="115000"/>
              </a:lnSpc>
              <a:spcBef>
                <a:spcPts val="0"/>
              </a:spcBef>
              <a:buFont typeface="Roboto"/>
              <a:buChar char="●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342900">
              <a:lnSpc>
                <a:spcPct val="115000"/>
              </a:lnSpc>
              <a:spcBef>
                <a:spcPts val="0"/>
              </a:spcBef>
              <a:buFont typeface="Roboto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16 – Peace, Justice and Strong Institutions</a:t>
            </a:r>
          </a:p>
          <a:p>
            <a:pPr marL="114300" lvl="0" indent="0">
              <a:lnSpc>
                <a:spcPct val="115000"/>
              </a:lnSpc>
              <a:spcBef>
                <a:spcPts val="0"/>
              </a:spcBef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700" b="0" dirty="0"/>
              <a:t>Helps combat cybercrime and digital fraud</a:t>
            </a:r>
            <a:endParaRPr lang="en-US" sz="17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>
              <a:lnSpc>
                <a:spcPct val="115000"/>
              </a:lnSpc>
              <a:spcBef>
                <a:spcPts val="0"/>
              </a:spcBef>
            </a:pPr>
            <a:endParaRPr sz="1800" b="0" dirty="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64a40ef39_2_52"/>
          <p:cNvSpPr txBox="1">
            <a:spLocks noGrp="1"/>
          </p:cNvSpPr>
          <p:nvPr>
            <p:ph type="title"/>
          </p:nvPr>
        </p:nvSpPr>
        <p:spPr>
          <a:xfrm>
            <a:off x="457200" y="152725"/>
            <a:ext cx="6973800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PROJECT MANAGEMENT AND FINANCE</a:t>
            </a:r>
            <a:endParaRPr sz="2500"/>
          </a:p>
        </p:txBody>
      </p:sp>
      <p:sp>
        <p:nvSpPr>
          <p:cNvPr id="179" name="Google Shape;179;g3a64a40ef39_2_52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7620000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-IN" b="0">
                <a:latin typeface="Roboto"/>
                <a:ea typeface="Roboto"/>
                <a:cs typeface="Roboto"/>
                <a:sym typeface="Roboto"/>
              </a:rPr>
              <a:t>Include a brief section on timeline, team roles.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-IN" b="0">
                <a:latin typeface="Roboto"/>
                <a:ea typeface="Roboto"/>
                <a:cs typeface="Roboto"/>
                <a:sym typeface="Roboto"/>
              </a:rPr>
              <a:t>Tools used for project scheduling (e.g., Gantt charts).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-IN" b="0">
                <a:latin typeface="Roboto"/>
                <a:ea typeface="Roboto"/>
                <a:cs typeface="Roboto"/>
                <a:sym typeface="Roboto"/>
              </a:rPr>
              <a:t>Budget or finance details if applicable.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64a40ef39_2_59"/>
          <p:cNvSpPr txBox="1"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118"/>
              </a:spcBef>
              <a:spcAft>
                <a:spcPts val="0"/>
              </a:spcAft>
              <a:buNone/>
            </a:pPr>
            <a:r>
              <a:rPr lang="en-IN" sz="29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 </a:t>
            </a:r>
            <a:r>
              <a:rPr lang="en-IN" sz="2900" b="1">
                <a:latin typeface="Bookman Old Style"/>
                <a:ea typeface="Bookman Old Style"/>
                <a:cs typeface="Bookman Old Style"/>
                <a:sym typeface="Bookman Old Style"/>
              </a:rPr>
              <a:t>References(IEEE format)</a:t>
            </a:r>
            <a:endParaRPr/>
          </a:p>
        </p:txBody>
      </p:sp>
      <p:sp>
        <p:nvSpPr>
          <p:cNvPr id="186" name="Google Shape;186;g3a64a40ef39_2_59"/>
          <p:cNvSpPr txBox="1">
            <a:spLocks noGrp="1"/>
          </p:cNvSpPr>
          <p:nvPr>
            <p:ph type="body" idx="1"/>
          </p:nvPr>
        </p:nvSpPr>
        <p:spPr>
          <a:xfrm>
            <a:off x="457200" y="1524318"/>
            <a:ext cx="8062249" cy="437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>
              <a:spcBef>
                <a:spcPts val="1200"/>
              </a:spcBef>
            </a:pP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17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Dr.K</a:t>
            </a: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Deepa Thilak and </a:t>
            </a:r>
            <a:r>
              <a:rPr lang="en-US" sz="17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Gangisetty</a:t>
            </a: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 Charan, ”Detection of Phishing Link and QR Code of UPI Transaction using Machine Learning”. 2023 3rd International Conference on Innovative Mechanisms for Industry Applications (ICIMIA) | 979-8-3503-4363-2/23/$31.00 ©2023 IEEE | DOI: 10.1109/ICIMIA60377.2023.10426613.</a:t>
            </a:r>
          </a:p>
          <a:p>
            <a:pPr marL="0" lvl="0" indent="0">
              <a:spcBef>
                <a:spcPts val="1200"/>
              </a:spcBef>
            </a:pP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Vinayak Khandelwal, Varun Kumar Singh and Luis Rivas, “Securing QR Code Infrastructure Using AI to Detect Malicious Activity”. 2025 IEEE 15th Annual Computing and Communication Workshop and Conference (CCWC) | 979-8-3315-0769-5/25/$31.00 ©2025 IEEE | DOI: 10.1109/CCWC62904.2025.10903910.</a:t>
            </a:r>
          </a:p>
          <a:p>
            <a:pPr marL="0" lvl="0" indent="0">
              <a:spcBef>
                <a:spcPts val="1200"/>
              </a:spcBef>
            </a:pP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17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Swarangi</a:t>
            </a: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Uplenchwar, Varsha Sawant and Prajakta Surve, “Phishing Attack Detection on Text Messages Using Machine Learning Techniques”. 2022 IEEE Pune Section International Conference (</a:t>
            </a:r>
            <a:r>
              <a:rPr lang="en-US" sz="17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PuneCon</a:t>
            </a: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| 978-1-6654-9897-5/22/$31.00 ©2022 IEEE | DOI: 10.1109/PUNECON55413.2022.10014876.</a:t>
            </a:r>
          </a:p>
          <a:p>
            <a:pPr marL="0" lvl="0" indent="0">
              <a:spcBef>
                <a:spcPts val="1200"/>
              </a:spcBef>
            </a:pPr>
            <a:b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Akshat Gaurav, Brij B. Gupta, “AI-Driven Smishing </a:t>
            </a:r>
            <a:r>
              <a:rPr lang="en-US" sz="17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Beection</a:t>
            </a: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Android Devices Using </a:t>
            </a:r>
            <a:r>
              <a:rPr lang="en-US" sz="17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TinyBERT</a:t>
            </a: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Aquila </a:t>
            </a:r>
            <a:r>
              <a:rPr lang="en-US" sz="17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Optimization”.The</a:t>
            </a:r>
            <a:r>
              <a:rPr lang="en-US" sz="1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27th International Conference on Advanced Communications Technology (ICACT2025)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1274</Words>
  <Application>Microsoft Office PowerPoint</Application>
  <PresentationFormat>On-screen Show (4:3)</PresentationFormat>
  <Paragraphs>117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Cambria</vt:lpstr>
      <vt:lpstr>Bookman Old Style</vt:lpstr>
      <vt:lpstr>Century Schoolbook</vt:lpstr>
      <vt:lpstr>Arial</vt:lpstr>
      <vt:lpstr>Calibri</vt:lpstr>
      <vt:lpstr>Times New Roman</vt:lpstr>
      <vt:lpstr>Arial Black</vt:lpstr>
      <vt:lpstr>Wingdings</vt:lpstr>
      <vt:lpstr>Cambria Math</vt:lpstr>
      <vt:lpstr>Roboto</vt:lpstr>
      <vt:lpstr>Essential</vt:lpstr>
      <vt:lpstr>PowerPoint Presentation</vt:lpstr>
      <vt:lpstr>CONTENT </vt:lpstr>
      <vt:lpstr>ABSTRACT</vt:lpstr>
      <vt:lpstr>INTRODUCTION</vt:lpstr>
      <vt:lpstr>PROBLEM STATEMENT</vt:lpstr>
      <vt:lpstr>OBJECTIVES OF THE WORK</vt:lpstr>
      <vt:lpstr>METHODOLOGY </vt:lpstr>
      <vt:lpstr>FLOW DIAGRAM </vt:lpstr>
      <vt:lpstr>SDG (Sustainable Development Goals) mapped (as per the metrics provided by Dept.)</vt:lpstr>
      <vt:lpstr>PROJECT MANAGEMENT AND FINANCE</vt:lpstr>
      <vt:lpstr>  References(IEEE format)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NITHIN NAIK.R</dc:creator>
  <cp:lastModifiedBy>Nithin Naik R</cp:lastModifiedBy>
  <cp:revision>9</cp:revision>
  <dcterms:modified xsi:type="dcterms:W3CDTF">2026-02-13T07:36:16Z</dcterms:modified>
</cp:coreProperties>
</file>