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9"/>
  </p:notesMasterIdLst>
  <p:sldIdLst>
    <p:sldId id="256" r:id="rId2"/>
    <p:sldId id="257" r:id="rId3"/>
    <p:sldId id="258" r:id="rId4"/>
    <p:sldId id="260" r:id="rId5"/>
    <p:sldId id="276" r:id="rId6"/>
    <p:sldId id="275" r:id="rId7"/>
    <p:sldId id="264" r:id="rId8"/>
    <p:sldId id="265" r:id="rId9"/>
    <p:sldId id="259" r:id="rId10"/>
    <p:sldId id="266" r:id="rId11"/>
    <p:sldId id="267" r:id="rId12"/>
    <p:sldId id="268" r:id="rId13"/>
    <p:sldId id="269" r:id="rId14"/>
    <p:sldId id="274" r:id="rId15"/>
    <p:sldId id="270" r:id="rId16"/>
    <p:sldId id="271"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94612"/>
  </p:normalViewPr>
  <p:slideViewPr>
    <p:cSldViewPr snapToGrid="0" snapToObjects="1">
      <p:cViewPr varScale="1">
        <p:scale>
          <a:sx n="80" d="100"/>
          <a:sy n="80" d="100"/>
        </p:scale>
        <p:origin x="754" y="5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D58FC5-9E64-4A26-BDBF-6CD7E549CD31}" type="datetimeFigureOut">
              <a:rPr lang="en-IN" smtClean="0"/>
              <a:t>06-03-2026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072E3D-C9ED-41C0-B19F-CE3A3C6E8940}" type="slidenum">
              <a:rPr lang="en-IN" smtClean="0"/>
              <a:t>‹#›</a:t>
            </a:fld>
            <a:endParaRPr lang="en-IN"/>
          </a:p>
        </p:txBody>
      </p:sp>
    </p:spTree>
    <p:extLst>
      <p:ext uri="{BB962C8B-B14F-4D97-AF65-F5344CB8AC3E}">
        <p14:creationId xmlns:p14="http://schemas.microsoft.com/office/powerpoint/2010/main" val="1339935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6/3/2026</a:t>
            </a:r>
          </a:p>
        </p:txBody>
      </p:sp>
      <p:sp>
        <p:nvSpPr>
          <p:cNvPr id="5" name="Footer Placeholder 4"/>
          <p:cNvSpPr>
            <a:spLocks noGrp="1"/>
          </p:cNvSpPr>
          <p:nvPr>
            <p:ph type="ftr" sz="quarter" idx="11"/>
          </p:nvPr>
        </p:nvSpPr>
        <p:spPr/>
        <p:txBody>
          <a:bodyPr/>
          <a:lstStyle/>
          <a:p>
            <a:r>
              <a:rPr lang="en-US"/>
              <a:t>BMSIT&amp;M, CSE                                 </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867033" y="-2048688"/>
            <a:ext cx="7029567" cy="669735"/>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en-US"/>
              <a:t>6/3/2026</a:t>
            </a:r>
          </a:p>
        </p:txBody>
      </p:sp>
      <p:sp>
        <p:nvSpPr>
          <p:cNvPr id="5" name="Footer Placeholder 4"/>
          <p:cNvSpPr>
            <a:spLocks noGrp="1"/>
          </p:cNvSpPr>
          <p:nvPr>
            <p:ph type="ftr" sz="quarter" idx="11"/>
          </p:nvPr>
        </p:nvSpPr>
        <p:spPr/>
        <p:txBody>
          <a:bodyPr/>
          <a:lstStyle/>
          <a:p>
            <a:r>
              <a:rPr lang="en-US"/>
              <a:t>BMSIT&amp;M, CSE                                 </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2052" name="Picture 4" descr="COMEDK | Karnataka Professional Colleges Foundation | BMS ...">
            <a:extLst>
              <a:ext uri="{FF2B5EF4-FFF2-40B4-BE49-F238E27FC236}">
                <a16:creationId xmlns:a16="http://schemas.microsoft.com/office/drawing/2014/main" id="{E0A92C00-6914-054B-6F6E-831A17F9FF5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646"/>
            <a:ext cx="1280593" cy="10864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577D0B7-0F8D-5672-357B-1C70F5E296E3}"/>
              </a:ext>
            </a:extLst>
          </p:cNvPr>
          <p:cNvPicPr>
            <a:picLocks noChangeAspect="1"/>
          </p:cNvPicPr>
          <p:nvPr userDrawn="1"/>
        </p:nvPicPr>
        <p:blipFill>
          <a:blip r:embed="rId3"/>
          <a:srcRect r="88830"/>
          <a:stretch>
            <a:fillRect/>
          </a:stretch>
        </p:blipFill>
        <p:spPr>
          <a:xfrm>
            <a:off x="10942103" y="41470"/>
            <a:ext cx="1280593" cy="1267126"/>
          </a:xfrm>
          <a:prstGeom prst="rect">
            <a:avLst/>
          </a:prstGeom>
        </p:spPr>
      </p:pic>
    </p:spTree>
    <p:extLst>
      <p:ext uri="{BB962C8B-B14F-4D97-AF65-F5344CB8AC3E}">
        <p14:creationId xmlns:p14="http://schemas.microsoft.com/office/powerpoint/2010/main" val="261431425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6/3/2026</a:t>
            </a:r>
          </a:p>
        </p:txBody>
      </p:sp>
      <p:sp>
        <p:nvSpPr>
          <p:cNvPr id="5" name="Footer Placeholder 4"/>
          <p:cNvSpPr>
            <a:spLocks noGrp="1"/>
          </p:cNvSpPr>
          <p:nvPr>
            <p:ph type="ftr" sz="quarter" idx="11"/>
          </p:nvPr>
        </p:nvSpPr>
        <p:spPr/>
        <p:txBody>
          <a:bodyPr/>
          <a:lstStyle/>
          <a:p>
            <a:r>
              <a:rPr lang="en-US"/>
              <a:t>BMSIT&amp;M, CSE                                 </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6/3/2026</a:t>
            </a:r>
          </a:p>
        </p:txBody>
      </p:sp>
      <p:sp>
        <p:nvSpPr>
          <p:cNvPr id="6" name="Footer Placeholder 5"/>
          <p:cNvSpPr>
            <a:spLocks noGrp="1"/>
          </p:cNvSpPr>
          <p:nvPr>
            <p:ph type="ftr" sz="quarter" idx="11"/>
          </p:nvPr>
        </p:nvSpPr>
        <p:spPr/>
        <p:txBody>
          <a:bodyPr/>
          <a:lstStyle/>
          <a:p>
            <a:r>
              <a:rPr lang="en-US"/>
              <a:t>BMSIT&amp;M, CSE                                 </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6/3/2026</a:t>
            </a:r>
          </a:p>
        </p:txBody>
      </p:sp>
      <p:sp>
        <p:nvSpPr>
          <p:cNvPr id="8" name="Footer Placeholder 7"/>
          <p:cNvSpPr>
            <a:spLocks noGrp="1"/>
          </p:cNvSpPr>
          <p:nvPr>
            <p:ph type="ftr" sz="quarter" idx="11"/>
          </p:nvPr>
        </p:nvSpPr>
        <p:spPr/>
        <p:txBody>
          <a:bodyPr/>
          <a:lstStyle/>
          <a:p>
            <a:r>
              <a:rPr lang="en-US"/>
              <a:t>BMSIT&amp;M, CSE                                 </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6/3/2026</a:t>
            </a:r>
          </a:p>
        </p:txBody>
      </p:sp>
      <p:sp>
        <p:nvSpPr>
          <p:cNvPr id="4" name="Footer Placeholder 3"/>
          <p:cNvSpPr>
            <a:spLocks noGrp="1"/>
          </p:cNvSpPr>
          <p:nvPr>
            <p:ph type="ftr" sz="quarter" idx="11"/>
          </p:nvPr>
        </p:nvSpPr>
        <p:spPr/>
        <p:txBody>
          <a:bodyPr/>
          <a:lstStyle/>
          <a:p>
            <a:r>
              <a:rPr lang="en-US"/>
              <a:t>BMSIT&amp;M, CSE                                 </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6/3/2026</a:t>
            </a:r>
          </a:p>
        </p:txBody>
      </p:sp>
      <p:sp>
        <p:nvSpPr>
          <p:cNvPr id="3" name="Footer Placeholder 2"/>
          <p:cNvSpPr>
            <a:spLocks noGrp="1"/>
          </p:cNvSpPr>
          <p:nvPr>
            <p:ph type="ftr" sz="quarter" idx="11"/>
          </p:nvPr>
        </p:nvSpPr>
        <p:spPr/>
        <p:txBody>
          <a:bodyPr/>
          <a:lstStyle/>
          <a:p>
            <a:r>
              <a:rPr lang="en-US"/>
              <a:t>BMSIT&amp;M, CSE                                 </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6/3/2026</a:t>
            </a:r>
          </a:p>
        </p:txBody>
      </p:sp>
      <p:sp>
        <p:nvSpPr>
          <p:cNvPr id="6" name="Footer Placeholder 5"/>
          <p:cNvSpPr>
            <a:spLocks noGrp="1"/>
          </p:cNvSpPr>
          <p:nvPr>
            <p:ph type="ftr" sz="quarter" idx="11"/>
          </p:nvPr>
        </p:nvSpPr>
        <p:spPr/>
        <p:txBody>
          <a:bodyPr/>
          <a:lstStyle/>
          <a:p>
            <a:r>
              <a:rPr lang="en-US"/>
              <a:t>BMSIT&amp;M, CSE                                 </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6/3/2026</a:t>
            </a:r>
          </a:p>
        </p:txBody>
      </p:sp>
      <p:sp>
        <p:nvSpPr>
          <p:cNvPr id="6" name="Footer Placeholder 5"/>
          <p:cNvSpPr>
            <a:spLocks noGrp="1"/>
          </p:cNvSpPr>
          <p:nvPr>
            <p:ph type="ftr" sz="quarter" idx="11"/>
          </p:nvPr>
        </p:nvSpPr>
        <p:spPr/>
        <p:txBody>
          <a:bodyPr/>
          <a:lstStyle/>
          <a:p>
            <a:r>
              <a:rPr lang="en-US"/>
              <a:t>BMSIT&amp;M, CSE                                 </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6/3/2026</a:t>
            </a:r>
          </a:p>
        </p:txBody>
      </p:sp>
      <p:sp>
        <p:nvSpPr>
          <p:cNvPr id="5" name="Footer Placeholder 4"/>
          <p:cNvSpPr>
            <a:spLocks noGrp="1"/>
          </p:cNvSpPr>
          <p:nvPr>
            <p:ph type="ftr" sz="quarter" idx="11"/>
          </p:nvPr>
        </p:nvSpPr>
        <p:spPr/>
        <p:txBody>
          <a:bodyPr/>
          <a:lstStyle/>
          <a:p>
            <a:r>
              <a:rPr lang="en-US"/>
              <a:t>BMSIT&amp;M, CSE                                 </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6/3/2026</a:t>
            </a:r>
          </a:p>
        </p:txBody>
      </p:sp>
      <p:sp>
        <p:nvSpPr>
          <p:cNvPr id="5" name="Footer Placeholder 4"/>
          <p:cNvSpPr>
            <a:spLocks noGrp="1"/>
          </p:cNvSpPr>
          <p:nvPr>
            <p:ph type="ftr" sz="quarter" idx="11"/>
          </p:nvPr>
        </p:nvSpPr>
        <p:spPr/>
        <p:txBody>
          <a:bodyPr/>
          <a:lstStyle/>
          <a:p>
            <a:r>
              <a:rPr lang="en-US"/>
              <a:t>BMSIT&amp;M, CSE                                 </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6/3/2026</a:t>
            </a: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BMSIT&amp;M, CSE                                 </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6927" y="1698208"/>
            <a:ext cx="8887521" cy="880400"/>
          </a:xfrm>
        </p:spPr>
        <p:txBody>
          <a:bodyPr>
            <a:noAutofit/>
          </a:bodyPr>
          <a:lstStyle/>
          <a:p>
            <a:r>
              <a:rPr lang="en-US" sz="3200" b="1" dirty="0">
                <a:solidFill>
                  <a:schemeClr val="accent1">
                    <a:lumMod val="50000"/>
                  </a:schemeClr>
                </a:solidFill>
                <a:latin typeface="Times New Roman" panose="02020603050405020304" pitchFamily="18" charset="0"/>
                <a:cs typeface="Times New Roman" panose="02020603050405020304" pitchFamily="18" charset="0"/>
              </a:rPr>
              <a:t>Department of Computer Science and Engineering</a:t>
            </a:r>
            <a:endParaRPr sz="32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28625" y="3056146"/>
            <a:ext cx="10866049" cy="3683660"/>
          </a:xfrm>
        </p:spPr>
        <p:txBody>
          <a:bodyPr>
            <a:normAutofit fontScale="25000" lnSpcReduction="20000"/>
          </a:bodyPr>
          <a:lstStyle/>
          <a:p>
            <a:pPr lvl="0">
              <a:spcBef>
                <a:spcPts val="0"/>
              </a:spcBef>
              <a:buSzPct val="100000"/>
            </a:pPr>
            <a:r>
              <a:rPr lang="en-US" sz="7400" b="1" dirty="0">
                <a:solidFill>
                  <a:srgbClr val="FF0000"/>
                </a:solidFill>
                <a:latin typeface="Century Schoolbook"/>
                <a:ea typeface="Century Schoolbook"/>
                <a:cs typeface="Century Schoolbook"/>
                <a:sym typeface="Century Schoolbook"/>
              </a:rPr>
              <a:t>REAL TIME AI/ML QUISHING AND SMISHING DETECTION AND PREVENTION SYSTEM</a:t>
            </a:r>
          </a:p>
          <a:p>
            <a:pPr>
              <a:spcBef>
                <a:spcPts val="776"/>
              </a:spcBef>
              <a:buClr>
                <a:schemeClr val="dk2"/>
              </a:buClr>
              <a:buSzPct val="100000"/>
            </a:pPr>
            <a:endParaRPr lang="en-US" sz="3700" b="1" dirty="0">
              <a:latin typeface="Times New Roman" panose="02020603050405020304" pitchFamily="18" charset="0"/>
              <a:ea typeface="Century Schoolbook"/>
              <a:cs typeface="Times New Roman" panose="02020603050405020304" pitchFamily="18" charset="0"/>
              <a:sym typeface="Century Schoolbook"/>
            </a:endParaRPr>
          </a:p>
          <a:p>
            <a:pPr>
              <a:spcBef>
                <a:spcPts val="776"/>
              </a:spcBef>
              <a:buClr>
                <a:schemeClr val="dk2"/>
              </a:buClr>
              <a:buSzPct val="100000"/>
            </a:pPr>
            <a:r>
              <a:rPr lang="en-US" sz="5600" b="1" dirty="0">
                <a:latin typeface="Times New Roman" panose="02020603050405020304" pitchFamily="18" charset="0"/>
                <a:ea typeface="Century Schoolbook"/>
                <a:cs typeface="Times New Roman" panose="02020603050405020304" pitchFamily="18" charset="0"/>
                <a:sym typeface="Century Schoolbook"/>
              </a:rPr>
              <a:t>NITHIN NAIK.R(1BY23CS152)</a:t>
            </a:r>
          </a:p>
          <a:p>
            <a:pPr>
              <a:spcBef>
                <a:spcPts val="776"/>
              </a:spcBef>
              <a:buClr>
                <a:schemeClr val="dk2"/>
              </a:buClr>
              <a:buSzPct val="100000"/>
            </a:pPr>
            <a:r>
              <a:rPr lang="en-US" sz="5600" b="1" dirty="0">
                <a:latin typeface="Times New Roman" panose="02020603050405020304" pitchFamily="18" charset="0"/>
                <a:cs typeface="Times New Roman" panose="02020603050405020304" pitchFamily="18" charset="0"/>
              </a:rPr>
              <a:t>S MD UMAR(1BY23CS190)</a:t>
            </a:r>
          </a:p>
          <a:p>
            <a:pPr>
              <a:spcBef>
                <a:spcPts val="776"/>
              </a:spcBef>
              <a:buClr>
                <a:schemeClr val="dk2"/>
              </a:buClr>
              <a:buSzPct val="100000"/>
            </a:pPr>
            <a:r>
              <a:rPr lang="en-US" sz="5600" b="1" dirty="0">
                <a:latin typeface="Times New Roman" panose="02020603050405020304" pitchFamily="18" charset="0"/>
                <a:cs typeface="Times New Roman" panose="02020603050405020304" pitchFamily="18" charset="0"/>
              </a:rPr>
              <a:t>SAGAR S.H(1BY24CS415)</a:t>
            </a:r>
          </a:p>
          <a:p>
            <a:pPr>
              <a:spcBef>
                <a:spcPts val="776"/>
              </a:spcBef>
              <a:buClr>
                <a:schemeClr val="dk2"/>
              </a:buClr>
              <a:buSzPct val="100000"/>
            </a:pPr>
            <a:r>
              <a:rPr lang="en-US" sz="5600" b="1" dirty="0">
                <a:latin typeface="Times New Roman" panose="02020603050405020304" pitchFamily="18" charset="0"/>
                <a:ea typeface="Century Schoolbook"/>
                <a:cs typeface="Times New Roman" panose="02020603050405020304" pitchFamily="18" charset="0"/>
                <a:sym typeface="Century Schoolbook"/>
              </a:rPr>
              <a:t>PRASHANTH(1BY23CS161)</a:t>
            </a:r>
            <a:endParaRPr lang="en-US" sz="5600" dirty="0">
              <a:latin typeface="Times New Roman" panose="02020603050405020304" pitchFamily="18" charset="0"/>
              <a:cs typeface="Times New Roman" panose="02020603050405020304" pitchFamily="18" charset="0"/>
            </a:endParaRPr>
          </a:p>
          <a:p>
            <a:pPr>
              <a:spcBef>
                <a:spcPts val="776"/>
              </a:spcBef>
              <a:buClr>
                <a:schemeClr val="dk2"/>
              </a:buClr>
              <a:buSzPct val="100000"/>
            </a:pPr>
            <a:endParaRPr lang="en-US" b="1" dirty="0">
              <a:latin typeface="Times New Roman" panose="02020603050405020304" pitchFamily="18" charset="0"/>
              <a:ea typeface="Century Schoolbook"/>
              <a:cs typeface="Times New Roman" panose="02020603050405020304" pitchFamily="18" charset="0"/>
              <a:sym typeface="Century Schoolbook"/>
            </a:endParaRPr>
          </a:p>
          <a:p>
            <a:pPr>
              <a:spcBef>
                <a:spcPts val="820"/>
              </a:spcBef>
              <a:buClr>
                <a:schemeClr val="dk2"/>
              </a:buClr>
              <a:buSzPct val="100000"/>
            </a:pPr>
            <a:r>
              <a:rPr lang="en-US" sz="5600" b="1" dirty="0">
                <a:latin typeface="Times New Roman" panose="02020603050405020304" pitchFamily="18" charset="0"/>
                <a:ea typeface="Century Schoolbook"/>
                <a:cs typeface="Times New Roman" panose="02020603050405020304" pitchFamily="18" charset="0"/>
                <a:sym typeface="Century Schoolbook"/>
              </a:rPr>
              <a:t>UNDER THE GUIDANCE OF:</a:t>
            </a:r>
            <a:endParaRPr lang="en-US" sz="5600" dirty="0">
              <a:latin typeface="Times New Roman" panose="02020603050405020304" pitchFamily="18" charset="0"/>
              <a:cs typeface="Times New Roman" panose="02020603050405020304" pitchFamily="18" charset="0"/>
            </a:endParaRPr>
          </a:p>
          <a:p>
            <a:pPr lvl="0">
              <a:spcBef>
                <a:spcPts val="809"/>
              </a:spcBef>
              <a:buClr>
                <a:schemeClr val="dk2"/>
              </a:buClr>
              <a:buSzPct val="100000"/>
            </a:pPr>
            <a:r>
              <a:rPr lang="en-US" sz="5600" b="1" dirty="0">
                <a:latin typeface="Times New Roman" panose="02020603050405020304" pitchFamily="18" charset="0"/>
                <a:ea typeface="Century Schoolbook"/>
                <a:cs typeface="Times New Roman" panose="02020603050405020304" pitchFamily="18" charset="0"/>
                <a:sym typeface="Century Schoolbook"/>
              </a:rPr>
              <a:t>Prof. BRUNDA S</a:t>
            </a:r>
          </a:p>
          <a:p>
            <a:pPr lvl="0">
              <a:spcBef>
                <a:spcPts val="809"/>
              </a:spcBef>
              <a:buClr>
                <a:schemeClr val="dk2"/>
              </a:buClr>
              <a:buSzPct val="100000"/>
            </a:pPr>
            <a:r>
              <a:rPr lang="en-IN" sz="5600" b="1" dirty="0">
                <a:latin typeface="Times New Roman" panose="02020603050405020304" pitchFamily="18" charset="0"/>
                <a:ea typeface="Century Schoolbook"/>
                <a:cs typeface="Times New Roman" panose="02020603050405020304" pitchFamily="18" charset="0"/>
                <a:sym typeface="Century Schoolbook"/>
              </a:rPr>
              <a:t>Assistant Professor</a:t>
            </a:r>
          </a:p>
          <a:p>
            <a:pPr>
              <a:spcBef>
                <a:spcPts val="809"/>
              </a:spcBef>
              <a:buClr>
                <a:schemeClr val="dk2"/>
              </a:buClr>
              <a:buSzPct val="100000"/>
            </a:pPr>
            <a:r>
              <a:rPr lang="en-US" sz="5600" b="1" dirty="0">
                <a:latin typeface="Times New Roman" panose="02020603050405020304" pitchFamily="18" charset="0"/>
                <a:ea typeface="Century Schoolbook"/>
                <a:cs typeface="Times New Roman" panose="02020603050405020304" pitchFamily="18" charset="0"/>
                <a:sym typeface="Century Schoolbook"/>
              </a:rPr>
              <a:t>DEPT. OF CSE</a:t>
            </a:r>
            <a:endParaRPr lang="en-US" sz="5600" dirty="0">
              <a:latin typeface="Times New Roman" panose="02020603050405020304" pitchFamily="18" charset="0"/>
              <a:cs typeface="Times New Roman" panose="02020603050405020304" pitchFamily="18" charset="0"/>
            </a:endParaRPr>
          </a:p>
          <a:p>
            <a:pPr>
              <a:spcBef>
                <a:spcPts val="809"/>
              </a:spcBef>
              <a:buClr>
                <a:schemeClr val="dk2"/>
              </a:buClr>
              <a:buSzPct val="100000"/>
            </a:pPr>
            <a:r>
              <a:rPr lang="en-US" sz="5600" b="1" dirty="0">
                <a:latin typeface="Times New Roman" panose="02020603050405020304" pitchFamily="18" charset="0"/>
                <a:ea typeface="Century Schoolbook"/>
                <a:cs typeface="Times New Roman" panose="02020603050405020304" pitchFamily="18" charset="0"/>
                <a:sym typeface="Century Schoolbook"/>
              </a:rPr>
              <a:t>BMSIT&amp;M</a:t>
            </a:r>
            <a:endParaRPr lang="en-US" sz="5600" dirty="0">
              <a:latin typeface="Times New Roman" panose="02020603050405020304" pitchFamily="18" charset="0"/>
              <a:cs typeface="Times New Roman" panose="02020603050405020304" pitchFamily="18" charset="0"/>
            </a:endParaRPr>
          </a:p>
          <a:p>
            <a:pPr>
              <a:spcBef>
                <a:spcPts val="809"/>
              </a:spcBef>
              <a:buClr>
                <a:schemeClr val="dk2"/>
              </a:buClr>
              <a:buSzPct val="100000"/>
            </a:pPr>
            <a:r>
              <a:rPr lang="en-US" sz="5600" b="1" dirty="0">
                <a:latin typeface="Times New Roman" panose="02020603050405020304" pitchFamily="18" charset="0"/>
                <a:ea typeface="Century Schoolbook"/>
                <a:cs typeface="Times New Roman" panose="02020603050405020304" pitchFamily="18" charset="0"/>
                <a:sym typeface="Century Schoolbook"/>
              </a:rPr>
              <a:t>2025-26</a:t>
            </a:r>
            <a:endParaRPr lang="en-US" sz="5600" dirty="0">
              <a:latin typeface="Times New Roman" panose="02020603050405020304" pitchFamily="18" charset="0"/>
              <a:cs typeface="Times New Roman" panose="02020603050405020304" pitchFamily="18" charset="0"/>
            </a:endParaRPr>
          </a:p>
          <a:p>
            <a:endParaRPr dirty="0"/>
          </a:p>
        </p:txBody>
      </p:sp>
      <p:pic>
        <p:nvPicPr>
          <p:cNvPr id="1028" name="Picture 4" descr="logo">
            <a:extLst>
              <a:ext uri="{FF2B5EF4-FFF2-40B4-BE49-F238E27FC236}">
                <a16:creationId xmlns:a16="http://schemas.microsoft.com/office/drawing/2014/main" id="{3E1624B9-242F-355A-EE27-143D87BDAC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722" y="-98886"/>
            <a:ext cx="9012936" cy="2014174"/>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45F9DE8D-BEDA-78E6-1063-A5D3E745CFDB}"/>
              </a:ext>
            </a:extLst>
          </p:cNvPr>
          <p:cNvSpPr txBox="1">
            <a:spLocks/>
          </p:cNvSpPr>
          <p:nvPr/>
        </p:nvSpPr>
        <p:spPr>
          <a:xfrm>
            <a:off x="2781300" y="2377177"/>
            <a:ext cx="6629400" cy="8804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800" b="1" dirty="0">
                <a:solidFill>
                  <a:schemeClr val="accent2">
                    <a:lumMod val="75000"/>
                  </a:schemeClr>
                </a:solidFill>
                <a:latin typeface="Times New Roman" panose="02020603050405020304" pitchFamily="18" charset="0"/>
                <a:cs typeface="Times New Roman" panose="02020603050405020304" pitchFamily="18" charset="0"/>
              </a:rPr>
              <a:t>Major Project – Phase 1 - Review 1</a:t>
            </a:r>
          </a:p>
        </p:txBody>
      </p:sp>
      <p:pic>
        <p:nvPicPr>
          <p:cNvPr id="8" name="Picture 7">
            <a:extLst>
              <a:ext uri="{FF2B5EF4-FFF2-40B4-BE49-F238E27FC236}">
                <a16:creationId xmlns:a16="http://schemas.microsoft.com/office/drawing/2014/main" id="{CCD92D58-DEFF-AD49-E9A6-3F6683070D95}"/>
              </a:ext>
            </a:extLst>
          </p:cNvPr>
          <p:cNvPicPr>
            <a:picLocks noChangeAspect="1"/>
          </p:cNvPicPr>
          <p:nvPr/>
        </p:nvPicPr>
        <p:blipFill>
          <a:blip r:embed="rId3"/>
          <a:srcRect r="88830"/>
          <a:stretch>
            <a:fillRect/>
          </a:stretch>
        </p:blipFill>
        <p:spPr>
          <a:xfrm>
            <a:off x="10242071" y="115696"/>
            <a:ext cx="1596807" cy="15800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273215"/>
            <a:ext cx="10972800" cy="4852949"/>
          </a:xfrm>
        </p:spPr>
        <p:txBody>
          <a:bodyPr>
            <a:normAutofit/>
          </a:bodyPr>
          <a:lstStyle/>
          <a:p>
            <a:pPr marL="88900" indent="0">
              <a:lnSpc>
                <a:spcPct val="115000"/>
              </a:lnSpc>
              <a:spcBef>
                <a:spcPts val="0"/>
              </a:spcBef>
              <a:buSzPts val="2200"/>
              <a:buNone/>
            </a:pPr>
            <a:r>
              <a:rPr lang="en-US" sz="1900" dirty="0">
                <a:latin typeface="Times New Roman" panose="02020603050405020304" pitchFamily="18" charset="0"/>
                <a:cs typeface="Times New Roman" panose="02020603050405020304" pitchFamily="18" charset="0"/>
              </a:rPr>
              <a:t>In today’s digital world, mobile users depend heavily on QR codes and SMS messages for banking and payments, making them vulnerable to phishing attacks. QR phishing and SMS phishing exploit user trust by delivering malicious links that often bypass traditional security systems.</a:t>
            </a:r>
          </a:p>
          <a:p>
            <a:pPr marL="88900" indent="0">
              <a:lnSpc>
                <a:spcPct val="115000"/>
              </a:lnSpc>
              <a:spcBef>
                <a:spcPts val="0"/>
              </a:spcBef>
              <a:buSzPts val="2200"/>
              <a:buNone/>
            </a:pPr>
            <a:r>
              <a:rPr lang="en-US" sz="1900" dirty="0">
                <a:latin typeface="Times New Roman" panose="02020603050405020304" pitchFamily="18" charset="0"/>
                <a:cs typeface="Times New Roman" panose="02020603050405020304" pitchFamily="18" charset="0"/>
              </a:rPr>
              <a:t>Most existing solutions rely on blacklists and external APIs, which fail to detect newly generated (zero-day) phishing attacks and raise concerns related to privacy and delayed response. As attackers continuously create new domains and deceptive message patterns, users remain exposed to financial loss and data theft. Therefore, there is a need for a self-contained, intelligent detection system that can proactively identify suspicious patterns and protect users against emerging QR and SMS-based phishing threats without relying on external services.</a:t>
            </a:r>
          </a:p>
          <a:p>
            <a:pPr marL="88900" indent="0">
              <a:lnSpc>
                <a:spcPct val="115000"/>
              </a:lnSpc>
              <a:spcBef>
                <a:spcPts val="0"/>
              </a:spcBef>
              <a:buSzPts val="2200"/>
              <a:buNone/>
            </a:pPr>
            <a:r>
              <a:rPr lang="en-US" sz="1900" dirty="0">
                <a:latin typeface="Times New Roman" panose="02020603050405020304" pitchFamily="18" charset="0"/>
                <a:cs typeface="Times New Roman" panose="02020603050405020304" pitchFamily="18" charset="0"/>
              </a:rPr>
              <a:t>The targeted users of this system include </a:t>
            </a:r>
            <a:r>
              <a:rPr lang="en-US" sz="1900" b="1" dirty="0">
                <a:latin typeface="Times New Roman" panose="02020603050405020304" pitchFamily="18" charset="0"/>
                <a:cs typeface="Times New Roman" panose="02020603050405020304" pitchFamily="18" charset="0"/>
              </a:rPr>
              <a:t>mobile banking users(UPI), elderly users, students, and organizations that rely on digital payments and mobile communication</a:t>
            </a:r>
            <a:r>
              <a:rPr lang="en-US" sz="1900" dirty="0">
                <a:latin typeface="Times New Roman" panose="02020603050405020304" pitchFamily="18" charset="0"/>
                <a:cs typeface="Times New Roman" panose="02020603050405020304" pitchFamily="18" charset="0"/>
              </a:rPr>
              <a:t>.</a:t>
            </a:r>
            <a:endParaRPr sz="19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B924D67-2A6E-AFE7-E2CB-5FCFC8042691}"/>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6/3/2026</a:t>
            </a:r>
          </a:p>
        </p:txBody>
      </p:sp>
      <p:sp>
        <p:nvSpPr>
          <p:cNvPr id="5" name="Footer Placeholder 4">
            <a:extLst>
              <a:ext uri="{FF2B5EF4-FFF2-40B4-BE49-F238E27FC236}">
                <a16:creationId xmlns:a16="http://schemas.microsoft.com/office/drawing/2014/main" id="{8F686765-11AC-DBC6-7EC6-F18C80C9B9FC}"/>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728510E2-0DDE-FD8C-4D14-B15788DD4927}"/>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2</a:t>
            </a:fld>
            <a:endParaRPr lang="en-US">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58D6BDE-8564-393F-223F-4B5B57677A12}"/>
              </a:ext>
            </a:extLst>
          </p:cNvPr>
          <p:cNvSpPr txBox="1"/>
          <p:nvPr/>
        </p:nvSpPr>
        <p:spPr>
          <a:xfrm>
            <a:off x="1446835" y="192447"/>
            <a:ext cx="9398643" cy="861774"/>
          </a:xfrm>
          <a:prstGeom prst="rect">
            <a:avLst/>
          </a:prstGeom>
          <a:solidFill>
            <a:schemeClr val="accent1">
              <a:lumMod val="40000"/>
              <a:lumOff val="60000"/>
            </a:schemeClr>
          </a:solidFill>
          <a:ln w="28575">
            <a:solidFill>
              <a:schemeClr val="accent4">
                <a:lumMod val="75000"/>
              </a:schemeClr>
            </a:solidFill>
          </a:ln>
        </p:spPr>
        <p:txBody>
          <a:bodyPr wrap="square" rtlCol="0">
            <a:spAutoFit/>
          </a:bodyPr>
          <a:lstStyle/>
          <a:p>
            <a:pPr algn="ctr"/>
            <a:r>
              <a:rPr lang="en-US" sz="5000" dirty="0">
                <a:latin typeface="Times New Roman" panose="02020603050405020304" pitchFamily="18" charset="0"/>
                <a:cs typeface="Times New Roman" panose="02020603050405020304" pitchFamily="18" charset="0"/>
              </a:rPr>
              <a:t>Problem Statement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The rapid growth of </a:t>
            </a:r>
            <a:r>
              <a:rPr lang="en-US" sz="2000" b="1" dirty="0">
                <a:latin typeface="Times New Roman" panose="02020603050405020304" pitchFamily="18" charset="0"/>
                <a:cs typeface="Times New Roman" panose="02020603050405020304" pitchFamily="18" charset="0"/>
              </a:rPr>
              <a:t>QR-code–based scan and SMS communication</a:t>
            </a:r>
            <a:r>
              <a:rPr lang="en-US" sz="2000" dirty="0">
                <a:latin typeface="Times New Roman" panose="02020603050405020304" pitchFamily="18" charset="0"/>
                <a:cs typeface="Times New Roman" panose="02020603050405020304" pitchFamily="18" charset="0"/>
              </a:rPr>
              <a:t> has significantly increased the risk of phishing attacks targeting mobile users. Many existing security solutions depend heavily on </a:t>
            </a:r>
            <a:r>
              <a:rPr lang="en-US" sz="2000" b="1" dirty="0">
                <a:latin typeface="Times New Roman" panose="02020603050405020304" pitchFamily="18" charset="0"/>
                <a:cs typeface="Times New Roman" panose="02020603050405020304" pitchFamily="18" charset="0"/>
              </a:rPr>
              <a:t>blacklists and external APIs</a:t>
            </a:r>
            <a:r>
              <a:rPr lang="en-US" sz="2000" dirty="0">
                <a:latin typeface="Times New Roman" panose="02020603050405020304" pitchFamily="18" charset="0"/>
                <a:cs typeface="Times New Roman" panose="02020603050405020304" pitchFamily="18" charset="0"/>
              </a:rPr>
              <a:t> to identify malicious links, but these approaches are ineffective against </a:t>
            </a:r>
            <a:r>
              <a:rPr lang="en-US" sz="2000" b="1" dirty="0">
                <a:latin typeface="Times New Roman" panose="02020603050405020304" pitchFamily="18" charset="0"/>
                <a:cs typeface="Times New Roman" panose="02020603050405020304" pitchFamily="18" charset="0"/>
              </a:rPr>
              <a:t>zero-day attacks</a:t>
            </a:r>
            <a:r>
              <a:rPr lang="en-US" sz="2000" dirty="0">
                <a:latin typeface="Times New Roman" panose="02020603050405020304" pitchFamily="18" charset="0"/>
                <a:cs typeface="Times New Roman" panose="02020603050405020304" pitchFamily="18" charset="0"/>
              </a:rPr>
              <a:t>, where newly created phishing domains are not yet listed in security databases. Cyber attackers continuously generate </a:t>
            </a:r>
            <a:r>
              <a:rPr lang="en-US" sz="2000" b="1" dirty="0">
                <a:latin typeface="Times New Roman" panose="02020603050405020304" pitchFamily="18" charset="0"/>
                <a:cs typeface="Times New Roman" panose="02020603050405020304" pitchFamily="18" charset="0"/>
              </a:rPr>
              <a:t>new phishing websites and deceptive SMS messages</a:t>
            </a:r>
            <a:r>
              <a:rPr lang="en-US" sz="2000" dirty="0">
                <a:latin typeface="Times New Roman" panose="02020603050405020304" pitchFamily="18" charset="0"/>
                <a:cs typeface="Times New Roman" panose="02020603050405020304" pitchFamily="18" charset="0"/>
              </a:rPr>
              <a:t> that can easily bypass traditional rule-based or signature-based detection systems. Therefore, there is a strong need for a </a:t>
            </a:r>
            <a:r>
              <a:rPr lang="en-US" sz="2000" b="1" dirty="0">
                <a:latin typeface="Times New Roman" panose="02020603050405020304" pitchFamily="18" charset="0"/>
                <a:cs typeface="Times New Roman" panose="02020603050405020304" pitchFamily="18" charset="0"/>
              </a:rPr>
              <a:t>real-time AI/ML-based detection system</a:t>
            </a:r>
            <a:r>
              <a:rPr lang="en-US" sz="2000" dirty="0">
                <a:latin typeface="Times New Roman" panose="02020603050405020304" pitchFamily="18" charset="0"/>
                <a:cs typeface="Times New Roman" panose="02020603050405020304" pitchFamily="18" charset="0"/>
              </a:rPr>
              <a:t> capable of intelligently analyzing messages and QR codes to identify suspicious patterns. Such a system can help protect users from </a:t>
            </a:r>
            <a:r>
              <a:rPr lang="en-US" sz="2000" b="1" dirty="0">
                <a:latin typeface="Times New Roman" panose="02020603050405020304" pitchFamily="18" charset="0"/>
                <a:cs typeface="Times New Roman" panose="02020603050405020304" pitchFamily="18" charset="0"/>
              </a:rPr>
              <a:t>financial loss, identity theft, and other cyber fraud</a:t>
            </a:r>
            <a:r>
              <a:rPr lang="en-US" sz="2000" dirty="0">
                <a:latin typeface="Times New Roman" panose="02020603050405020304" pitchFamily="18" charset="0"/>
                <a:cs typeface="Times New Roman" panose="02020603050405020304" pitchFamily="18" charset="0"/>
              </a:rPr>
              <a:t>, while improving overall security in digital payment and communication platforms. </a:t>
            </a:r>
          </a:p>
        </p:txBody>
      </p:sp>
      <p:sp>
        <p:nvSpPr>
          <p:cNvPr id="4" name="Date Placeholder 3">
            <a:extLst>
              <a:ext uri="{FF2B5EF4-FFF2-40B4-BE49-F238E27FC236}">
                <a16:creationId xmlns:a16="http://schemas.microsoft.com/office/drawing/2014/main" id="{CAB7AD8C-AFF8-AB30-424F-E36B50FD7DA9}"/>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6/3/2026</a:t>
            </a:r>
          </a:p>
        </p:txBody>
      </p:sp>
      <p:sp>
        <p:nvSpPr>
          <p:cNvPr id="5" name="Footer Placeholder 4">
            <a:extLst>
              <a:ext uri="{FF2B5EF4-FFF2-40B4-BE49-F238E27FC236}">
                <a16:creationId xmlns:a16="http://schemas.microsoft.com/office/drawing/2014/main" id="{99BDF0AD-F96A-5483-8AF7-C46B097B451D}"/>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9610035A-15EC-C8D2-FE8D-58A0184C7853}"/>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3</a:t>
            </a:fld>
            <a:endParaRPr lang="en-US">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70964F1-2503-4F9E-EC83-D7F6AE416084}"/>
              </a:ext>
            </a:extLst>
          </p:cNvPr>
          <p:cNvSpPr txBox="1">
            <a:spLocks/>
          </p:cNvSpPr>
          <p:nvPr/>
        </p:nvSpPr>
        <p:spPr>
          <a:xfrm>
            <a:off x="1371601" y="305071"/>
            <a:ext cx="9590048" cy="114300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Motivation</a:t>
            </a:r>
            <a:endParaRPr lang="en-IN"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0796CD0-92E9-F299-18C3-1ED1B59A801B}"/>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6/3/2026</a:t>
            </a:r>
          </a:p>
        </p:txBody>
      </p:sp>
      <p:sp>
        <p:nvSpPr>
          <p:cNvPr id="5" name="Footer Placeholder 4">
            <a:extLst>
              <a:ext uri="{FF2B5EF4-FFF2-40B4-BE49-F238E27FC236}">
                <a16:creationId xmlns:a16="http://schemas.microsoft.com/office/drawing/2014/main" id="{271222F5-0719-5489-7FBC-7FB70ECFFBB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05934D60-3CB9-7FCA-FC82-653CC23FDFD3}"/>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4</a:t>
            </a:fld>
            <a:endParaRPr lang="en-US">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34B7F7AB-38B6-8CA3-C191-B23656555899}"/>
              </a:ext>
            </a:extLst>
          </p:cNvPr>
          <p:cNvSpPr txBox="1">
            <a:spLocks/>
          </p:cNvSpPr>
          <p:nvPr/>
        </p:nvSpPr>
        <p:spPr>
          <a:xfrm>
            <a:off x="2250440" y="162370"/>
            <a:ext cx="7889240" cy="82315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sz="4000" dirty="0">
                <a:latin typeface="Times New Roman" panose="02020603050405020304" pitchFamily="18" charset="0"/>
                <a:cs typeface="Times New Roman" panose="02020603050405020304" pitchFamily="18" charset="0"/>
              </a:rPr>
              <a:t>Literature Survey (Tabular column)</a:t>
            </a:r>
            <a:endParaRPr lang="en-IN" sz="4000" dirty="0">
              <a:latin typeface="Times New Roman" panose="02020603050405020304" pitchFamily="18" charset="0"/>
              <a:ea typeface="Cambria" panose="020405030504060302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5DCDB9F4-AEB9-05E7-E1D9-F62F6431FC08}"/>
              </a:ext>
            </a:extLst>
          </p:cNvPr>
          <p:cNvGraphicFramePr>
            <a:graphicFrameLocks noGrp="1"/>
          </p:cNvGraphicFramePr>
          <p:nvPr>
            <p:extLst>
              <p:ext uri="{D42A27DB-BD31-4B8C-83A1-F6EECF244321}">
                <p14:modId xmlns:p14="http://schemas.microsoft.com/office/powerpoint/2010/main" val="540641315"/>
              </p:ext>
            </p:extLst>
          </p:nvPr>
        </p:nvGraphicFramePr>
        <p:xfrm>
          <a:off x="876300" y="1072409"/>
          <a:ext cx="9973946" cy="5445760"/>
        </p:xfrm>
        <a:graphic>
          <a:graphicData uri="http://schemas.openxmlformats.org/drawingml/2006/table">
            <a:tbl>
              <a:tblPr firstRow="1" bandRow="1">
                <a:tableStyleId>{073A0DAA-6AF3-43AB-8588-CEC1D06C72B9}</a:tableStyleId>
              </a:tblPr>
              <a:tblGrid>
                <a:gridCol w="3306446">
                  <a:extLst>
                    <a:ext uri="{9D8B030D-6E8A-4147-A177-3AD203B41FA5}">
                      <a16:colId xmlns:a16="http://schemas.microsoft.com/office/drawing/2014/main" val="1611330807"/>
                    </a:ext>
                  </a:extLst>
                </a:gridCol>
                <a:gridCol w="3667817">
                  <a:extLst>
                    <a:ext uri="{9D8B030D-6E8A-4147-A177-3AD203B41FA5}">
                      <a16:colId xmlns:a16="http://schemas.microsoft.com/office/drawing/2014/main" val="697753675"/>
                    </a:ext>
                  </a:extLst>
                </a:gridCol>
                <a:gridCol w="2999683">
                  <a:extLst>
                    <a:ext uri="{9D8B030D-6E8A-4147-A177-3AD203B41FA5}">
                      <a16:colId xmlns:a16="http://schemas.microsoft.com/office/drawing/2014/main" val="1627392999"/>
                    </a:ext>
                  </a:extLst>
                </a:gridCol>
              </a:tblGrid>
              <a:tr h="370840">
                <a:tc>
                  <a:txBody>
                    <a:bodyPr/>
                    <a:lstStyle/>
                    <a:p>
                      <a:r>
                        <a:rPr lang="en-US"/>
                        <a:t>Author, Paper title , Year</a:t>
                      </a:r>
                      <a:endParaRPr lang="en-IN" dirty="0"/>
                    </a:p>
                  </a:txBody>
                  <a:tcPr/>
                </a:tc>
                <a:tc>
                  <a:txBody>
                    <a:bodyPr/>
                    <a:lstStyle/>
                    <a:p>
                      <a:r>
                        <a:rPr lang="en-US" dirty="0"/>
                        <a:t>Key findings</a:t>
                      </a:r>
                      <a:endParaRPr lang="en-IN" dirty="0"/>
                    </a:p>
                  </a:txBody>
                  <a:tcPr/>
                </a:tc>
                <a:tc>
                  <a:txBody>
                    <a:bodyPr/>
                    <a:lstStyle/>
                    <a:p>
                      <a:r>
                        <a:rPr lang="en-US" dirty="0"/>
                        <a:t>Gaps</a:t>
                      </a:r>
                      <a:endParaRPr lang="en-IN" dirty="0"/>
                    </a:p>
                  </a:txBody>
                  <a:tcPr/>
                </a:tc>
                <a:extLst>
                  <a:ext uri="{0D108BD9-81ED-4DB2-BD59-A6C34878D82A}">
                    <a16:rowId xmlns:a16="http://schemas.microsoft.com/office/drawing/2014/main" val="340132610"/>
                  </a:ext>
                </a:extLst>
              </a:tr>
              <a:tr h="370840">
                <a:tc>
                  <a:txBody>
                    <a:bodyPr/>
                    <a:lstStyle/>
                    <a:p>
                      <a:r>
                        <a:rPr lang="en-IN" sz="1500" dirty="0">
                          <a:latin typeface="Times New Roman" panose="02020603050405020304" pitchFamily="18" charset="0"/>
                          <a:cs typeface="Times New Roman" panose="02020603050405020304" pitchFamily="18" charset="0"/>
                        </a:rPr>
                        <a:t>Luis Rivas, Varun Kumar Singh, Vinayak </a:t>
                      </a:r>
                      <a:r>
                        <a:rPr lang="en-IN" sz="1500" dirty="0" err="1">
                          <a:latin typeface="Times New Roman" panose="02020603050405020304" pitchFamily="18" charset="0"/>
                          <a:cs typeface="Times New Roman" panose="02020603050405020304" pitchFamily="18" charset="0"/>
                        </a:rPr>
                        <a:t>Khabdelwal</a:t>
                      </a:r>
                      <a:r>
                        <a:rPr lang="en-IN" sz="1500" dirty="0">
                          <a:latin typeface="Times New Roman" panose="02020603050405020304" pitchFamily="18" charset="0"/>
                          <a:cs typeface="Times New Roman" panose="02020603050405020304" pitchFamily="18" charset="0"/>
                        </a:rPr>
                        <a:t>, Lanier Watkins, “</a:t>
                      </a:r>
                      <a:r>
                        <a:rPr lang="en-US" sz="1500" dirty="0">
                          <a:latin typeface="Times New Roman" panose="02020603050405020304" pitchFamily="18" charset="0"/>
                          <a:cs typeface="Times New Roman" panose="02020603050405020304" pitchFamily="18" charset="0"/>
                        </a:rPr>
                        <a:t>Securing QR Codes Infrastructure Using AI to Detect Malicious Activity</a:t>
                      </a:r>
                      <a:r>
                        <a:rPr lang="en-IN"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2025 </a:t>
                      </a:r>
                      <a:endParaRPr lang="en-IN" sz="15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Based on threats in QR codes in areas such as </a:t>
                      </a:r>
                      <a:r>
                        <a:rPr lang="en-US" sz="1500" dirty="0" err="1">
                          <a:latin typeface="Times New Roman" panose="02020603050405020304" pitchFamily="18" charset="0"/>
                          <a:cs typeface="Times New Roman" panose="02020603050405020304" pitchFamily="18" charset="0"/>
                        </a:rPr>
                        <a:t>payments,Restaurants</a:t>
                      </a:r>
                      <a:r>
                        <a:rPr lang="en-US" sz="1500" dirty="0">
                          <a:latin typeface="Times New Roman" panose="02020603050405020304" pitchFamily="18" charset="0"/>
                          <a:cs typeface="Times New Roman" panose="02020603050405020304" pitchFamily="18" charset="0"/>
                        </a:rPr>
                        <a:t> &amp; information sharing.</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Proposed AP3X Secure QR code infrastructure(Web Based Platform).</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Distinguishes between URL and Non-URL content.</a:t>
                      </a:r>
                    </a:p>
                    <a:p>
                      <a:endParaRPr lang="en-IN" sz="15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Depend on 3</a:t>
                      </a:r>
                      <a:r>
                        <a:rPr lang="en-US" sz="1500" baseline="30000" dirty="0">
                          <a:latin typeface="Times New Roman" panose="02020603050405020304" pitchFamily="18" charset="0"/>
                          <a:cs typeface="Times New Roman" panose="02020603050405020304" pitchFamily="18" charset="0"/>
                        </a:rPr>
                        <a:t>rd</a:t>
                      </a:r>
                      <a:r>
                        <a:rPr lang="en-US" sz="1500" dirty="0">
                          <a:latin typeface="Times New Roman" panose="02020603050405020304" pitchFamily="18" charset="0"/>
                          <a:cs typeface="Times New Roman" panose="02020603050405020304" pitchFamily="18" charset="0"/>
                        </a:rPr>
                        <a:t> party APIs.</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Lack in evaluation on MLs Attacks.</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Potential dataset aging</a:t>
                      </a:r>
                    </a:p>
                  </a:txBody>
                  <a:tcPr/>
                </a:tc>
                <a:extLst>
                  <a:ext uri="{0D108BD9-81ED-4DB2-BD59-A6C34878D82A}">
                    <a16:rowId xmlns:a16="http://schemas.microsoft.com/office/drawing/2014/main" val="3470739557"/>
                  </a:ext>
                </a:extLst>
              </a:tr>
              <a:tr h="370840">
                <a:tc>
                  <a:txBody>
                    <a:bodyPr/>
                    <a:lstStyle/>
                    <a:p>
                      <a:r>
                        <a:rPr lang="en-IN" sz="1500" dirty="0" err="1">
                          <a:latin typeface="Times New Roman" panose="02020603050405020304" pitchFamily="18" charset="0"/>
                          <a:cs typeface="Times New Roman" panose="02020603050405020304" pitchFamily="18" charset="0"/>
                        </a:rPr>
                        <a:t>Zhursinbek</a:t>
                      </a:r>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Mukhammedali</a:t>
                      </a:r>
                      <a:r>
                        <a:rPr lang="en-IN" sz="1500" dirty="0">
                          <a:latin typeface="Times New Roman" panose="02020603050405020304" pitchFamily="18" charset="0"/>
                          <a:cs typeface="Times New Roman" panose="02020603050405020304" pitchFamily="18" charset="0"/>
                        </a:rPr>
                        <a:t>, Khan Vyacheslav, Abdul </a:t>
                      </a:r>
                      <a:r>
                        <a:rPr lang="en-IN" sz="1500" dirty="0" err="1">
                          <a:latin typeface="Times New Roman" panose="02020603050405020304" pitchFamily="18" charset="0"/>
                          <a:cs typeface="Times New Roman" panose="02020603050405020304" pitchFamily="18" charset="0"/>
                        </a:rPr>
                        <a:t>Razaque</a:t>
                      </a:r>
                      <a:r>
                        <a:rPr lang="en-IN" sz="1500" dirty="0">
                          <a:latin typeface="Times New Roman" panose="02020603050405020304" pitchFamily="18" charset="0"/>
                          <a:cs typeface="Times New Roman" panose="02020603050405020304" pitchFamily="18" charset="0"/>
                        </a:rPr>
                        <a:t>, M. Ajmal Khan, Zhuldyz </a:t>
                      </a:r>
                      <a:r>
                        <a:rPr lang="en-IN" sz="1500" dirty="0" err="1">
                          <a:latin typeface="Times New Roman" panose="02020603050405020304" pitchFamily="18" charset="0"/>
                          <a:cs typeface="Times New Roman" panose="02020603050405020304" pitchFamily="18" charset="0"/>
                        </a:rPr>
                        <a:t>Kalpeyeva</a:t>
                      </a:r>
                      <a:r>
                        <a:rPr lang="en-IN" sz="1500" dirty="0">
                          <a:latin typeface="Times New Roman" panose="02020603050405020304" pitchFamily="18" charset="0"/>
                          <a:cs typeface="Times New Roman" panose="02020603050405020304" pitchFamily="18" charset="0"/>
                        </a:rPr>
                        <a:t>,“</a:t>
                      </a:r>
                      <a:r>
                        <a:rPr lang="en-US" sz="1500" dirty="0">
                          <a:latin typeface="Times New Roman" panose="02020603050405020304" pitchFamily="18" charset="0"/>
                          <a:cs typeface="Times New Roman" panose="02020603050405020304" pitchFamily="18" charset="0"/>
                        </a:rPr>
                        <a:t>AI-Enhanced Security Framework for QR Codes</a:t>
                      </a:r>
                      <a:r>
                        <a:rPr lang="en-IN"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2025</a:t>
                      </a:r>
                      <a:endParaRPr lang="en-IN" sz="15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Threats Related to QR code Scans(Phishing).</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QR code lack encryption &amp; verification.</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AI enhanced Multilayer QR code Security.</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ML-models-</a:t>
                      </a:r>
                      <a:r>
                        <a:rPr lang="en-US" sz="1500" dirty="0" err="1">
                          <a:latin typeface="Times New Roman" panose="02020603050405020304" pitchFamily="18" charset="0"/>
                          <a:cs typeface="Times New Roman" panose="02020603050405020304" pitchFamily="18" charset="0"/>
                        </a:rPr>
                        <a:t>XGBoost,Random</a:t>
                      </a:r>
                      <a:r>
                        <a:rPr lang="en-US" sz="1500" dirty="0">
                          <a:latin typeface="Times New Roman" panose="02020603050405020304" pitchFamily="18" charset="0"/>
                          <a:cs typeface="Times New Roman" panose="02020603050405020304" pitchFamily="18" charset="0"/>
                        </a:rPr>
                        <a:t> forest </a:t>
                      </a:r>
                      <a:r>
                        <a:rPr lang="en-US" sz="1500" dirty="0" err="1">
                          <a:latin typeface="Times New Roman" panose="02020603050405020304" pitchFamily="18" charset="0"/>
                          <a:cs typeface="Times New Roman" panose="02020603050405020304" pitchFamily="18" charset="0"/>
                        </a:rPr>
                        <a:t>analyse</a:t>
                      </a:r>
                      <a:r>
                        <a:rPr lang="en-US" sz="1500" dirty="0">
                          <a:latin typeface="Times New Roman" panose="02020603050405020304" pitchFamily="18" charset="0"/>
                          <a:cs typeface="Times New Roman" panose="02020603050405020304" pitchFamily="18" charset="0"/>
                        </a:rPr>
                        <a:t>.</a:t>
                      </a:r>
                      <a:br>
                        <a:rPr lang="en-US" sz="1500" dirty="0">
                          <a:latin typeface="Times New Roman" panose="02020603050405020304" pitchFamily="18" charset="0"/>
                          <a:cs typeface="Times New Roman" panose="02020603050405020304" pitchFamily="18" charset="0"/>
                        </a:rPr>
                      </a:br>
                      <a:endParaRPr lang="en-IN" sz="15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High Cryptographic Verification Time.</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Limited Real-World Testing.</a:t>
                      </a:r>
                    </a:p>
                  </a:txBody>
                  <a:tcPr/>
                </a:tc>
                <a:extLst>
                  <a:ext uri="{0D108BD9-81ED-4DB2-BD59-A6C34878D82A}">
                    <a16:rowId xmlns:a16="http://schemas.microsoft.com/office/drawing/2014/main" val="4139945675"/>
                  </a:ext>
                </a:extLst>
              </a:tr>
              <a:tr h="370840">
                <a:tc>
                  <a:txBody>
                    <a:bodyPr/>
                    <a:lstStyle/>
                    <a:p>
                      <a:r>
                        <a:rPr lang="en-IN" sz="1500" dirty="0">
                          <a:latin typeface="Times New Roman" panose="02020603050405020304" pitchFamily="18" charset="0"/>
                          <a:cs typeface="Times New Roman" panose="02020603050405020304" pitchFamily="18" charset="0"/>
                        </a:rPr>
                        <a:t>Akshat Gaurav, Brij B. Gupta, Kwok Tai Chui, “</a:t>
                      </a:r>
                      <a:r>
                        <a:rPr lang="en-US" sz="1500" dirty="0">
                          <a:latin typeface="Times New Roman" panose="02020603050405020304" pitchFamily="18" charset="0"/>
                          <a:cs typeface="Times New Roman" panose="02020603050405020304" pitchFamily="18" charset="0"/>
                        </a:rPr>
                        <a:t>AI-Driven Smishing Detection in Android Devices Using </a:t>
                      </a:r>
                      <a:r>
                        <a:rPr lang="en-US" sz="1500" dirty="0" err="1">
                          <a:latin typeface="Times New Roman" panose="02020603050405020304" pitchFamily="18" charset="0"/>
                          <a:cs typeface="Times New Roman" panose="02020603050405020304" pitchFamily="18" charset="0"/>
                        </a:rPr>
                        <a:t>TinyBERT</a:t>
                      </a:r>
                      <a:r>
                        <a:rPr lang="en-US" sz="1500" dirty="0">
                          <a:latin typeface="Times New Roman" panose="02020603050405020304" pitchFamily="18" charset="0"/>
                          <a:cs typeface="Times New Roman" panose="02020603050405020304" pitchFamily="18" charset="0"/>
                        </a:rPr>
                        <a:t> and Aquila Optimization</a:t>
                      </a:r>
                      <a:r>
                        <a:rPr lang="en-IN" sz="1500" dirty="0">
                          <a:latin typeface="Times New Roman" panose="02020603050405020304" pitchFamily="18" charset="0"/>
                          <a:cs typeface="Times New Roman" panose="02020603050405020304" pitchFamily="18" charset="0"/>
                        </a:rPr>
                        <a:t>”,2025</a:t>
                      </a:r>
                    </a:p>
                  </a:txBody>
                  <a:tcPr/>
                </a:tc>
                <a:tc>
                  <a:txBody>
                    <a:bodyPr/>
                    <a:lstStyle/>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High Detection Accuracy.</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Aquila Optimization Improves Model Performance.</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Effective Smishing Detection Using </a:t>
                      </a:r>
                      <a:r>
                        <a:rPr lang="en-US" sz="1500" dirty="0" err="1">
                          <a:latin typeface="Times New Roman" panose="02020603050405020304" pitchFamily="18" charset="0"/>
                          <a:cs typeface="Times New Roman" panose="02020603050405020304" pitchFamily="18" charset="0"/>
                        </a:rPr>
                        <a:t>TinyBERT</a:t>
                      </a:r>
                      <a:r>
                        <a:rPr lang="en-US" sz="1500" dirty="0">
                          <a:latin typeface="Times New Roman" panose="02020603050405020304" pitchFamily="18" charset="0"/>
                          <a:cs typeface="Times New Roman" panose="02020603050405020304" pitchFamily="18" charset="0"/>
                        </a:rPr>
                        <a:t>.</a:t>
                      </a:r>
                      <a:endParaRPr lang="en-IN" sz="15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Dataset Dependency.</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Limited Evaluation on Real Devices.</a:t>
                      </a:r>
                      <a:endParaRPr lang="en-I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3674516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249A3-5269-AB6E-4DFF-D5BEBCE03BA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D019D93-5C43-7E96-BB47-3DCB68FCF04F}"/>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6/3/2026</a:t>
            </a:r>
          </a:p>
        </p:txBody>
      </p:sp>
      <p:sp>
        <p:nvSpPr>
          <p:cNvPr id="5" name="Footer Placeholder 4">
            <a:extLst>
              <a:ext uri="{FF2B5EF4-FFF2-40B4-BE49-F238E27FC236}">
                <a16:creationId xmlns:a16="http://schemas.microsoft.com/office/drawing/2014/main" id="{238521B3-C572-6752-EE6E-31C91D5B3A99}"/>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60169870-EF76-2379-AB71-9A2DD3CD6A45}"/>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5</a:t>
            </a:fld>
            <a:endParaRPr lang="en-US">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E246A9C7-6510-1777-74DB-43857109B557}"/>
              </a:ext>
            </a:extLst>
          </p:cNvPr>
          <p:cNvSpPr txBox="1">
            <a:spLocks/>
          </p:cNvSpPr>
          <p:nvPr/>
        </p:nvSpPr>
        <p:spPr>
          <a:xfrm>
            <a:off x="2250440" y="162370"/>
            <a:ext cx="7889240" cy="82315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sz="4000" dirty="0">
                <a:latin typeface="Times New Roman" panose="02020603050405020304" pitchFamily="18" charset="0"/>
                <a:cs typeface="Times New Roman" panose="02020603050405020304" pitchFamily="18" charset="0"/>
              </a:rPr>
              <a:t>Literature Survey (Tabular column)</a:t>
            </a:r>
            <a:endParaRPr lang="en-IN" sz="4000" dirty="0">
              <a:latin typeface="Times New Roman" panose="02020603050405020304" pitchFamily="18" charset="0"/>
              <a:ea typeface="Cambria" panose="020405030504060302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DAA20F42-6E25-1413-AA89-FC4D570D9FA0}"/>
              </a:ext>
            </a:extLst>
          </p:cNvPr>
          <p:cNvGraphicFramePr>
            <a:graphicFrameLocks noGrp="1"/>
          </p:cNvGraphicFramePr>
          <p:nvPr>
            <p:extLst>
              <p:ext uri="{D42A27DB-BD31-4B8C-83A1-F6EECF244321}">
                <p14:modId xmlns:p14="http://schemas.microsoft.com/office/powerpoint/2010/main" val="2552236794"/>
              </p:ext>
            </p:extLst>
          </p:nvPr>
        </p:nvGraphicFramePr>
        <p:xfrm>
          <a:off x="876300" y="1221422"/>
          <a:ext cx="9973946" cy="4838489"/>
        </p:xfrm>
        <a:graphic>
          <a:graphicData uri="http://schemas.openxmlformats.org/drawingml/2006/table">
            <a:tbl>
              <a:tblPr firstRow="1" bandRow="1">
                <a:tableStyleId>{073A0DAA-6AF3-43AB-8588-CEC1D06C72B9}</a:tableStyleId>
              </a:tblPr>
              <a:tblGrid>
                <a:gridCol w="3306446">
                  <a:extLst>
                    <a:ext uri="{9D8B030D-6E8A-4147-A177-3AD203B41FA5}">
                      <a16:colId xmlns:a16="http://schemas.microsoft.com/office/drawing/2014/main" val="1611330807"/>
                    </a:ext>
                  </a:extLst>
                </a:gridCol>
                <a:gridCol w="3667817">
                  <a:extLst>
                    <a:ext uri="{9D8B030D-6E8A-4147-A177-3AD203B41FA5}">
                      <a16:colId xmlns:a16="http://schemas.microsoft.com/office/drawing/2014/main" val="697753675"/>
                    </a:ext>
                  </a:extLst>
                </a:gridCol>
                <a:gridCol w="2999683">
                  <a:extLst>
                    <a:ext uri="{9D8B030D-6E8A-4147-A177-3AD203B41FA5}">
                      <a16:colId xmlns:a16="http://schemas.microsoft.com/office/drawing/2014/main" val="1627392999"/>
                    </a:ext>
                  </a:extLst>
                </a:gridCol>
              </a:tblGrid>
              <a:tr h="449369">
                <a:tc>
                  <a:txBody>
                    <a:bodyPr/>
                    <a:lstStyle/>
                    <a:p>
                      <a:r>
                        <a:rPr lang="en-US" dirty="0"/>
                        <a:t>Author, Paper title , Year</a:t>
                      </a:r>
                      <a:endParaRPr lang="en-IN" dirty="0"/>
                    </a:p>
                  </a:txBody>
                  <a:tcPr/>
                </a:tc>
                <a:tc>
                  <a:txBody>
                    <a:bodyPr/>
                    <a:lstStyle/>
                    <a:p>
                      <a:r>
                        <a:rPr lang="en-US" dirty="0"/>
                        <a:t>Key findings</a:t>
                      </a:r>
                      <a:endParaRPr lang="en-IN" dirty="0"/>
                    </a:p>
                  </a:txBody>
                  <a:tcPr/>
                </a:tc>
                <a:tc>
                  <a:txBody>
                    <a:bodyPr/>
                    <a:lstStyle/>
                    <a:p>
                      <a:r>
                        <a:rPr lang="en-US" dirty="0"/>
                        <a:t>Gaps</a:t>
                      </a:r>
                      <a:endParaRPr lang="en-IN" dirty="0"/>
                    </a:p>
                  </a:txBody>
                  <a:tcPr/>
                </a:tc>
                <a:extLst>
                  <a:ext uri="{0D108BD9-81ED-4DB2-BD59-A6C34878D82A}">
                    <a16:rowId xmlns:a16="http://schemas.microsoft.com/office/drawing/2014/main" val="340132610"/>
                  </a:ext>
                </a:extLst>
              </a:tr>
              <a:tr h="370840">
                <a:tc>
                  <a:txBody>
                    <a:bodyPr/>
                    <a:lstStyle/>
                    <a:p>
                      <a:r>
                        <a:rPr lang="en-IN" sz="1500" b="0" dirty="0">
                          <a:latin typeface="Times New Roman" panose="02020603050405020304" pitchFamily="18" charset="0"/>
                          <a:cs typeface="Times New Roman" panose="02020603050405020304" pitchFamily="18" charset="0"/>
                        </a:rPr>
                        <a:t>Saleem Raja Abdul Samad, Pradeepa Ganesan, Thangam </a:t>
                      </a:r>
                      <a:r>
                        <a:rPr lang="en-IN" sz="1500" b="0" dirty="0" err="1">
                          <a:latin typeface="Times New Roman" panose="02020603050405020304" pitchFamily="18" charset="0"/>
                          <a:cs typeface="Times New Roman" panose="02020603050405020304" pitchFamily="18" charset="0"/>
                        </a:rPr>
                        <a:t>S,Sundaravadivazhagan</a:t>
                      </a:r>
                      <a:r>
                        <a:rPr lang="en-IN" sz="1500" b="0" dirty="0">
                          <a:latin typeface="Times New Roman" panose="02020603050405020304" pitchFamily="18" charset="0"/>
                          <a:cs typeface="Times New Roman" panose="02020603050405020304" pitchFamily="18" charset="0"/>
                        </a:rPr>
                        <a:t>, Saranya </a:t>
                      </a:r>
                      <a:r>
                        <a:rPr lang="en-IN" sz="1500" b="0" dirty="0" err="1">
                          <a:latin typeface="Times New Roman" panose="02020603050405020304" pitchFamily="18" charset="0"/>
                          <a:cs typeface="Times New Roman" panose="02020603050405020304" pitchFamily="18" charset="0"/>
                        </a:rPr>
                        <a:t>Rajiakodi</a:t>
                      </a:r>
                      <a:r>
                        <a:rPr lang="en-IN" sz="1500" b="0" dirty="0">
                          <a:latin typeface="Times New Roman" panose="02020603050405020304" pitchFamily="18" charset="0"/>
                          <a:cs typeface="Times New Roman" panose="02020603050405020304" pitchFamily="18" charset="0"/>
                        </a:rPr>
                        <a:t>, Amna Salim Rashid Al </a:t>
                      </a:r>
                      <a:r>
                        <a:rPr lang="en-IN" sz="1500" b="0" dirty="0" err="1">
                          <a:latin typeface="Times New Roman" panose="02020603050405020304" pitchFamily="18" charset="0"/>
                          <a:cs typeface="Times New Roman" panose="02020603050405020304" pitchFamily="18" charset="0"/>
                        </a:rPr>
                        <a:t>Kaabi</a:t>
                      </a:r>
                      <a:r>
                        <a:rPr lang="en-IN" sz="1500" b="0" dirty="0">
                          <a:latin typeface="Times New Roman" panose="02020603050405020304" pitchFamily="18" charset="0"/>
                          <a:cs typeface="Times New Roman" panose="02020603050405020304" pitchFamily="18" charset="0"/>
                        </a:rPr>
                        <a:t> ,“</a:t>
                      </a:r>
                      <a:r>
                        <a:rPr lang="en-US" sz="1500" b="0" dirty="0">
                          <a:latin typeface="Times New Roman" panose="02020603050405020304" pitchFamily="18" charset="0"/>
                          <a:cs typeface="Times New Roman" panose="02020603050405020304" pitchFamily="18" charset="0"/>
                        </a:rPr>
                        <a:t>SMS-Shield: A Lightweight Approach for Smishing Detection using Machine Learning</a:t>
                      </a:r>
                      <a:r>
                        <a:rPr lang="en-IN" sz="1500" b="0" dirty="0">
                          <a:latin typeface="Times New Roman" panose="02020603050405020304" pitchFamily="18" charset="0"/>
                          <a:cs typeface="Times New Roman" panose="02020603050405020304" pitchFamily="18" charset="0"/>
                        </a:rPr>
                        <a:t>”, </a:t>
                      </a:r>
                      <a:r>
                        <a:rPr lang="en-US" sz="1500" b="0" i="1" dirty="0">
                          <a:latin typeface="Times New Roman" panose="02020603050405020304" pitchFamily="18" charset="0"/>
                          <a:cs typeface="Times New Roman" panose="02020603050405020304" pitchFamily="18" charset="0"/>
                        </a:rPr>
                        <a:t>2024</a:t>
                      </a:r>
                      <a:endParaRPr lang="en-IN" sz="1500" b="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500" b="0" dirty="0">
                          <a:latin typeface="Times New Roman" panose="02020603050405020304" pitchFamily="18" charset="0"/>
                          <a:cs typeface="Times New Roman" panose="02020603050405020304" pitchFamily="18" charset="0"/>
                        </a:rPr>
                        <a:t>Lightweight Smishing Detection Framework.</a:t>
                      </a:r>
                    </a:p>
                    <a:p>
                      <a:pPr marL="285750" indent="-285750">
                        <a:buFont typeface="Arial" panose="020B0604020202020204" pitchFamily="34" charset="0"/>
                        <a:buChar char="•"/>
                      </a:pPr>
                      <a:r>
                        <a:rPr lang="en-US" sz="1500" b="0" dirty="0">
                          <a:latin typeface="Times New Roman" panose="02020603050405020304" pitchFamily="18" charset="0"/>
                          <a:cs typeface="Times New Roman" panose="02020603050405020304" pitchFamily="18" charset="0"/>
                        </a:rPr>
                        <a:t>Use of Machine Learning for SMS Classification.</a:t>
                      </a:r>
                    </a:p>
                    <a:p>
                      <a:pPr marL="285750" indent="-285750">
                        <a:buFont typeface="Arial" panose="020B0604020202020204" pitchFamily="34" charset="0"/>
                        <a:buChar char="•"/>
                      </a:pPr>
                      <a:r>
                        <a:rPr lang="en-IN" sz="1500" b="0" dirty="0">
                          <a:latin typeface="Times New Roman" panose="02020603050405020304" pitchFamily="18" charset="0"/>
                          <a:cs typeface="Times New Roman" panose="02020603050405020304" pitchFamily="18" charset="0"/>
                        </a:rPr>
                        <a:t>Feature Engineering Improves Detection</a:t>
                      </a:r>
                    </a:p>
                    <a:p>
                      <a:pPr marL="285750" indent="-285750">
                        <a:buFont typeface="Arial" panose="020B0604020202020204" pitchFamily="34" charset="0"/>
                        <a:buChar char="•"/>
                      </a:pPr>
                      <a:endParaRPr lang="en-IN" sz="1500" b="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500" b="0" dirty="0">
                          <a:latin typeface="Times New Roman" panose="02020603050405020304" pitchFamily="18" charset="0"/>
                          <a:cs typeface="Times New Roman" panose="02020603050405020304" pitchFamily="18" charset="0"/>
                        </a:rPr>
                        <a:t>Limited Dataset Diversity.</a:t>
                      </a:r>
                    </a:p>
                    <a:p>
                      <a:pPr marL="285750" indent="-285750">
                        <a:buFont typeface="Arial" panose="020B0604020202020204" pitchFamily="34" charset="0"/>
                        <a:buChar char="•"/>
                      </a:pPr>
                      <a:r>
                        <a:rPr lang="en-IN" sz="1500" b="0" dirty="0">
                          <a:latin typeface="Times New Roman" panose="02020603050405020304" pitchFamily="18" charset="0"/>
                          <a:cs typeface="Times New Roman" panose="02020603050405020304" pitchFamily="18" charset="0"/>
                        </a:rPr>
                        <a:t>Limited Real-World Deployment.</a:t>
                      </a:r>
                    </a:p>
                    <a:p>
                      <a:pPr marL="285750" indent="-285750">
                        <a:buFont typeface="Arial" panose="020B0604020202020204" pitchFamily="34" charset="0"/>
                        <a:buChar char="•"/>
                      </a:pPr>
                      <a:r>
                        <a:rPr lang="en-US" sz="1500" b="0" dirty="0">
                          <a:latin typeface="Times New Roman" panose="02020603050405020304" pitchFamily="18" charset="0"/>
                          <a:cs typeface="Times New Roman" panose="02020603050405020304" pitchFamily="18" charset="0"/>
                        </a:rPr>
                        <a:t>No Integration with Advanced AI Models.</a:t>
                      </a:r>
                      <a:endParaRPr lang="en-IN" sz="15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10519959"/>
                  </a:ext>
                </a:extLst>
              </a:tr>
              <a:tr h="370840">
                <a:tc>
                  <a:txBody>
                    <a:bodyPr/>
                    <a:lstStyle/>
                    <a:p>
                      <a:r>
                        <a:rPr lang="en-IN" sz="1500" dirty="0" err="1">
                          <a:latin typeface="Times New Roman" panose="02020603050405020304" pitchFamily="18" charset="0"/>
                          <a:cs typeface="Times New Roman" panose="02020603050405020304" pitchFamily="18" charset="0"/>
                        </a:rPr>
                        <a:t>Gangisetty</a:t>
                      </a:r>
                      <a:r>
                        <a:rPr lang="en-IN" sz="1500" dirty="0">
                          <a:latin typeface="Times New Roman" panose="02020603050405020304" pitchFamily="18" charset="0"/>
                          <a:cs typeface="Times New Roman" panose="02020603050405020304" pitchFamily="18" charset="0"/>
                        </a:rPr>
                        <a:t> Raj Charan, Dr. K Deepa Thilak, “</a:t>
                      </a:r>
                      <a:r>
                        <a:rPr lang="en-US" sz="1500" dirty="0">
                          <a:latin typeface="Times New Roman" panose="02020603050405020304" pitchFamily="18" charset="0"/>
                          <a:cs typeface="Times New Roman" panose="02020603050405020304" pitchFamily="18" charset="0"/>
                        </a:rPr>
                        <a:t>Detection of Phishing Link and QR Code of UPI Transaction using Machine Learning</a:t>
                      </a:r>
                      <a:r>
                        <a:rPr lang="en-IN" sz="1500" dirty="0">
                          <a:latin typeface="Times New Roman" panose="02020603050405020304" pitchFamily="18" charset="0"/>
                          <a:cs typeface="Times New Roman" panose="02020603050405020304" pitchFamily="18" charset="0"/>
                        </a:rPr>
                        <a:t>”, </a:t>
                      </a:r>
                      <a:r>
                        <a:rPr lang="en-IN" sz="1500" i="1" dirty="0">
                          <a:latin typeface="Times New Roman" panose="02020603050405020304" pitchFamily="18" charset="0"/>
                          <a:cs typeface="Times New Roman" panose="02020603050405020304" pitchFamily="18" charset="0"/>
                        </a:rPr>
                        <a:t>2023 </a:t>
                      </a:r>
                      <a:endParaRPr lang="en-IN" sz="1500" b="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Machine Learning Improves Fraud Detection.</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Real-Time Monitoring.</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Classification Algorithms Help Identify Fraud.</a:t>
                      </a:r>
                      <a:endParaRPr lang="en-IN" sz="1500" b="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Limited Use of Advanced AI Models.</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Moderate Detection Accuracy</a:t>
                      </a:r>
                      <a:endParaRPr lang="en-IN" sz="15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36984588"/>
                  </a:ext>
                </a:extLst>
              </a:tr>
              <a:tr h="370840">
                <a:tc>
                  <a:txBody>
                    <a:bodyPr/>
                    <a:lstStyle/>
                    <a:p>
                      <a:r>
                        <a:rPr lang="en-IN" sz="1500" dirty="0">
                          <a:latin typeface="Times New Roman" panose="02020603050405020304" pitchFamily="18" charset="0"/>
                          <a:cs typeface="Times New Roman" panose="02020603050405020304" pitchFamily="18" charset="0"/>
                        </a:rPr>
                        <a:t>Delano Oscar Do Rosario Lourenco, MVH Sai Sriraj, </a:t>
                      </a:r>
                      <a:r>
                        <a:rPr lang="en-IN" sz="1500" dirty="0" err="1">
                          <a:latin typeface="Times New Roman" panose="02020603050405020304" pitchFamily="18" charset="0"/>
                          <a:cs typeface="Times New Roman" panose="02020603050405020304" pitchFamily="18" charset="0"/>
                        </a:rPr>
                        <a:t>Krotha</a:t>
                      </a:r>
                      <a:r>
                        <a:rPr lang="en-IN" sz="1500" dirty="0">
                          <a:latin typeface="Times New Roman" panose="02020603050405020304" pitchFamily="18" charset="0"/>
                          <a:cs typeface="Times New Roman" panose="02020603050405020304" pitchFamily="18" charset="0"/>
                        </a:rPr>
                        <a:t> Kayne </a:t>
                      </a:r>
                      <a:r>
                        <a:rPr lang="en-IN" sz="1500" dirty="0" err="1">
                          <a:latin typeface="Times New Roman" panose="02020603050405020304" pitchFamily="18" charset="0"/>
                          <a:cs typeface="Times New Roman" panose="02020603050405020304" pitchFamily="18" charset="0"/>
                        </a:rPr>
                        <a:t>Thambi</a:t>
                      </a:r>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Vibho</a:t>
                      </a:r>
                      <a:r>
                        <a:rPr lang="en-IN" sz="1500" dirty="0">
                          <a:latin typeface="Times New Roman" panose="02020603050405020304" pitchFamily="18" charset="0"/>
                          <a:cs typeface="Times New Roman" panose="02020603050405020304" pitchFamily="18" charset="0"/>
                        </a:rPr>
                        <a:t> Ranjan,“</a:t>
                      </a:r>
                      <a:r>
                        <a:rPr lang="en-US" sz="1500" dirty="0">
                          <a:latin typeface="Times New Roman" panose="02020603050405020304" pitchFamily="18" charset="0"/>
                          <a:cs typeface="Times New Roman" panose="02020603050405020304" pitchFamily="18" charset="0"/>
                        </a:rPr>
                        <a:t>Malicious URLs and QR Code Classification using Machine Learning and Deep Learning Techniques</a:t>
                      </a:r>
                      <a:r>
                        <a:rPr lang="en-IN"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2023 </a:t>
                      </a:r>
                      <a:endParaRPr lang="en-IN" sz="1500" b="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Hybrid Approach Using ML and Deep Learning.</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Multiple Machine Learning Algorithms Evaluated.</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Deep Learning Models for QR Code Classification.</a:t>
                      </a:r>
                      <a:endParaRPr lang="en-IN" sz="1500" b="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High Computational Requirements.</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Dependency on Large Datasets.</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Vulnerability to Adversarial Attacks.</a:t>
                      </a:r>
                      <a:endParaRPr lang="en-IN" sz="15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49608148"/>
                  </a:ext>
                </a:extLst>
              </a:tr>
            </a:tbl>
          </a:graphicData>
        </a:graphic>
      </p:graphicFrame>
    </p:spTree>
    <p:extLst>
      <p:ext uri="{BB962C8B-B14F-4D97-AF65-F5344CB8AC3E}">
        <p14:creationId xmlns:p14="http://schemas.microsoft.com/office/powerpoint/2010/main" val="367301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6B54B53-76F4-233E-8B7C-9A4FC47C09D9}"/>
              </a:ext>
            </a:extLst>
          </p:cNvPr>
          <p:cNvSpPr>
            <a:spLocks noGrp="1"/>
          </p:cNvSpPr>
          <p:nvPr>
            <p:ph type="dt" sz="half" idx="10"/>
          </p:nvPr>
        </p:nvSpPr>
        <p:spPr/>
        <p:txBody>
          <a:bodyPr/>
          <a:lstStyle/>
          <a:p>
            <a:r>
              <a:rPr lang="en-US"/>
              <a:t>6/3/2026</a:t>
            </a:r>
          </a:p>
        </p:txBody>
      </p:sp>
      <p:sp>
        <p:nvSpPr>
          <p:cNvPr id="5" name="Footer Placeholder 4">
            <a:extLst>
              <a:ext uri="{FF2B5EF4-FFF2-40B4-BE49-F238E27FC236}">
                <a16:creationId xmlns:a16="http://schemas.microsoft.com/office/drawing/2014/main" id="{AA19ED3F-8098-7E55-5460-F9FE057F584D}"/>
              </a:ext>
            </a:extLst>
          </p:cNvPr>
          <p:cNvSpPr>
            <a:spLocks noGrp="1"/>
          </p:cNvSpPr>
          <p:nvPr>
            <p:ph type="ftr" sz="quarter" idx="11"/>
          </p:nvPr>
        </p:nvSpPr>
        <p:spPr/>
        <p:txBody>
          <a:bodyPr/>
          <a:lstStyle/>
          <a:p>
            <a:r>
              <a:rPr lang="en-US"/>
              <a:t>BMSIT&amp;M, CSE                                 </a:t>
            </a:r>
          </a:p>
        </p:txBody>
      </p:sp>
      <p:sp>
        <p:nvSpPr>
          <p:cNvPr id="6" name="Slide Number Placeholder 5">
            <a:extLst>
              <a:ext uri="{FF2B5EF4-FFF2-40B4-BE49-F238E27FC236}">
                <a16:creationId xmlns:a16="http://schemas.microsoft.com/office/drawing/2014/main" id="{2C7EC692-075B-E01A-92F5-8A98F05D821A}"/>
              </a:ext>
            </a:extLst>
          </p:cNvPr>
          <p:cNvSpPr>
            <a:spLocks noGrp="1"/>
          </p:cNvSpPr>
          <p:nvPr>
            <p:ph type="sldNum" sz="quarter" idx="12"/>
          </p:nvPr>
        </p:nvSpPr>
        <p:spPr/>
        <p:txBody>
          <a:bodyPr/>
          <a:lstStyle/>
          <a:p>
            <a:fld id="{C1FF6DA9-008F-8B48-92A6-B652298478BF}" type="slidenum">
              <a:rPr lang="en-US" smtClean="0"/>
              <a:t>6</a:t>
            </a:fld>
            <a:endParaRPr lang="en-US"/>
          </a:p>
        </p:txBody>
      </p:sp>
      <p:sp>
        <p:nvSpPr>
          <p:cNvPr id="7" name="Title 1">
            <a:extLst>
              <a:ext uri="{FF2B5EF4-FFF2-40B4-BE49-F238E27FC236}">
                <a16:creationId xmlns:a16="http://schemas.microsoft.com/office/drawing/2014/main" id="{6A199CCB-F4F0-AC99-763C-F4FDD9B17B90}"/>
              </a:ext>
            </a:extLst>
          </p:cNvPr>
          <p:cNvSpPr txBox="1">
            <a:spLocks/>
          </p:cNvSpPr>
          <p:nvPr/>
        </p:nvSpPr>
        <p:spPr>
          <a:xfrm>
            <a:off x="1877568" y="305071"/>
            <a:ext cx="8229600" cy="114300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Literature Survey(Summary)</a:t>
            </a:r>
            <a:endParaRPr lang="en-IN"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 name="Rectangle 2">
            <a:extLst>
              <a:ext uri="{FF2B5EF4-FFF2-40B4-BE49-F238E27FC236}">
                <a16:creationId xmlns:a16="http://schemas.microsoft.com/office/drawing/2014/main" id="{B3893061-1B19-AE7B-A0E6-AE68202B9C3E}"/>
              </a:ext>
            </a:extLst>
          </p:cNvPr>
          <p:cNvSpPr>
            <a:spLocks noChangeArrowheads="1"/>
          </p:cNvSpPr>
          <p:nvPr/>
        </p:nvSpPr>
        <p:spPr bwMode="auto">
          <a:xfrm>
            <a:off x="609600" y="1659285"/>
            <a:ext cx="10621108"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research mainly focuses on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individual phishing detection methods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targeting either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SMS phishing or QR code phishing</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rather than addressing both threats together.</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SMS-Shield framework (2024)</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uses lightweight machine learning for smishing detection but has limitations such as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dataset diversity and lack of real-world deployment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UPI phishing detection study (2023)</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detects phishing links and QR fraud using machine learning but relies mainly on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basic classification algorithms with moderate accuracy</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Another study on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malicious URL and QR code classification (2023)</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uses multiple ML and DL models but faces issues like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computational requirements and dependency on large datasets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Many existing approaches are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vulnerable to new phishing techniques and adversarial attacks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them less effective for zero-day threats.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contrast, the proposed system provides a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unified detection framework</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analyzes both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SMS messages and QR codes in real time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integrates </a:t>
            </a:r>
            <a:r>
              <a:rPr kumimoji="0" lang="en-US" altLang="en-US" sz="16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TinyBERT</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smishing detection and </a:t>
            </a:r>
            <a:r>
              <a:rPr kumimoji="0" lang="en-US" altLang="en-US" sz="16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QR phishing detection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along with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cross-verification, risk scoring, automated link blocking, and user alerts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improve detection accuracy and security.</a:t>
            </a:r>
          </a:p>
        </p:txBody>
      </p:sp>
    </p:spTree>
    <p:extLst>
      <p:ext uri="{BB962C8B-B14F-4D97-AF65-F5344CB8AC3E}">
        <p14:creationId xmlns:p14="http://schemas.microsoft.com/office/powerpoint/2010/main" val="3566704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3635AA9-A600-46BD-D4A4-AB57D81CADD9}"/>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6/3/2026</a:t>
            </a:r>
          </a:p>
        </p:txBody>
      </p:sp>
      <p:sp>
        <p:nvSpPr>
          <p:cNvPr id="5" name="Footer Placeholder 4">
            <a:extLst>
              <a:ext uri="{FF2B5EF4-FFF2-40B4-BE49-F238E27FC236}">
                <a16:creationId xmlns:a16="http://schemas.microsoft.com/office/drawing/2014/main" id="{33007321-2B87-D233-97BC-CCA6E105ABE9}"/>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4F32386D-594E-12D9-53CB-F18F7803087D}"/>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7</a:t>
            </a:fld>
            <a:endParaRPr lang="en-US">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648D5AFA-08F3-91D2-8CF2-0F50F37A79AC}"/>
              </a:ext>
            </a:extLst>
          </p:cNvPr>
          <p:cNvSpPr txBox="1">
            <a:spLocks/>
          </p:cNvSpPr>
          <p:nvPr/>
        </p:nvSpPr>
        <p:spPr>
          <a:xfrm>
            <a:off x="1981200" y="227013"/>
            <a:ext cx="8229600" cy="114300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Research Gap Identified</a:t>
            </a:r>
            <a:endParaRPr lang="en-IN"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5EB392E0-1796-5ECD-3B6E-F4C516559811}"/>
              </a:ext>
            </a:extLst>
          </p:cNvPr>
          <p:cNvSpPr>
            <a:spLocks noGrp="1" noChangeArrowheads="1"/>
          </p:cNvSpPr>
          <p:nvPr>
            <p:ph idx="1"/>
          </p:nvPr>
        </p:nvSpPr>
        <p:spPr bwMode="auto">
          <a:xfrm>
            <a:off x="609600" y="1491070"/>
            <a:ext cx="1049655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existing systems focus on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only one attack type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(either smishing or QR phishing) and do not provide a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unified detection system</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both threats.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Many current solutions rely on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blacklists or external APIs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which are ineffective for detecting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zero-day phishing attacks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newly generated malicious domains.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research mainly uses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machine learning models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use of advanced AI models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deeper contextual analysis.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studies lack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contextual correlation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between SMS content and QR code URLs, making it difficult to detect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contextual phishing attacks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Several systems require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large datasets and high computational resources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which makes deployment on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devices difficult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
        <p:nvSpPr>
          <p:cNvPr id="8" name="TextBox 7">
            <a:extLst>
              <a:ext uri="{FF2B5EF4-FFF2-40B4-BE49-F238E27FC236}">
                <a16:creationId xmlns:a16="http://schemas.microsoft.com/office/drawing/2014/main" id="{0DB5AB33-896A-7C70-5172-1AAD63404BD3}"/>
              </a:ext>
            </a:extLst>
          </p:cNvPr>
          <p:cNvSpPr txBox="1"/>
          <p:nvPr/>
        </p:nvSpPr>
        <p:spPr>
          <a:xfrm>
            <a:off x="704851" y="4367928"/>
            <a:ext cx="10810874" cy="1323439"/>
          </a:xfrm>
          <a:prstGeom prst="rect">
            <a:avLst/>
          </a:prstGeom>
          <a:noFill/>
        </p:spPr>
        <p:txBody>
          <a:bodyPr wrap="square">
            <a:spAutoFit/>
          </a:bodyPr>
          <a:lstStyle/>
          <a:p>
            <a:pPr>
              <a:buNone/>
            </a:pPr>
            <a:r>
              <a:rPr lang="en-US" sz="1600" b="1" dirty="0">
                <a:latin typeface="Times New Roman" panose="02020603050405020304" pitchFamily="18" charset="0"/>
                <a:cs typeface="Times New Roman" panose="02020603050405020304" pitchFamily="18" charset="0"/>
              </a:rPr>
              <a:t>Scope for Improvement</a:t>
            </a: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Develop a </a:t>
            </a:r>
            <a:r>
              <a:rPr lang="en-US" sz="1600" b="1" dirty="0">
                <a:latin typeface="Times New Roman" panose="02020603050405020304" pitchFamily="18" charset="0"/>
                <a:cs typeface="Times New Roman" panose="02020603050405020304" pitchFamily="18" charset="0"/>
              </a:rPr>
              <a:t>real-time unified system</a:t>
            </a:r>
            <a:r>
              <a:rPr lang="en-US" sz="1600" dirty="0">
                <a:latin typeface="Times New Roman" panose="02020603050405020304" pitchFamily="18" charset="0"/>
                <a:cs typeface="Times New Roman" panose="02020603050405020304" pitchFamily="18" charset="0"/>
              </a:rPr>
              <a:t> that detects both </a:t>
            </a:r>
            <a:r>
              <a:rPr lang="en-US" sz="1600" b="1" dirty="0">
                <a:latin typeface="Times New Roman" panose="02020603050405020304" pitchFamily="18" charset="0"/>
                <a:cs typeface="Times New Roman" panose="02020603050405020304" pitchFamily="18" charset="0"/>
              </a:rPr>
              <a:t>smishing and </a:t>
            </a:r>
            <a:r>
              <a:rPr lang="en-US" sz="1600" b="1" dirty="0" err="1">
                <a:latin typeface="Times New Roman" panose="02020603050405020304" pitchFamily="18" charset="0"/>
                <a:cs typeface="Times New Roman" panose="02020603050405020304" pitchFamily="18" charset="0"/>
              </a:rPr>
              <a:t>quishing</a:t>
            </a:r>
            <a:r>
              <a:rPr lang="en-US" sz="1600" b="1" dirty="0">
                <a:latin typeface="Times New Roman" panose="02020603050405020304" pitchFamily="18" charset="0"/>
                <a:cs typeface="Times New Roman" panose="02020603050405020304" pitchFamily="18" charset="0"/>
              </a:rPr>
              <a:t> attacks</a:t>
            </a:r>
            <a:r>
              <a:rPr lang="en-US" sz="1600"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Use </a:t>
            </a:r>
            <a:r>
              <a:rPr lang="en-US" sz="1600" b="1" dirty="0">
                <a:latin typeface="Times New Roman" panose="02020603050405020304" pitchFamily="18" charset="0"/>
                <a:cs typeface="Times New Roman" panose="02020603050405020304" pitchFamily="18" charset="0"/>
              </a:rPr>
              <a:t>advanced AI/ML models</a:t>
            </a:r>
            <a:r>
              <a:rPr lang="en-US" sz="1600" dirty="0">
                <a:latin typeface="Times New Roman" panose="02020603050405020304" pitchFamily="18" charset="0"/>
                <a:cs typeface="Times New Roman" panose="02020603050405020304" pitchFamily="18" charset="0"/>
              </a:rPr>
              <a:t> for better contextual understanding and detection accuracy.</a:t>
            </a: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Implement </a:t>
            </a:r>
            <a:r>
              <a:rPr lang="en-US" sz="1600" b="1" dirty="0">
                <a:latin typeface="Times New Roman" panose="02020603050405020304" pitchFamily="18" charset="0"/>
                <a:cs typeface="Times New Roman" panose="02020603050405020304" pitchFamily="18" charset="0"/>
              </a:rPr>
              <a:t>cross-verification between SMS content and QR URLs</a:t>
            </a:r>
            <a:r>
              <a:rPr lang="en-US" sz="1600" dirty="0">
                <a:latin typeface="Times New Roman" panose="02020603050405020304" pitchFamily="18" charset="0"/>
                <a:cs typeface="Times New Roman" panose="02020603050405020304" pitchFamily="18" charset="0"/>
              </a:rPr>
              <a:t> to detect contextual phishing.</a:t>
            </a: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Provide </a:t>
            </a:r>
            <a:r>
              <a:rPr lang="en-US" sz="1600" b="1" dirty="0">
                <a:latin typeface="Times New Roman" panose="02020603050405020304" pitchFamily="18" charset="0"/>
                <a:cs typeface="Times New Roman" panose="02020603050405020304" pitchFamily="18" charset="0"/>
              </a:rPr>
              <a:t>real-time risk scoring, automated blocking, and user alerts</a:t>
            </a:r>
            <a:r>
              <a:rPr lang="en-US" sz="1600" dirty="0">
                <a:latin typeface="Times New Roman" panose="02020603050405020304" pitchFamily="18" charset="0"/>
                <a:cs typeface="Times New Roman" panose="02020603050405020304" pitchFamily="18" charset="0"/>
              </a:rPr>
              <a:t> for effective prevention.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00200"/>
            <a:ext cx="10972800" cy="4525963"/>
          </a:xfrm>
        </p:spPr>
        <p:txBody>
          <a:bodyPr>
            <a:normAutofit/>
          </a:bodyPr>
          <a:lstStyle/>
          <a:p>
            <a:pPr algn="just"/>
            <a:r>
              <a:rPr lang="en-US" sz="2000" dirty="0">
                <a:latin typeface="Times New Roman" panose="02020603050405020304" pitchFamily="18" charset="0"/>
                <a:cs typeface="Times New Roman" panose="02020603050405020304" pitchFamily="18" charset="0"/>
              </a:rPr>
              <a:t>The proposed system is a </a:t>
            </a:r>
            <a:r>
              <a:rPr lang="en-US" sz="2000" b="1" dirty="0">
                <a:latin typeface="Times New Roman" panose="02020603050405020304" pitchFamily="18" charset="0"/>
                <a:cs typeface="Times New Roman" panose="02020603050405020304" pitchFamily="18" charset="0"/>
              </a:rPr>
              <a:t>Real-Time AI/ML-Based </a:t>
            </a:r>
            <a:r>
              <a:rPr lang="en-US" sz="2000" b="1" dirty="0" err="1">
                <a:latin typeface="Times New Roman" panose="02020603050405020304" pitchFamily="18" charset="0"/>
                <a:cs typeface="Times New Roman" panose="02020603050405020304" pitchFamily="18" charset="0"/>
              </a:rPr>
              <a:t>Quishing</a:t>
            </a:r>
            <a:r>
              <a:rPr lang="en-US" sz="2000" b="1" dirty="0">
                <a:latin typeface="Times New Roman" panose="02020603050405020304" pitchFamily="18" charset="0"/>
                <a:cs typeface="Times New Roman" panose="02020603050405020304" pitchFamily="18" charset="0"/>
              </a:rPr>
              <a:t> and Smishing Detection System</a:t>
            </a:r>
            <a:r>
              <a:rPr lang="en-US" sz="2000" dirty="0">
                <a:latin typeface="Times New Roman" panose="02020603050405020304" pitchFamily="18" charset="0"/>
                <a:cs typeface="Times New Roman" panose="02020603050405020304" pitchFamily="18" charset="0"/>
              </a:rPr>
              <a:t> designed to protect mobile users from phishing attacks delivered through </a:t>
            </a:r>
            <a:r>
              <a:rPr lang="en-US" sz="2000" b="1" dirty="0">
                <a:latin typeface="Times New Roman" panose="02020603050405020304" pitchFamily="18" charset="0"/>
                <a:cs typeface="Times New Roman" panose="02020603050405020304" pitchFamily="18" charset="0"/>
              </a:rPr>
              <a:t>SMS messages and QR codes</a:t>
            </a:r>
            <a:r>
              <a:rPr lang="en-US" sz="2000" dirty="0">
                <a:latin typeface="Times New Roman" panose="02020603050405020304" pitchFamily="18" charset="0"/>
                <a:cs typeface="Times New Roman" panose="02020603050405020304" pitchFamily="18" charset="0"/>
              </a:rPr>
              <a:t>. The system continuously monitors incoming SMS messages and scanned QR codes and analyzes them using </a:t>
            </a:r>
            <a:r>
              <a:rPr lang="en-US" sz="2000" b="1" dirty="0">
                <a:latin typeface="Times New Roman" panose="02020603050405020304" pitchFamily="18" charset="0"/>
                <a:cs typeface="Times New Roman" panose="02020603050405020304" pitchFamily="18" charset="0"/>
              </a:rPr>
              <a:t>NLP and machine learning models</a:t>
            </a:r>
            <a:r>
              <a:rPr lang="en-US" sz="2000" dirty="0">
                <a:latin typeface="Times New Roman" panose="02020603050405020304" pitchFamily="18" charset="0"/>
                <a:cs typeface="Times New Roman" panose="02020603050405020304" pitchFamily="18" charset="0"/>
              </a:rPr>
              <a:t> to detect malicious patterns and suspicious URLs.</a:t>
            </a:r>
          </a:p>
          <a:p>
            <a:pPr algn="just"/>
            <a:r>
              <a:rPr lang="en-US" sz="2000" dirty="0">
                <a:latin typeface="Times New Roman" panose="02020603050405020304" pitchFamily="18" charset="0"/>
                <a:cs typeface="Times New Roman" panose="02020603050405020304" pitchFamily="18" charset="0"/>
              </a:rPr>
              <a:t>The system architecture includes </a:t>
            </a:r>
            <a:r>
              <a:rPr lang="en-US" sz="2000" b="1" dirty="0">
                <a:latin typeface="Times New Roman" panose="02020603050405020304" pitchFamily="18" charset="0"/>
                <a:cs typeface="Times New Roman" panose="02020603050405020304" pitchFamily="18" charset="0"/>
              </a:rPr>
              <a:t>data acquisition, feature extraction, AI/ML detection modules, cross-verification, and prevention layers</a:t>
            </a:r>
            <a:r>
              <a:rPr lang="en-US" sz="2000" dirty="0">
                <a:latin typeface="Times New Roman" panose="02020603050405020304" pitchFamily="18" charset="0"/>
                <a:cs typeface="Times New Roman" panose="02020603050405020304" pitchFamily="18" charset="0"/>
              </a:rPr>
              <a:t>. The </a:t>
            </a:r>
            <a:r>
              <a:rPr lang="en-US" sz="2000" b="1" dirty="0" err="1">
                <a:latin typeface="Times New Roman" panose="02020603050405020304" pitchFamily="18" charset="0"/>
                <a:cs typeface="Times New Roman" panose="02020603050405020304" pitchFamily="18" charset="0"/>
              </a:rPr>
              <a:t>TinyBERT</a:t>
            </a:r>
            <a:r>
              <a:rPr lang="en-US" sz="2000" b="1" dirty="0">
                <a:latin typeface="Times New Roman" panose="02020603050405020304" pitchFamily="18" charset="0"/>
                <a:cs typeface="Times New Roman" panose="02020603050405020304" pitchFamily="18" charset="0"/>
              </a:rPr>
              <a:t> model</a:t>
            </a:r>
            <a:r>
              <a:rPr lang="en-US" sz="2000" dirty="0">
                <a:latin typeface="Times New Roman" panose="02020603050405020304" pitchFamily="18" charset="0"/>
                <a:cs typeface="Times New Roman" panose="02020603050405020304" pitchFamily="18" charset="0"/>
              </a:rPr>
              <a:t> analyzes SMS content to detect smishing attacks, while </a:t>
            </a:r>
            <a:r>
              <a:rPr lang="en-US" sz="2000" b="1"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evaluates the safety of URLs extracted from QR codes. A cross-verification engine correlates SMS context with QR landing pages to identify contextual phishing attacks.</a:t>
            </a:r>
          </a:p>
          <a:p>
            <a:pPr algn="just"/>
            <a:r>
              <a:rPr lang="en-US" sz="2000" dirty="0">
                <a:latin typeface="Times New Roman" panose="02020603050405020304" pitchFamily="18" charset="0"/>
                <a:cs typeface="Times New Roman" panose="02020603050405020304" pitchFamily="18" charset="0"/>
              </a:rPr>
              <a:t>Based on the analysis, the system assigns a </a:t>
            </a:r>
            <a:r>
              <a:rPr lang="en-US" sz="2000" b="1" dirty="0">
                <a:latin typeface="Times New Roman" panose="02020603050405020304" pitchFamily="18" charset="0"/>
                <a:cs typeface="Times New Roman" panose="02020603050405020304" pitchFamily="18" charset="0"/>
              </a:rPr>
              <a:t>risk score (Low, Medium, High)</a:t>
            </a:r>
            <a:r>
              <a:rPr lang="en-US" sz="2000" dirty="0">
                <a:latin typeface="Times New Roman" panose="02020603050405020304" pitchFamily="18" charset="0"/>
                <a:cs typeface="Times New Roman" panose="02020603050405020304" pitchFamily="18" charset="0"/>
              </a:rPr>
              <a:t> and automatically performs actions such as </a:t>
            </a:r>
            <a:r>
              <a:rPr lang="en-US" sz="2000" b="1" dirty="0">
                <a:latin typeface="Times New Roman" panose="02020603050405020304" pitchFamily="18" charset="0"/>
                <a:cs typeface="Times New Roman" panose="02020603050405020304" pitchFamily="18" charset="0"/>
              </a:rPr>
              <a:t>blocking malicious links and alerting users</a:t>
            </a:r>
            <a:r>
              <a:rPr lang="en-US" sz="2000" dirty="0">
                <a:latin typeface="Times New Roman" panose="02020603050405020304" pitchFamily="18" charset="0"/>
                <a:cs typeface="Times New Roman" panose="02020603050405020304" pitchFamily="18" charset="0"/>
              </a:rPr>
              <a:t>, thereby providing </a:t>
            </a:r>
            <a:r>
              <a:rPr lang="en-US" sz="2000" b="1" dirty="0">
                <a:latin typeface="Times New Roman" panose="02020603050405020304" pitchFamily="18" charset="0"/>
                <a:cs typeface="Times New Roman" panose="02020603050405020304" pitchFamily="18" charset="0"/>
              </a:rPr>
              <a:t>real-time protection against phishing threats</a:t>
            </a:r>
            <a:r>
              <a:rPr lang="en-US" sz="2000" dirty="0">
                <a:latin typeface="Times New Roman" panose="02020603050405020304" pitchFamily="18" charset="0"/>
                <a:cs typeface="Times New Roman" panose="02020603050405020304" pitchFamily="18" charset="0"/>
              </a:rPr>
              <a:t>.</a:t>
            </a:r>
          </a:p>
          <a:p>
            <a:pPr marL="457200" lvl="1" indent="0" algn="just">
              <a:buNone/>
            </a:pPr>
            <a:endParaRPr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E8A4525-6ADD-4CCC-3CC3-98CCE52B59BB}"/>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6/3/2026</a:t>
            </a:r>
          </a:p>
        </p:txBody>
      </p:sp>
      <p:sp>
        <p:nvSpPr>
          <p:cNvPr id="5" name="Footer Placeholder 4">
            <a:extLst>
              <a:ext uri="{FF2B5EF4-FFF2-40B4-BE49-F238E27FC236}">
                <a16:creationId xmlns:a16="http://schemas.microsoft.com/office/drawing/2014/main" id="{8E223784-F010-B23F-D191-C5D2174730A7}"/>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AFFCDE1D-EE21-276E-79CD-5422756D9794}"/>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8</a:t>
            </a:fld>
            <a:endParaRPr lang="en-US">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228CFCAA-0CF1-B5E8-2892-C7B9FD65F930}"/>
              </a:ext>
            </a:extLst>
          </p:cNvPr>
          <p:cNvSpPr txBox="1">
            <a:spLocks/>
          </p:cNvSpPr>
          <p:nvPr/>
        </p:nvSpPr>
        <p:spPr>
          <a:xfrm>
            <a:off x="1981200" y="227013"/>
            <a:ext cx="8229600" cy="114300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ea typeface="Cambria" panose="02040503050406030204" pitchFamily="18" charset="0"/>
                <a:cs typeface="Times New Roman" panose="02020603050405020304" pitchFamily="18" charset="0"/>
              </a:rPr>
              <a:t>Proposed System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285750" lvl="0" indent="-285750" eaLnBrk="0" fontAlgn="base" hangingPunct="0">
              <a:spcBef>
                <a:spcPct val="0"/>
              </a:spcBef>
              <a:spcAft>
                <a:spcPct val="0"/>
              </a:spcAft>
              <a:buClrTx/>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To continuously monitor </a:t>
            </a:r>
            <a:r>
              <a:rPr lang="en-US" sz="2000" b="1" dirty="0">
                <a:latin typeface="Times New Roman" panose="02020603050405020304" pitchFamily="18" charset="0"/>
                <a:cs typeface="Times New Roman" panose="02020603050405020304" pitchFamily="18" charset="0"/>
              </a:rPr>
              <a:t>incoming SMS messages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scanned or embedded QR codes</a:t>
            </a:r>
            <a:r>
              <a:rPr lang="en-US" sz="2000" dirty="0">
                <a:latin typeface="Times New Roman" panose="02020603050405020304" pitchFamily="18" charset="0"/>
                <a:cs typeface="Times New Roman" panose="02020603050405020304" pitchFamily="18" charset="0"/>
              </a:rPr>
              <a:t> in real time.</a:t>
            </a:r>
          </a:p>
          <a:p>
            <a:pPr marL="285750" lvl="0" indent="-285750" eaLnBrk="0" fontAlgn="base" hangingPunct="0">
              <a:spcBef>
                <a:spcPct val="0"/>
              </a:spcBef>
              <a:spcAft>
                <a:spcPct val="0"/>
              </a:spcAft>
              <a:buClrTx/>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To preprocess SMS text and QR code images using </a:t>
            </a:r>
            <a:r>
              <a:rPr lang="en-US" sz="2000" b="1" dirty="0">
                <a:latin typeface="Times New Roman" panose="02020603050405020304" pitchFamily="18" charset="0"/>
                <a:cs typeface="Times New Roman" panose="02020603050405020304" pitchFamily="18" charset="0"/>
              </a:rPr>
              <a:t>NLP techniques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computer vision methods</a:t>
            </a:r>
            <a:r>
              <a:rPr lang="en-US" sz="2000" dirty="0">
                <a:latin typeface="Times New Roman" panose="02020603050405020304" pitchFamily="18" charset="0"/>
                <a:cs typeface="Times New Roman" panose="02020603050405020304" pitchFamily="18" charset="0"/>
              </a:rPr>
              <a:t> for reliable feature extraction.</a:t>
            </a:r>
          </a:p>
          <a:p>
            <a:pPr marL="285750" lvl="0" indent="-285750" eaLnBrk="0" fontAlgn="base" hangingPunct="0">
              <a:spcBef>
                <a:spcPct val="0"/>
              </a:spcBef>
              <a:spcAft>
                <a:spcPct val="0"/>
              </a:spcAft>
              <a:buClrTx/>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To analyze SMS content using </a:t>
            </a:r>
            <a:r>
              <a:rPr lang="en-US" sz="2000" b="1" dirty="0">
                <a:latin typeface="Times New Roman" panose="02020603050405020304" pitchFamily="18" charset="0"/>
                <a:cs typeface="Times New Roman" panose="02020603050405020304" pitchFamily="18" charset="0"/>
              </a:rPr>
              <a:t>AI/ML models</a:t>
            </a:r>
            <a:r>
              <a:rPr lang="en-US" sz="2000" dirty="0">
                <a:latin typeface="Times New Roman" panose="02020603050405020304" pitchFamily="18" charset="0"/>
                <a:cs typeface="Times New Roman" panose="02020603050405020304" pitchFamily="18" charset="0"/>
              </a:rPr>
              <a:t> for detecting smishing attacks based on context, urgency, and sender patterns.</a:t>
            </a:r>
          </a:p>
          <a:p>
            <a:pPr marL="285750" lvl="0" indent="-285750" eaLnBrk="0" fontAlgn="base" hangingPunct="0">
              <a:spcBef>
                <a:spcPct val="0"/>
              </a:spcBef>
              <a:spcAft>
                <a:spcPct val="0"/>
              </a:spcAft>
              <a:buClrTx/>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To detect malicious QR codes using </a:t>
            </a:r>
            <a:r>
              <a:rPr lang="en-US" sz="2000" b="1" dirty="0">
                <a:latin typeface="Times New Roman" panose="02020603050405020304" pitchFamily="18" charset="0"/>
                <a:cs typeface="Times New Roman" panose="02020603050405020304" pitchFamily="18" charset="0"/>
              </a:rPr>
              <a:t>visual analysis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URL safety classification models.</a:t>
            </a:r>
            <a:endParaRPr lang="en-US" sz="20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To correlate SMS content with QR-decoded URLs to identify </a:t>
            </a:r>
            <a:r>
              <a:rPr lang="en-US" sz="2000" b="1" dirty="0">
                <a:latin typeface="Times New Roman" panose="02020603050405020304" pitchFamily="18" charset="0"/>
                <a:cs typeface="Times New Roman" panose="02020603050405020304" pitchFamily="18" charset="0"/>
              </a:rPr>
              <a:t>contextual phishing attacks</a:t>
            </a:r>
            <a:r>
              <a:rPr lang="en-US" sz="2000" dirty="0">
                <a:latin typeface="Times New Roman" panose="02020603050405020304" pitchFamily="18" charset="0"/>
                <a:cs typeface="Times New Roman" panose="02020603050405020304" pitchFamily="18" charset="0"/>
              </a:rPr>
              <a:t> and brand impersonation attempts.</a:t>
            </a:r>
            <a:endParaRPr lang="en-US" altLang="en-US" sz="2000" dirty="0">
              <a:latin typeface="Times New Roman" panose="02020603050405020304" pitchFamily="18" charset="0"/>
              <a:cs typeface="Times New Roman" panose="02020603050405020304" pitchFamily="18" charset="0"/>
            </a:endParaRPr>
          </a:p>
          <a:p>
            <a:pPr marL="285750" lvl="0" indent="-285750" defTabSz="914400" eaLnBrk="0" fontAlgn="base" hangingPunct="0">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To develop a </a:t>
            </a:r>
            <a:r>
              <a:rPr lang="en-US" altLang="en-US" sz="2000" b="1" dirty="0">
                <a:latin typeface="Times New Roman" panose="02020603050405020304" pitchFamily="18" charset="0"/>
                <a:cs typeface="Times New Roman" panose="02020603050405020304" pitchFamily="18" charset="0"/>
              </a:rPr>
              <a:t>real-time AI/ML-based </a:t>
            </a:r>
            <a:r>
              <a:rPr lang="en-US" altLang="en-US" sz="2000" b="1" dirty="0" err="1">
                <a:latin typeface="Times New Roman" panose="02020603050405020304" pitchFamily="18" charset="0"/>
                <a:cs typeface="Times New Roman" panose="02020603050405020304" pitchFamily="18" charset="0"/>
              </a:rPr>
              <a:t>Quishing</a:t>
            </a:r>
            <a:r>
              <a:rPr lang="en-US" altLang="en-US" sz="2000" b="1" dirty="0">
                <a:latin typeface="Times New Roman" panose="02020603050405020304" pitchFamily="18" charset="0"/>
                <a:cs typeface="Times New Roman" panose="02020603050405020304" pitchFamily="18" charset="0"/>
              </a:rPr>
              <a:t> and Smishing detection and prevention system</a:t>
            </a:r>
            <a:r>
              <a:rPr lang="en-US" altLang="en-US" sz="2000" dirty="0">
                <a:latin typeface="Times New Roman" panose="02020603050405020304" pitchFamily="18" charset="0"/>
                <a:cs typeface="Times New Roman" panose="02020603050405020304" pitchFamily="18" charset="0"/>
              </a:rPr>
              <a:t> for malicious links and QR codes used in digital scans and Threat SMS.</a:t>
            </a:r>
          </a:p>
          <a:p>
            <a:pPr marL="0" indent="0">
              <a:buNone/>
            </a:pPr>
            <a:endParaRPr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0B6831B-487A-CE65-3097-1C4E1ED669DF}"/>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6/3/2026</a:t>
            </a:r>
          </a:p>
        </p:txBody>
      </p:sp>
      <p:sp>
        <p:nvSpPr>
          <p:cNvPr id="5" name="Footer Placeholder 4">
            <a:extLst>
              <a:ext uri="{FF2B5EF4-FFF2-40B4-BE49-F238E27FC236}">
                <a16:creationId xmlns:a16="http://schemas.microsoft.com/office/drawing/2014/main" id="{EAF5BF9C-FAFF-C25A-73FC-2A841FA6D653}"/>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A18D813F-8480-C58F-90F2-B139C9BC9B80}"/>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9</a:t>
            </a:fld>
            <a:endParaRPr lang="en-US">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FB3D633D-8A77-70C3-1864-5102C2FC15BA}"/>
              </a:ext>
            </a:extLst>
          </p:cNvPr>
          <p:cNvSpPr txBox="1">
            <a:spLocks/>
          </p:cNvSpPr>
          <p:nvPr/>
        </p:nvSpPr>
        <p:spPr>
          <a:xfrm>
            <a:off x="1981200" y="227013"/>
            <a:ext cx="8229600" cy="94203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sz="5000" dirty="0">
                <a:latin typeface="Times New Roman" panose="02020603050405020304" pitchFamily="18" charset="0"/>
                <a:ea typeface="Cambria" panose="02040503050406030204" pitchFamily="18" charset="0"/>
                <a:cs typeface="Times New Roman" panose="02020603050405020304" pitchFamily="18" charset="0"/>
              </a:rPr>
              <a:t>Objectives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75811CC-DE08-36F7-F3EF-A5E2BF710C3B}"/>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6/3/2026</a:t>
            </a:r>
          </a:p>
        </p:txBody>
      </p:sp>
      <p:sp>
        <p:nvSpPr>
          <p:cNvPr id="5" name="Footer Placeholder 4">
            <a:extLst>
              <a:ext uri="{FF2B5EF4-FFF2-40B4-BE49-F238E27FC236}">
                <a16:creationId xmlns:a16="http://schemas.microsoft.com/office/drawing/2014/main" id="{ADF66533-A6B8-DC0C-410D-5567C1F7CF9C}"/>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41DD5D6A-9569-0B56-AA19-EBB2ED325A2D}"/>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10</a:t>
            </a:fld>
            <a:endParaRPr lang="en-US">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0DDF2888-0E01-71CE-B2F0-F20E21604319}"/>
              </a:ext>
            </a:extLst>
          </p:cNvPr>
          <p:cNvSpPr txBox="1">
            <a:spLocks/>
          </p:cNvSpPr>
          <p:nvPr/>
        </p:nvSpPr>
        <p:spPr>
          <a:xfrm>
            <a:off x="1981200" y="227013"/>
            <a:ext cx="8229600" cy="94203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sz="5000" dirty="0">
                <a:latin typeface="Times New Roman" panose="02020603050405020304" pitchFamily="18" charset="0"/>
                <a:ea typeface="Cambria" panose="02040503050406030204" pitchFamily="18" charset="0"/>
                <a:cs typeface="Times New Roman" panose="02020603050405020304" pitchFamily="18" charset="0"/>
              </a:rPr>
              <a:t>System </a:t>
            </a:r>
            <a:r>
              <a:rPr lang="en-IN" sz="5000" dirty="0" err="1">
                <a:latin typeface="Times New Roman" panose="02020603050405020304" pitchFamily="18" charset="0"/>
                <a:ea typeface="Cambria" panose="02040503050406030204" pitchFamily="18" charset="0"/>
                <a:cs typeface="Times New Roman" panose="02020603050405020304" pitchFamily="18" charset="0"/>
              </a:rPr>
              <a:t>Arictecture</a:t>
            </a:r>
            <a:endParaRPr lang="en-IN" sz="5000" dirty="0">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85E5CD8F-95C6-296C-ABCD-59F2FFE146F5}"/>
              </a:ext>
            </a:extLst>
          </p:cNvPr>
          <p:cNvPicPr>
            <a:picLocks noChangeAspect="1"/>
          </p:cNvPicPr>
          <p:nvPr/>
        </p:nvPicPr>
        <p:blipFill>
          <a:blip r:embed="rId2"/>
          <a:stretch>
            <a:fillRect/>
          </a:stretch>
        </p:blipFill>
        <p:spPr>
          <a:xfrm>
            <a:off x="2385060" y="1169044"/>
            <a:ext cx="7907020" cy="53698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5986ED0-8E40-058D-7516-1602D81622CA}"/>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6/3/2026</a:t>
            </a:r>
          </a:p>
        </p:txBody>
      </p:sp>
      <p:sp>
        <p:nvSpPr>
          <p:cNvPr id="5" name="Footer Placeholder 4">
            <a:extLst>
              <a:ext uri="{FF2B5EF4-FFF2-40B4-BE49-F238E27FC236}">
                <a16:creationId xmlns:a16="http://schemas.microsoft.com/office/drawing/2014/main" id="{1A79F0C8-7A7A-A8C2-6AF3-457E1168AAF3}"/>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A23C675F-1655-E4B1-5B38-8888290D07D0}"/>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11</a:t>
            </a:fld>
            <a:endParaRPr lang="en-US">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1FC14A3F-5E9A-CAE7-44EC-FD575F9AA1F6}"/>
              </a:ext>
            </a:extLst>
          </p:cNvPr>
          <p:cNvSpPr txBox="1">
            <a:spLocks/>
          </p:cNvSpPr>
          <p:nvPr/>
        </p:nvSpPr>
        <p:spPr>
          <a:xfrm>
            <a:off x="1981200" y="227013"/>
            <a:ext cx="8229600" cy="114300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ea typeface="Cambria" panose="02040503050406030204" pitchFamily="18" charset="0"/>
                <a:cs typeface="Times New Roman" panose="02020603050405020304" pitchFamily="18" charset="0"/>
              </a:rPr>
              <a:t>Methodology</a:t>
            </a:r>
          </a:p>
        </p:txBody>
      </p:sp>
      <p:sp>
        <p:nvSpPr>
          <p:cNvPr id="14" name="TextBox 13">
            <a:extLst>
              <a:ext uri="{FF2B5EF4-FFF2-40B4-BE49-F238E27FC236}">
                <a16:creationId xmlns:a16="http://schemas.microsoft.com/office/drawing/2014/main" id="{E25F41AC-3689-F42D-952B-A88CF45C890D}"/>
              </a:ext>
            </a:extLst>
          </p:cNvPr>
          <p:cNvSpPr txBox="1"/>
          <p:nvPr/>
        </p:nvSpPr>
        <p:spPr>
          <a:xfrm>
            <a:off x="514096" y="1550348"/>
            <a:ext cx="11383264" cy="3693319"/>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Acquisition Layer:</a:t>
            </a:r>
          </a:p>
          <a:p>
            <a:pPr marL="742950" lvl="1" indent="-285750" defTabSz="91440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Dual-Input Streams: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Simultaneous monitoring of incoming SMS text and embedded/scanned QR</a:t>
            </a: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code images.</a:t>
            </a:r>
            <a:endParaRPr lang="en-US" altLang="en-US" dirty="0">
              <a:latin typeface="Times New Roman" panose="02020603050405020304" pitchFamily="18" charset="0"/>
              <a:cs typeface="Times New Roman" panose="02020603050405020304" pitchFamily="18" charset="0"/>
            </a:endParaRPr>
          </a:p>
          <a:p>
            <a:pPr marL="742950" lvl="1" indent="-285750" defTabSz="91440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Extraction: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Utilizing NLP for text metadata and Computer Vision for QR payload extraction.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AI/ML Core (Hybrid Pipeline):</a:t>
            </a:r>
            <a:endParaRPr lang="en-US" altLang="en-US" dirty="0">
              <a:latin typeface="Times New Roman" panose="02020603050405020304" pitchFamily="18" charset="0"/>
              <a:cs typeface="Times New Roman" panose="02020603050405020304" pitchFamily="18" charset="0"/>
            </a:endParaRPr>
          </a:p>
          <a:p>
            <a:pPr marL="742950" lvl="1" indent="-285750" defTabSz="91440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Smishing Module: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Employs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TinyBERT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analyze text context, urgency, and sender reputation.</a:t>
            </a:r>
          </a:p>
          <a:p>
            <a:pPr marL="742950" lvl="1" indent="-285750" defTabSz="91440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Quishing</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Module: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Uses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evaluate the decoded URL safety.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Cross-Verification Engine:</a:t>
            </a:r>
            <a:endParaRPr lang="en-US" altLang="en-US" dirty="0">
              <a:latin typeface="Times New Roman" panose="02020603050405020304" pitchFamily="18" charset="0"/>
              <a:cs typeface="Times New Roman" panose="02020603050405020304" pitchFamily="18" charset="0"/>
            </a:endParaRPr>
          </a:p>
          <a:p>
            <a:pPr marL="742950" lvl="1" indent="-285750" defTabSz="91440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Correlates SMS context with QR landing pages to detect "Contextual Phishing“ (e.g., an SMS about banking leading to a non-banking URL).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Actionable Prevention Layer:</a:t>
            </a:r>
            <a:endParaRPr lang="en-US" altLang="en-US" dirty="0">
              <a:latin typeface="Times New Roman" panose="02020603050405020304" pitchFamily="18" charset="0"/>
              <a:cs typeface="Times New Roman" panose="02020603050405020304" pitchFamily="18" charset="0"/>
            </a:endParaRPr>
          </a:p>
          <a:p>
            <a:pPr marL="742950" lvl="1" indent="-285750" defTabSz="91440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Risk Scoring: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Categorizes threats as Low, Medium, or High.</a:t>
            </a:r>
          </a:p>
          <a:p>
            <a:pPr marL="742950" lvl="1" indent="-285750" defTabSz="91440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Response: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Instant blocking of malicious links and user alerts with visual safety indicators.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a:latin typeface="Times New Roman" panose="02020603050405020304" pitchFamily="18" charset="0"/>
                <a:cs typeface="Times New Roman" panose="02020603050405020304" pitchFamily="18" charset="0"/>
              </a:rPr>
              <a:t>Tools &amp; Technologies</a:t>
            </a:r>
          </a:p>
        </p:txBody>
      </p:sp>
      <p:sp>
        <p:nvSpPr>
          <p:cNvPr id="4" name="Date Placeholder 3">
            <a:extLst>
              <a:ext uri="{FF2B5EF4-FFF2-40B4-BE49-F238E27FC236}">
                <a16:creationId xmlns:a16="http://schemas.microsoft.com/office/drawing/2014/main" id="{F6F4D0EF-5B97-37A9-0EA2-C106230D6D5A}"/>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6/3/2026</a:t>
            </a:r>
          </a:p>
        </p:txBody>
      </p:sp>
      <p:sp>
        <p:nvSpPr>
          <p:cNvPr id="5" name="Footer Placeholder 4">
            <a:extLst>
              <a:ext uri="{FF2B5EF4-FFF2-40B4-BE49-F238E27FC236}">
                <a16:creationId xmlns:a16="http://schemas.microsoft.com/office/drawing/2014/main" id="{0B3E5799-1F57-972F-8A72-DACBBC067475}"/>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EAD85966-DD57-EDF5-AE8D-7A53279462AC}"/>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12</a:t>
            </a:fld>
            <a:endParaRPr lang="en-US">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2C97B3A-51BD-A408-13C1-F4877BCDCA72}"/>
              </a:ext>
            </a:extLst>
          </p:cNvPr>
          <p:cNvSpPr txBox="1">
            <a:spLocks/>
          </p:cNvSpPr>
          <p:nvPr/>
        </p:nvSpPr>
        <p:spPr>
          <a:xfrm>
            <a:off x="1981200" y="227013"/>
            <a:ext cx="8229600" cy="114300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ea typeface="Cambria" panose="02040503050406030204" pitchFamily="18" charset="0"/>
                <a:cs typeface="Times New Roman" panose="02020603050405020304" pitchFamily="18" charset="0"/>
              </a:rPr>
              <a:t>Tools and Technologies</a:t>
            </a:r>
          </a:p>
        </p:txBody>
      </p:sp>
      <p:graphicFrame>
        <p:nvGraphicFramePr>
          <p:cNvPr id="3" name="Table 2">
            <a:extLst>
              <a:ext uri="{FF2B5EF4-FFF2-40B4-BE49-F238E27FC236}">
                <a16:creationId xmlns:a16="http://schemas.microsoft.com/office/drawing/2014/main" id="{9964FF91-3E8D-1894-8B4A-3E38EA512B32}"/>
              </a:ext>
            </a:extLst>
          </p:cNvPr>
          <p:cNvGraphicFramePr>
            <a:graphicFrameLocks noGrp="1"/>
          </p:cNvGraphicFramePr>
          <p:nvPr>
            <p:extLst>
              <p:ext uri="{D42A27DB-BD31-4B8C-83A1-F6EECF244321}">
                <p14:modId xmlns:p14="http://schemas.microsoft.com/office/powerpoint/2010/main" val="1124891005"/>
              </p:ext>
            </p:extLst>
          </p:nvPr>
        </p:nvGraphicFramePr>
        <p:xfrm>
          <a:off x="983227" y="1600199"/>
          <a:ext cx="8884411" cy="4623619"/>
        </p:xfrm>
        <a:graphic>
          <a:graphicData uri="http://schemas.openxmlformats.org/drawingml/2006/table">
            <a:tbl>
              <a:tblPr firstRow="1">
                <a:tableStyleId>{073A0DAA-6AF3-43AB-8588-CEC1D06C72B9}</a:tableStyleId>
              </a:tblPr>
              <a:tblGrid>
                <a:gridCol w="2789897">
                  <a:extLst>
                    <a:ext uri="{9D8B030D-6E8A-4147-A177-3AD203B41FA5}">
                      <a16:colId xmlns:a16="http://schemas.microsoft.com/office/drawing/2014/main" val="850931511"/>
                    </a:ext>
                  </a:extLst>
                </a:gridCol>
                <a:gridCol w="3047257">
                  <a:extLst>
                    <a:ext uri="{9D8B030D-6E8A-4147-A177-3AD203B41FA5}">
                      <a16:colId xmlns:a16="http://schemas.microsoft.com/office/drawing/2014/main" val="2508454464"/>
                    </a:ext>
                  </a:extLst>
                </a:gridCol>
                <a:gridCol w="3047257">
                  <a:extLst>
                    <a:ext uri="{9D8B030D-6E8A-4147-A177-3AD203B41FA5}">
                      <a16:colId xmlns:a16="http://schemas.microsoft.com/office/drawing/2014/main" val="10911205"/>
                    </a:ext>
                  </a:extLst>
                </a:gridCol>
              </a:tblGrid>
              <a:tr h="385301">
                <a:tc>
                  <a:txBody>
                    <a:bodyPr/>
                    <a:lstStyle/>
                    <a:p>
                      <a:pPr>
                        <a:buNone/>
                      </a:pPr>
                      <a:r>
                        <a:rPr lang="en-IN" sz="1600" b="1" dirty="0">
                          <a:latin typeface="Times New Roman" panose="02020603050405020304" pitchFamily="18" charset="0"/>
                          <a:cs typeface="Times New Roman" panose="02020603050405020304" pitchFamily="18" charset="0"/>
                        </a:rPr>
                        <a:t>Layer</a:t>
                      </a:r>
                      <a:endParaRPr lang="en-IN" sz="1600" dirty="0">
                        <a:latin typeface="Times New Roman" panose="02020603050405020304" pitchFamily="18" charset="0"/>
                        <a:cs typeface="Times New Roman" panose="02020603050405020304" pitchFamily="18" charset="0"/>
                      </a:endParaRPr>
                    </a:p>
                  </a:txBody>
                  <a:tcPr marL="62861" marR="62861" marT="31430" marB="31430" anchor="ctr"/>
                </a:tc>
                <a:tc>
                  <a:txBody>
                    <a:bodyPr/>
                    <a:lstStyle/>
                    <a:p>
                      <a:pPr>
                        <a:buNone/>
                      </a:pPr>
                      <a:r>
                        <a:rPr lang="en-IN" sz="1600" b="1">
                          <a:latin typeface="Times New Roman" panose="02020603050405020304" pitchFamily="18" charset="0"/>
                          <a:cs typeface="Times New Roman" panose="02020603050405020304" pitchFamily="18" charset="0"/>
                        </a:rPr>
                        <a:t>Tools &amp; Technologies</a:t>
                      </a:r>
                      <a:endParaRPr lang="en-IN" sz="1600">
                        <a:latin typeface="Times New Roman" panose="02020603050405020304" pitchFamily="18" charset="0"/>
                        <a:cs typeface="Times New Roman" panose="02020603050405020304" pitchFamily="18" charset="0"/>
                      </a:endParaRPr>
                    </a:p>
                  </a:txBody>
                  <a:tcPr marL="62861" marR="62861" marT="31430" marB="31430" anchor="ctr"/>
                </a:tc>
                <a:tc>
                  <a:txBody>
                    <a:bodyPr/>
                    <a:lstStyle/>
                    <a:p>
                      <a:pPr>
                        <a:buNone/>
                      </a:pPr>
                      <a:r>
                        <a:rPr lang="en-IN" sz="1600" b="1">
                          <a:latin typeface="Times New Roman" panose="02020603050405020304" pitchFamily="18" charset="0"/>
                          <a:cs typeface="Times New Roman" panose="02020603050405020304" pitchFamily="18" charset="0"/>
                        </a:rPr>
                        <a:t>Purpose</a:t>
                      </a:r>
                      <a:endParaRPr lang="en-IN" sz="1600">
                        <a:latin typeface="Times New Roman" panose="02020603050405020304" pitchFamily="18" charset="0"/>
                        <a:cs typeface="Times New Roman" panose="02020603050405020304" pitchFamily="18" charset="0"/>
                      </a:endParaRPr>
                    </a:p>
                  </a:txBody>
                  <a:tcPr marL="62861" marR="62861" marT="31430" marB="31430" anchor="ctr"/>
                </a:tc>
                <a:extLst>
                  <a:ext uri="{0D108BD9-81ED-4DB2-BD59-A6C34878D82A}">
                    <a16:rowId xmlns:a16="http://schemas.microsoft.com/office/drawing/2014/main" val="1600826708"/>
                  </a:ext>
                </a:extLst>
              </a:tr>
              <a:tr h="674278">
                <a:tc>
                  <a:txBody>
                    <a:bodyPr/>
                    <a:lstStyle/>
                    <a:p>
                      <a:pPr>
                        <a:buNone/>
                      </a:pPr>
                      <a:r>
                        <a:rPr lang="en-IN" sz="1600" b="1">
                          <a:latin typeface="Times New Roman" panose="02020603050405020304" pitchFamily="18" charset="0"/>
                          <a:cs typeface="Times New Roman" panose="02020603050405020304" pitchFamily="18" charset="0"/>
                        </a:rPr>
                        <a:t>Mobile App Development</a:t>
                      </a:r>
                      <a:endParaRPr lang="en-IN" sz="1600">
                        <a:latin typeface="Times New Roman" panose="02020603050405020304" pitchFamily="18" charset="0"/>
                        <a:cs typeface="Times New Roman" panose="02020603050405020304" pitchFamily="18" charset="0"/>
                      </a:endParaRPr>
                    </a:p>
                  </a:txBody>
                  <a:tcPr marL="62861" marR="62861" marT="31430" marB="31430" anchor="ctr"/>
                </a:tc>
                <a:tc>
                  <a:txBody>
                    <a:bodyPr/>
                    <a:lstStyle/>
                    <a:p>
                      <a:pPr>
                        <a:buNone/>
                      </a:pPr>
                      <a:r>
                        <a:rPr lang="en-IN" sz="1600">
                          <a:latin typeface="Times New Roman" panose="02020603050405020304" pitchFamily="18" charset="0"/>
                          <a:cs typeface="Times New Roman" panose="02020603050405020304" pitchFamily="18" charset="0"/>
                        </a:rPr>
                        <a:t>Android Studio, Kotlin / Java</a:t>
                      </a:r>
                    </a:p>
                  </a:txBody>
                  <a:tcPr marL="62861" marR="62861" marT="31430" marB="31430" anchor="ctr"/>
                </a:tc>
                <a:tc>
                  <a:txBody>
                    <a:bodyPr/>
                    <a:lstStyle/>
                    <a:p>
                      <a:pPr>
                        <a:buNone/>
                      </a:pPr>
                      <a:r>
                        <a:rPr lang="en-US" sz="1600">
                          <a:latin typeface="Times New Roman" panose="02020603050405020304" pitchFamily="18" charset="0"/>
                          <a:cs typeface="Times New Roman" panose="02020603050405020304" pitchFamily="18" charset="0"/>
                        </a:rPr>
                        <a:t>Development of the Android mobile application</a:t>
                      </a:r>
                    </a:p>
                  </a:txBody>
                  <a:tcPr marL="62861" marR="62861" marT="31430" marB="31430" anchor="ctr"/>
                </a:tc>
                <a:extLst>
                  <a:ext uri="{0D108BD9-81ED-4DB2-BD59-A6C34878D82A}">
                    <a16:rowId xmlns:a16="http://schemas.microsoft.com/office/drawing/2014/main" val="2683960694"/>
                  </a:ext>
                </a:extLst>
              </a:tr>
              <a:tr h="674278">
                <a:tc>
                  <a:txBody>
                    <a:bodyPr/>
                    <a:lstStyle/>
                    <a:p>
                      <a:pPr>
                        <a:buNone/>
                      </a:pPr>
                      <a:r>
                        <a:rPr lang="en-IN" sz="1600" b="1">
                          <a:latin typeface="Times New Roman" panose="02020603050405020304" pitchFamily="18" charset="0"/>
                          <a:cs typeface="Times New Roman" panose="02020603050405020304" pitchFamily="18" charset="0"/>
                        </a:rPr>
                        <a:t>Data Acquisition</a:t>
                      </a:r>
                      <a:endParaRPr lang="en-IN" sz="1600">
                        <a:latin typeface="Times New Roman" panose="02020603050405020304" pitchFamily="18" charset="0"/>
                        <a:cs typeface="Times New Roman" panose="02020603050405020304" pitchFamily="18" charset="0"/>
                      </a:endParaRPr>
                    </a:p>
                  </a:txBody>
                  <a:tcPr marL="62861" marR="62861" marT="31430" marB="31430" anchor="ctr"/>
                </a:tc>
                <a:tc>
                  <a:txBody>
                    <a:bodyPr/>
                    <a:lstStyle/>
                    <a:p>
                      <a:pPr>
                        <a:buNone/>
                      </a:pPr>
                      <a:r>
                        <a:rPr lang="en-IN" sz="1600" dirty="0">
                          <a:latin typeface="Times New Roman" panose="02020603050405020304" pitchFamily="18" charset="0"/>
                          <a:cs typeface="Times New Roman" panose="02020603050405020304" pitchFamily="18" charset="0"/>
                        </a:rPr>
                        <a:t>Android SMS API, </a:t>
                      </a:r>
                      <a:r>
                        <a:rPr lang="en-IN" sz="1600" dirty="0" err="1">
                          <a:latin typeface="Times New Roman" panose="02020603050405020304" pitchFamily="18" charset="0"/>
                          <a:cs typeface="Times New Roman" panose="02020603050405020304" pitchFamily="18" charset="0"/>
                        </a:rPr>
                        <a:t>ZXing</a:t>
                      </a:r>
                      <a:endParaRPr lang="en-IN" sz="1600" dirty="0">
                        <a:latin typeface="Times New Roman" panose="02020603050405020304" pitchFamily="18" charset="0"/>
                        <a:cs typeface="Times New Roman" panose="02020603050405020304" pitchFamily="18" charset="0"/>
                      </a:endParaRPr>
                    </a:p>
                  </a:txBody>
                  <a:tcPr marL="62861" marR="62861" marT="31430" marB="31430" anchor="ctr"/>
                </a:tc>
                <a:tc>
                  <a:txBody>
                    <a:bodyPr/>
                    <a:lstStyle/>
                    <a:p>
                      <a:pPr>
                        <a:buNone/>
                      </a:pPr>
                      <a:r>
                        <a:rPr lang="en-US" sz="1600">
                          <a:latin typeface="Times New Roman" panose="02020603050405020304" pitchFamily="18" charset="0"/>
                          <a:cs typeface="Times New Roman" panose="02020603050405020304" pitchFamily="18" charset="0"/>
                        </a:rPr>
                        <a:t>Capturing incoming SMS messages and scanning/decoding QR codes</a:t>
                      </a:r>
                    </a:p>
                  </a:txBody>
                  <a:tcPr marL="62861" marR="62861" marT="31430" marB="31430" anchor="ctr"/>
                </a:tc>
                <a:extLst>
                  <a:ext uri="{0D108BD9-81ED-4DB2-BD59-A6C34878D82A}">
                    <a16:rowId xmlns:a16="http://schemas.microsoft.com/office/drawing/2014/main" val="3091906198"/>
                  </a:ext>
                </a:extLst>
              </a:tr>
              <a:tr h="963254">
                <a:tc>
                  <a:txBody>
                    <a:bodyPr/>
                    <a:lstStyle/>
                    <a:p>
                      <a:pPr>
                        <a:buNone/>
                      </a:pPr>
                      <a:r>
                        <a:rPr lang="en-IN" sz="1600" b="1" dirty="0">
                          <a:latin typeface="Times New Roman" panose="02020603050405020304" pitchFamily="18" charset="0"/>
                          <a:cs typeface="Times New Roman" panose="02020603050405020304" pitchFamily="18" charset="0"/>
                        </a:rPr>
                        <a:t>AI/ML Models</a:t>
                      </a:r>
                      <a:endParaRPr lang="en-IN" sz="1600" dirty="0">
                        <a:latin typeface="Times New Roman" panose="02020603050405020304" pitchFamily="18" charset="0"/>
                        <a:cs typeface="Times New Roman" panose="02020603050405020304" pitchFamily="18" charset="0"/>
                      </a:endParaRPr>
                    </a:p>
                  </a:txBody>
                  <a:tcPr marL="62861" marR="62861" marT="31430" marB="31430" anchor="ctr"/>
                </a:tc>
                <a:tc>
                  <a:txBody>
                    <a:bodyPr/>
                    <a:lstStyle/>
                    <a:p>
                      <a:pPr>
                        <a:buNone/>
                      </a:pPr>
                      <a:r>
                        <a:rPr lang="en-IN" sz="1600" dirty="0" err="1">
                          <a:latin typeface="Times New Roman" panose="02020603050405020304" pitchFamily="18" charset="0"/>
                          <a:cs typeface="Times New Roman" panose="02020603050405020304" pitchFamily="18" charset="0"/>
                        </a:rPr>
                        <a:t>TinyBERT</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XGBoost</a:t>
                      </a:r>
                      <a:r>
                        <a:rPr lang="en-IN" sz="1600" dirty="0">
                          <a:latin typeface="Times New Roman" panose="02020603050405020304" pitchFamily="18" charset="0"/>
                          <a:cs typeface="Times New Roman" panose="02020603050405020304" pitchFamily="18" charset="0"/>
                        </a:rPr>
                        <a:t>, Scikit-learn</a:t>
                      </a:r>
                    </a:p>
                  </a:txBody>
                  <a:tcPr marL="62861" marR="62861" marT="31430" marB="31430" anchor="ctr"/>
                </a:tc>
                <a:tc>
                  <a:txBody>
                    <a:bodyPr/>
                    <a:lstStyle/>
                    <a:p>
                      <a:pPr>
                        <a:buNone/>
                      </a:pPr>
                      <a:r>
                        <a:rPr lang="en-US" sz="1600" dirty="0">
                          <a:latin typeface="Times New Roman" panose="02020603050405020304" pitchFamily="18" charset="0"/>
                          <a:cs typeface="Times New Roman" panose="02020603050405020304" pitchFamily="18" charset="0"/>
                        </a:rPr>
                        <a:t>Detecting smishing attacks from SMS and evaluating phishing URLs from QR codes</a:t>
                      </a:r>
                    </a:p>
                  </a:txBody>
                  <a:tcPr marL="62861" marR="62861" marT="31430" marB="31430" anchor="ctr"/>
                </a:tc>
                <a:extLst>
                  <a:ext uri="{0D108BD9-81ED-4DB2-BD59-A6C34878D82A}">
                    <a16:rowId xmlns:a16="http://schemas.microsoft.com/office/drawing/2014/main" val="3999384308"/>
                  </a:ext>
                </a:extLst>
              </a:tr>
              <a:tr h="963254">
                <a:tc>
                  <a:txBody>
                    <a:bodyPr/>
                    <a:lstStyle/>
                    <a:p>
                      <a:pPr>
                        <a:buNone/>
                      </a:pPr>
                      <a:r>
                        <a:rPr lang="en-IN" sz="1600" b="1" dirty="0">
                          <a:latin typeface="Times New Roman" panose="02020603050405020304" pitchFamily="18" charset="0"/>
                          <a:cs typeface="Times New Roman" panose="02020603050405020304" pitchFamily="18" charset="0"/>
                        </a:rPr>
                        <a:t>Backend Integration</a:t>
                      </a:r>
                      <a:endParaRPr lang="en-IN" sz="1600" dirty="0">
                        <a:latin typeface="Times New Roman" panose="02020603050405020304" pitchFamily="18" charset="0"/>
                        <a:cs typeface="Times New Roman" panose="02020603050405020304" pitchFamily="18" charset="0"/>
                      </a:endParaRPr>
                    </a:p>
                  </a:txBody>
                  <a:tcPr marL="62861" marR="62861" marT="31430" marB="31430" anchor="ctr"/>
                </a:tc>
                <a:tc>
                  <a:txBody>
                    <a:bodyPr/>
                    <a:lstStyle/>
                    <a:p>
                      <a:pPr>
                        <a:buNone/>
                      </a:pPr>
                      <a:r>
                        <a:rPr lang="en-IN" sz="1600" dirty="0">
                          <a:latin typeface="Times New Roman" panose="02020603050405020304" pitchFamily="18" charset="0"/>
                          <a:cs typeface="Times New Roman" panose="02020603050405020304" pitchFamily="18" charset="0"/>
                        </a:rPr>
                        <a:t>Python, </a:t>
                      </a:r>
                      <a:r>
                        <a:rPr lang="en-IN" sz="1600" dirty="0" err="1">
                          <a:latin typeface="Times New Roman" panose="02020603050405020304" pitchFamily="18" charset="0"/>
                          <a:cs typeface="Times New Roman" panose="02020603050405020304" pitchFamily="18" charset="0"/>
                        </a:rPr>
                        <a:t>FastAPI</a:t>
                      </a:r>
                      <a:endParaRPr lang="en-IN" sz="1600" dirty="0">
                        <a:latin typeface="Times New Roman" panose="02020603050405020304" pitchFamily="18" charset="0"/>
                        <a:cs typeface="Times New Roman" panose="02020603050405020304" pitchFamily="18" charset="0"/>
                      </a:endParaRPr>
                    </a:p>
                  </a:txBody>
                  <a:tcPr marL="62861" marR="62861" marT="31430" marB="31430" anchor="ctr"/>
                </a:tc>
                <a:tc>
                  <a:txBody>
                    <a:bodyPr/>
                    <a:lstStyle/>
                    <a:p>
                      <a:pPr>
                        <a:buNone/>
                      </a:pPr>
                      <a:r>
                        <a:rPr lang="en-US" sz="1600" dirty="0">
                          <a:latin typeface="Times New Roman" panose="02020603050405020304" pitchFamily="18" charset="0"/>
                          <a:cs typeface="Times New Roman" panose="02020603050405020304" pitchFamily="18" charset="0"/>
                        </a:rPr>
                        <a:t>Connecting AI models with the mobile application for processing and communication</a:t>
                      </a:r>
                    </a:p>
                  </a:txBody>
                  <a:tcPr marL="62861" marR="62861" marT="31430" marB="31430" anchor="ctr"/>
                </a:tc>
                <a:extLst>
                  <a:ext uri="{0D108BD9-81ED-4DB2-BD59-A6C34878D82A}">
                    <a16:rowId xmlns:a16="http://schemas.microsoft.com/office/drawing/2014/main" val="2770031603"/>
                  </a:ext>
                </a:extLst>
              </a:tr>
              <a:tr h="963254">
                <a:tc>
                  <a:txBody>
                    <a:bodyPr/>
                    <a:lstStyle/>
                    <a:p>
                      <a:pPr>
                        <a:buNone/>
                      </a:pPr>
                      <a:r>
                        <a:rPr lang="en-IN" sz="1600" b="1" dirty="0">
                          <a:latin typeface="Times New Roman" panose="02020603050405020304" pitchFamily="18" charset="0"/>
                          <a:cs typeface="Times New Roman" panose="02020603050405020304" pitchFamily="18" charset="0"/>
                        </a:rPr>
                        <a:t>Mobile Dashboard &amp; Alerts</a:t>
                      </a:r>
                      <a:endParaRPr lang="en-IN" sz="1600" dirty="0">
                        <a:latin typeface="Times New Roman" panose="02020603050405020304" pitchFamily="18" charset="0"/>
                        <a:cs typeface="Times New Roman" panose="02020603050405020304" pitchFamily="18" charset="0"/>
                      </a:endParaRPr>
                    </a:p>
                  </a:txBody>
                  <a:tcPr marL="62861" marR="62861" marT="31430" marB="31430" anchor="ctr"/>
                </a:tc>
                <a:tc>
                  <a:txBody>
                    <a:bodyPr/>
                    <a:lstStyle/>
                    <a:p>
                      <a:pPr>
                        <a:buNone/>
                      </a:pPr>
                      <a:r>
                        <a:rPr lang="en-IN" sz="1600">
                          <a:latin typeface="Times New Roman" panose="02020603050405020304" pitchFamily="18" charset="0"/>
                          <a:cs typeface="Times New Roman" panose="02020603050405020304" pitchFamily="18" charset="0"/>
                        </a:rPr>
                        <a:t>Android UI (XML / Jetpack Components)</a:t>
                      </a:r>
                    </a:p>
                  </a:txBody>
                  <a:tcPr marL="62861" marR="62861" marT="31430" marB="31430" anchor="ctr"/>
                </a:tc>
                <a:tc>
                  <a:txBody>
                    <a:bodyPr/>
                    <a:lstStyle/>
                    <a:p>
                      <a:pPr>
                        <a:buNone/>
                      </a:pPr>
                      <a:r>
                        <a:rPr lang="en-US" sz="1600" dirty="0">
                          <a:latin typeface="Times New Roman" panose="02020603050405020304" pitchFamily="18" charset="0"/>
                          <a:cs typeface="Times New Roman" panose="02020603050405020304" pitchFamily="18" charset="0"/>
                        </a:rPr>
                        <a:t>Displaying risk scores, phishing alerts, and security notifications within the mobile app</a:t>
                      </a:r>
                    </a:p>
                  </a:txBody>
                  <a:tcPr marL="62861" marR="62861" marT="31430" marB="31430" anchor="ctr"/>
                </a:tc>
                <a:extLst>
                  <a:ext uri="{0D108BD9-81ED-4DB2-BD59-A6C34878D82A}">
                    <a16:rowId xmlns:a16="http://schemas.microsoft.com/office/drawing/2014/main" val="84974237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FCFBAF5-6E31-8EE4-3261-8D7163DDB693}"/>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6/3/2026</a:t>
            </a:r>
          </a:p>
        </p:txBody>
      </p:sp>
      <p:sp>
        <p:nvSpPr>
          <p:cNvPr id="5" name="Footer Placeholder 4">
            <a:extLst>
              <a:ext uri="{FF2B5EF4-FFF2-40B4-BE49-F238E27FC236}">
                <a16:creationId xmlns:a16="http://schemas.microsoft.com/office/drawing/2014/main" id="{0356797B-072B-9131-ADA2-9B3382E8DB85}"/>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B1A9947A-7FC4-3A35-0CDB-38317D5BC388}"/>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13</a:t>
            </a:fld>
            <a:endParaRPr lang="en-US">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53FC0632-AB84-8BB2-FE52-70BB7B0FDF91}"/>
              </a:ext>
            </a:extLst>
          </p:cNvPr>
          <p:cNvSpPr txBox="1">
            <a:spLocks/>
          </p:cNvSpPr>
          <p:nvPr/>
        </p:nvSpPr>
        <p:spPr>
          <a:xfrm>
            <a:off x="1981200" y="227013"/>
            <a:ext cx="8229600" cy="114300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ea typeface="Cambria" panose="02040503050406030204" pitchFamily="18" charset="0"/>
                <a:cs typeface="Times New Roman" panose="02020603050405020304" pitchFamily="18" charset="0"/>
              </a:rPr>
              <a:t>Feasibility Study</a:t>
            </a:r>
          </a:p>
        </p:txBody>
      </p:sp>
      <p:sp>
        <p:nvSpPr>
          <p:cNvPr id="2" name="Rectangle 1">
            <a:extLst>
              <a:ext uri="{FF2B5EF4-FFF2-40B4-BE49-F238E27FC236}">
                <a16:creationId xmlns:a16="http://schemas.microsoft.com/office/drawing/2014/main" id="{59DEA792-B260-9346-FD65-83736337FE65}"/>
              </a:ext>
            </a:extLst>
          </p:cNvPr>
          <p:cNvSpPr>
            <a:spLocks noChangeArrowheads="1"/>
          </p:cNvSpPr>
          <p:nvPr/>
        </p:nvSpPr>
        <p:spPr bwMode="auto">
          <a:xfrm>
            <a:off x="899160" y="1696998"/>
            <a:ext cx="1022604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AI/ML Based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Quishing</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Smishing Detection and Prevention System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feasible in terms of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technical, economic, operational, and schedule aspects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From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technical perspective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can be implemented using technologies such as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ZXing</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QR code scanning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TinyBERT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SMS phishing detection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URL safety analysis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Natural Language Processing using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SpaCy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used for SMS text preprocessing and feature extraction.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FastAPI</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frameworks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be used to integrate AI/ML models with the mobile application.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From an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economic perspective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project is cost-effective because it uses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open-source tools and existing hardware resources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From an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operational perspective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works in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 time by monitoring SMS messages and scanned QR codes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providing alerts to users when phishing threats are detected.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From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schedule perspective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project can be completed within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academic timeline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dividing tasks such as data collection, model development, application integration, and testing among team members.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EFEC57-062C-34F3-68D5-A759C3F0391D}"/>
              </a:ext>
            </a:extLst>
          </p:cNvPr>
          <p:cNvSpPr>
            <a:spLocks noGrp="1"/>
          </p:cNvSpPr>
          <p:nvPr>
            <p:ph idx="1"/>
          </p:nvPr>
        </p:nvSpPr>
        <p:spPr/>
        <p:txBody>
          <a:bodyPr>
            <a:normAutofit fontScale="62500" lnSpcReduction="20000"/>
          </a:bodyPr>
          <a:lstStyle/>
          <a:p>
            <a:pPr>
              <a:lnSpc>
                <a:spcPct val="115000"/>
              </a:lnSpc>
              <a:spcBef>
                <a:spcPts val="0"/>
              </a:spcBef>
              <a:buFont typeface="Roboto"/>
              <a:buChar char="●"/>
            </a:pPr>
            <a:r>
              <a:rPr lang="en-IN" b="1" dirty="0">
                <a:latin typeface="Times New Roman" panose="02020603050405020304" pitchFamily="18" charset="0"/>
                <a:cs typeface="Times New Roman" panose="02020603050405020304" pitchFamily="18" charset="0"/>
              </a:rPr>
              <a:t>GOAL 4 – Quality Education</a:t>
            </a:r>
          </a:p>
          <a:p>
            <a:pPr marL="114300" indent="0">
              <a:lnSpc>
                <a:spcPct val="115000"/>
              </a:lnSpc>
              <a:spcBef>
                <a:spcPts val="0"/>
              </a:spcBef>
              <a:buNone/>
            </a:pP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Protects students and educational platforms from phishing attacks</a:t>
            </a:r>
            <a:endParaRPr lang="en-IN" dirty="0">
              <a:latin typeface="Times New Roman" panose="02020603050405020304" pitchFamily="18" charset="0"/>
              <a:cs typeface="Times New Roman" panose="02020603050405020304" pitchFamily="18" charset="0"/>
            </a:endParaRPr>
          </a:p>
          <a:p>
            <a:pPr>
              <a:lnSpc>
                <a:spcPct val="115000"/>
              </a:lnSpc>
              <a:spcBef>
                <a:spcPts val="0"/>
              </a:spcBef>
              <a:buFont typeface="Roboto"/>
              <a:buChar char="●"/>
            </a:pPr>
            <a:endParaRPr lang="en-IN" b="1" dirty="0">
              <a:latin typeface="Times New Roman" panose="02020603050405020304" pitchFamily="18" charset="0"/>
              <a:cs typeface="Times New Roman" panose="02020603050405020304" pitchFamily="18" charset="0"/>
            </a:endParaRPr>
          </a:p>
          <a:p>
            <a:pPr>
              <a:lnSpc>
                <a:spcPct val="115000"/>
              </a:lnSpc>
              <a:spcBef>
                <a:spcPts val="0"/>
              </a:spcBef>
              <a:buFont typeface="Roboto"/>
              <a:buChar char="●"/>
            </a:pPr>
            <a:r>
              <a:rPr lang="en-US" b="1" dirty="0">
                <a:latin typeface="Times New Roman" panose="02020603050405020304" pitchFamily="18" charset="0"/>
                <a:cs typeface="Times New Roman" panose="02020603050405020304" pitchFamily="18" charset="0"/>
              </a:rPr>
              <a:t>GOAL 8 – Decent Work and Economic Growth</a:t>
            </a:r>
          </a:p>
          <a:p>
            <a:pPr marL="114300" indent="0">
              <a:lnSpc>
                <a:spcPct val="115000"/>
              </a:lnSpc>
              <a:spcBef>
                <a:spcPts val="0"/>
              </a:spcBef>
              <a:buNone/>
            </a:pPr>
            <a:r>
              <a:rPr lang="en-US" dirty="0">
                <a:latin typeface="Times New Roman" panose="02020603050405020304" pitchFamily="18" charset="0"/>
                <a:cs typeface="Times New Roman" panose="02020603050405020304" pitchFamily="18" charset="0"/>
              </a:rPr>
              <a:t>      Prevents financial losses due to phishing scams</a:t>
            </a:r>
          </a:p>
          <a:p>
            <a:pPr marL="114300" indent="0">
              <a:lnSpc>
                <a:spcPct val="115000"/>
              </a:lnSpc>
              <a:spcBef>
                <a:spcPts val="0"/>
              </a:spcBef>
            </a:pPr>
            <a:endParaRPr lang="en-US" dirty="0">
              <a:latin typeface="Times New Roman" panose="02020603050405020304" pitchFamily="18" charset="0"/>
              <a:cs typeface="Times New Roman" panose="02020603050405020304" pitchFamily="18" charset="0"/>
            </a:endParaRPr>
          </a:p>
          <a:p>
            <a:pPr lvl="0">
              <a:lnSpc>
                <a:spcPct val="115000"/>
              </a:lnSpc>
              <a:spcBef>
                <a:spcPts val="0"/>
              </a:spcBef>
              <a:buFont typeface="Roboto"/>
              <a:buChar char="●"/>
            </a:pPr>
            <a:r>
              <a:rPr lang="en-US" b="1" dirty="0">
                <a:latin typeface="Times New Roman" panose="02020603050405020304" pitchFamily="18" charset="0"/>
                <a:cs typeface="Times New Roman" panose="02020603050405020304" pitchFamily="18" charset="0"/>
              </a:rPr>
              <a:t>GOAL 9 – Industry, Innovation and Infrastructure</a:t>
            </a:r>
          </a:p>
          <a:p>
            <a:pPr marL="114300" lvl="0" indent="0">
              <a:lnSpc>
                <a:spcPct val="115000"/>
              </a:lnSpc>
              <a:spcBef>
                <a:spcPts val="0"/>
              </a:spcBef>
              <a:buNone/>
            </a:pPr>
            <a:r>
              <a:rPr lang="en-US" dirty="0">
                <a:latin typeface="Times New Roman" panose="02020603050405020304" pitchFamily="18" charset="0"/>
                <a:cs typeface="Times New Roman" panose="02020603050405020304" pitchFamily="18" charset="0"/>
              </a:rPr>
              <a:t>       Support safe adoption of cloud services, online platforms, and digital systems</a:t>
            </a:r>
          </a:p>
          <a:p>
            <a:pPr>
              <a:lnSpc>
                <a:spcPct val="115000"/>
              </a:lnSpc>
              <a:spcBef>
                <a:spcPts val="0"/>
              </a:spcBef>
              <a:buFont typeface="Roboto"/>
              <a:buChar char="●"/>
            </a:pPr>
            <a:endParaRPr lang="en-US" dirty="0">
              <a:latin typeface="Times New Roman" panose="02020603050405020304" pitchFamily="18" charset="0"/>
              <a:cs typeface="Times New Roman" panose="02020603050405020304" pitchFamily="18" charset="0"/>
            </a:endParaRPr>
          </a:p>
          <a:p>
            <a:pPr>
              <a:lnSpc>
                <a:spcPct val="115000"/>
              </a:lnSpc>
              <a:spcBef>
                <a:spcPts val="0"/>
              </a:spcBef>
              <a:buFont typeface="Roboto"/>
              <a:buChar char="●"/>
            </a:pPr>
            <a:r>
              <a:rPr lang="en-US" b="1" dirty="0">
                <a:latin typeface="Times New Roman" panose="02020603050405020304" pitchFamily="18" charset="0"/>
                <a:cs typeface="Times New Roman" panose="02020603050405020304" pitchFamily="18" charset="0"/>
              </a:rPr>
              <a:t>GOAL 11 – Sustainable Cities and Communities</a:t>
            </a:r>
          </a:p>
          <a:p>
            <a:pPr marL="114300" indent="0">
              <a:lnSpc>
                <a:spcPct val="115000"/>
              </a:lnSpc>
              <a:spcBef>
                <a:spcPts val="0"/>
              </a:spcBef>
              <a:buNone/>
            </a:pPr>
            <a:r>
              <a:rPr lang="en-US" dirty="0">
                <a:latin typeface="Times New Roman" panose="02020603050405020304" pitchFamily="18" charset="0"/>
                <a:cs typeface="Times New Roman" panose="02020603050405020304" pitchFamily="18" charset="0"/>
              </a:rPr>
              <a:t>	  Protects citizens using online public services and QR-based systems</a:t>
            </a:r>
            <a:endParaRPr lang="en-IN" dirty="0">
              <a:latin typeface="Times New Roman" panose="02020603050405020304" pitchFamily="18" charset="0"/>
              <a:cs typeface="Times New Roman" panose="02020603050405020304" pitchFamily="18" charset="0"/>
            </a:endParaRPr>
          </a:p>
          <a:p>
            <a:pPr lvl="0">
              <a:lnSpc>
                <a:spcPct val="115000"/>
              </a:lnSpc>
              <a:spcBef>
                <a:spcPts val="0"/>
              </a:spcBef>
              <a:buFont typeface="Roboto"/>
              <a:buChar char="●"/>
            </a:pPr>
            <a:endParaRPr lang="en-US" dirty="0">
              <a:latin typeface="Times New Roman" panose="02020603050405020304" pitchFamily="18" charset="0"/>
              <a:cs typeface="Times New Roman" panose="02020603050405020304" pitchFamily="18" charset="0"/>
            </a:endParaRPr>
          </a:p>
          <a:p>
            <a:pPr lvl="0">
              <a:lnSpc>
                <a:spcPct val="115000"/>
              </a:lnSpc>
              <a:spcBef>
                <a:spcPts val="0"/>
              </a:spcBef>
              <a:buFont typeface="Roboto"/>
              <a:buChar char="●"/>
            </a:pPr>
            <a:r>
              <a:rPr lang="en-US" b="1" dirty="0">
                <a:latin typeface="Times New Roman" panose="02020603050405020304" pitchFamily="18" charset="0"/>
                <a:cs typeface="Times New Roman" panose="02020603050405020304" pitchFamily="18" charset="0"/>
              </a:rPr>
              <a:t>GOAL 16 – Peace, Justice and Strong Institutions</a:t>
            </a:r>
          </a:p>
          <a:p>
            <a:pPr marL="114300" lvl="0" indent="0">
              <a:lnSpc>
                <a:spcPct val="115000"/>
              </a:lnSpc>
              <a:spcBef>
                <a:spcPts val="0"/>
              </a:spcBef>
              <a:buNone/>
            </a:pPr>
            <a:r>
              <a:rPr lang="en-US" dirty="0">
                <a:latin typeface="Times New Roman" panose="02020603050405020304" pitchFamily="18" charset="0"/>
                <a:cs typeface="Times New Roman" panose="02020603050405020304" pitchFamily="18" charset="0"/>
              </a:rPr>
              <a:t>	  </a:t>
            </a:r>
            <a:r>
              <a:rPr lang="en-IN" dirty="0"/>
              <a:t>Helps combat cybercrime and digital fraud</a:t>
            </a: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96EA9FA-D149-C71E-CD5E-1BCD751EDA0D}"/>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6/3/2026</a:t>
            </a:r>
          </a:p>
        </p:txBody>
      </p:sp>
      <p:sp>
        <p:nvSpPr>
          <p:cNvPr id="5" name="Footer Placeholder 4">
            <a:extLst>
              <a:ext uri="{FF2B5EF4-FFF2-40B4-BE49-F238E27FC236}">
                <a16:creationId xmlns:a16="http://schemas.microsoft.com/office/drawing/2014/main" id="{5A9A7184-824A-50F6-2EF4-93FD72BE7CA9}"/>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E3CB0222-5CA5-8A03-33A1-1596D3752888}"/>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14</a:t>
            </a:fld>
            <a:endParaRPr lang="en-US">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558F8AA1-54FB-D4E1-BA1E-A9FD13D8076F}"/>
              </a:ext>
            </a:extLst>
          </p:cNvPr>
          <p:cNvSpPr txBox="1">
            <a:spLocks/>
          </p:cNvSpPr>
          <p:nvPr/>
        </p:nvSpPr>
        <p:spPr>
          <a:xfrm>
            <a:off x="1780478" y="136524"/>
            <a:ext cx="8229600" cy="114300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fontScale="62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400" b="1" dirty="0">
                <a:latin typeface="Bookman Old Style"/>
                <a:ea typeface="Bookman Old Style"/>
                <a:cs typeface="Bookman Old Style"/>
                <a:sym typeface="Bookman Old Style"/>
              </a:rPr>
              <a:t>SDG (</a:t>
            </a:r>
            <a:r>
              <a:rPr lang="en-US" sz="4000" b="1" dirty="0">
                <a:latin typeface="Roboto"/>
                <a:ea typeface="Roboto"/>
                <a:cs typeface="Roboto"/>
                <a:sym typeface="Roboto"/>
              </a:rPr>
              <a:t>Sustainable Development Goals)</a:t>
            </a:r>
            <a:br>
              <a:rPr lang="en-US" sz="4000" b="1" dirty="0">
                <a:latin typeface="Roboto"/>
                <a:ea typeface="Roboto"/>
                <a:cs typeface="Roboto"/>
                <a:sym typeface="Roboto"/>
              </a:rPr>
            </a:br>
            <a:r>
              <a:rPr lang="en-US" sz="4400" b="1" dirty="0">
                <a:latin typeface="Bookman Old Style"/>
                <a:ea typeface="Bookman Old Style"/>
                <a:cs typeface="Bookman Old Style"/>
                <a:sym typeface="Bookman Old Style"/>
              </a:rPr>
              <a:t>mapped (as per the metrics provided by Dept.)</a:t>
            </a:r>
            <a:endParaRPr lang="en-IN"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622407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C6CA24B-E60C-A4FC-F3FA-FAA6948D6559}"/>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6/3/2026</a:t>
            </a:r>
          </a:p>
        </p:txBody>
      </p:sp>
      <p:sp>
        <p:nvSpPr>
          <p:cNvPr id="5" name="Footer Placeholder 4">
            <a:extLst>
              <a:ext uri="{FF2B5EF4-FFF2-40B4-BE49-F238E27FC236}">
                <a16:creationId xmlns:a16="http://schemas.microsoft.com/office/drawing/2014/main" id="{97DD9484-1471-034D-D747-AB25BDA70870}"/>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943DB8CB-E48E-EEA7-6D24-8B43E3C3847A}"/>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15</a:t>
            </a:fld>
            <a:endParaRPr lang="en-US">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23834A6C-0AC5-7022-0AAF-020D6A73BA8A}"/>
              </a:ext>
            </a:extLst>
          </p:cNvPr>
          <p:cNvSpPr txBox="1">
            <a:spLocks/>
          </p:cNvSpPr>
          <p:nvPr/>
        </p:nvSpPr>
        <p:spPr>
          <a:xfrm>
            <a:off x="1981200" y="227013"/>
            <a:ext cx="8229600" cy="114300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t>Work Plan (Timeline)</a:t>
            </a:r>
            <a:endParaRPr lang="en-IN"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9E33133A-B581-5140-31CE-B15D48E84C51}"/>
              </a:ext>
            </a:extLst>
          </p:cNvPr>
          <p:cNvSpPr txBox="1"/>
          <p:nvPr/>
        </p:nvSpPr>
        <p:spPr>
          <a:xfrm>
            <a:off x="1381125" y="1673989"/>
            <a:ext cx="9165430" cy="2308324"/>
          </a:xfrm>
          <a:prstGeom prst="rect">
            <a:avLst/>
          </a:prstGeom>
          <a:noFill/>
        </p:spPr>
        <p:txBody>
          <a:bodyPr wrap="square">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project will be completed over a </a:t>
            </a:r>
            <a:r>
              <a:rPr lang="en-US" b="1" dirty="0">
                <a:latin typeface="Times New Roman" panose="02020603050405020304" pitchFamily="18" charset="0"/>
                <a:cs typeface="Times New Roman" panose="02020603050405020304" pitchFamily="18" charset="0"/>
              </a:rPr>
              <a:t>16-week development period</a:t>
            </a:r>
            <a:r>
              <a:rPr lang="en-US" dirty="0">
                <a:latin typeface="Times New Roman" panose="02020603050405020304" pitchFamily="18" charset="0"/>
                <a:cs typeface="Times New Roman" panose="02020603050405020304" pitchFamily="18" charset="0"/>
              </a:rPr>
              <a:t>, divided into multiple phases. The initial phase focuses on </a:t>
            </a:r>
            <a:r>
              <a:rPr lang="en-US" b="1" dirty="0">
                <a:latin typeface="Times New Roman" panose="02020603050405020304" pitchFamily="18" charset="0"/>
                <a:cs typeface="Times New Roman" panose="02020603050405020304" pitchFamily="18" charset="0"/>
              </a:rPr>
              <a:t>dataset collection and preprocessing</a:t>
            </a:r>
            <a:r>
              <a:rPr lang="en-US" dirty="0">
                <a:latin typeface="Times New Roman" panose="02020603050405020304" pitchFamily="18" charset="0"/>
                <a:cs typeface="Times New Roman" panose="02020603050405020304" pitchFamily="18" charset="0"/>
              </a:rPr>
              <a:t>. </a:t>
            </a: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next stages involve </a:t>
            </a:r>
            <a:r>
              <a:rPr lang="en-US" b="1" dirty="0">
                <a:latin typeface="Times New Roman" panose="02020603050405020304" pitchFamily="18" charset="0"/>
                <a:cs typeface="Times New Roman" panose="02020603050405020304" pitchFamily="18" charset="0"/>
              </a:rPr>
              <a:t>feature extraction and AI/ML model development using </a:t>
            </a:r>
            <a:r>
              <a:rPr lang="en-US" b="1" dirty="0" err="1">
                <a:latin typeface="Times New Roman" panose="02020603050405020304" pitchFamily="18" charset="0"/>
                <a:cs typeface="Times New Roman" panose="02020603050405020304" pitchFamily="18" charset="0"/>
              </a:rPr>
              <a:t>TinyBERT</a:t>
            </a:r>
            <a:r>
              <a:rPr lang="en-US" b="1" dirty="0">
                <a:latin typeface="Times New Roman" panose="02020603050405020304" pitchFamily="18" charset="0"/>
                <a:cs typeface="Times New Roman" panose="02020603050405020304" pitchFamily="18" charset="0"/>
              </a:rPr>
              <a:t> and </a:t>
            </a:r>
            <a:r>
              <a:rPr lang="en-US" b="1"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t>
            </a: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After developing the models, the team will build the </a:t>
            </a:r>
            <a:r>
              <a:rPr lang="en-US" b="1" dirty="0">
                <a:latin typeface="Times New Roman" panose="02020603050405020304" pitchFamily="18" charset="0"/>
                <a:cs typeface="Times New Roman" panose="02020603050405020304" pitchFamily="18" charset="0"/>
              </a:rPr>
              <a:t>Android mobile application</a:t>
            </a:r>
            <a:r>
              <a:rPr lang="en-US" dirty="0">
                <a:latin typeface="Times New Roman" panose="02020603050405020304" pitchFamily="18" charset="0"/>
                <a:cs typeface="Times New Roman" panose="02020603050405020304" pitchFamily="18" charset="0"/>
              </a:rPr>
              <a:t>, integrate the detection modules, and implement the cross-verification and prevention mechanisms. </a:t>
            </a: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final stages include </a:t>
            </a:r>
            <a:r>
              <a:rPr lang="en-US" b="1" dirty="0">
                <a:latin typeface="Times New Roman" panose="02020603050405020304" pitchFamily="18" charset="0"/>
                <a:cs typeface="Times New Roman" panose="02020603050405020304" pitchFamily="18" charset="0"/>
              </a:rPr>
              <a:t>system testing, evaluation, documentation, and project presentation</a:t>
            </a:r>
            <a:r>
              <a:rPr lang="en-US"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dirty="0">
                <a:latin typeface="Times New Roman" panose="02020603050405020304" pitchFamily="18" charset="0"/>
                <a:cs typeface="Times New Roman" panose="02020603050405020304" pitchFamily="18" charset="0"/>
              </a:rPr>
              <a:t>• Performance expectations</a:t>
            </a:r>
            <a:endParaRPr lang="en-US"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Innovation contribution</a:t>
            </a:r>
          </a:p>
          <a:p>
            <a:pPr marL="457200" lvl="1" indent="0">
              <a:buNone/>
            </a:pPr>
            <a:endParaRPr lang="en-US" dirty="0">
              <a:latin typeface="Times New Roman" panose="02020603050405020304" pitchFamily="18" charset="0"/>
              <a:cs typeface="Times New Roman" panose="02020603050405020304" pitchFamily="18" charset="0"/>
            </a:endParaRPr>
          </a:p>
          <a:p>
            <a:pPr marL="457200" lvl="1" indent="0">
              <a:buNone/>
            </a:pPr>
            <a:endParaRPr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1AA4F48-6ADB-2B84-E511-0D05138CC11F}"/>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6/3/2026</a:t>
            </a:r>
          </a:p>
        </p:txBody>
      </p:sp>
      <p:sp>
        <p:nvSpPr>
          <p:cNvPr id="5" name="Footer Placeholder 4">
            <a:extLst>
              <a:ext uri="{FF2B5EF4-FFF2-40B4-BE49-F238E27FC236}">
                <a16:creationId xmlns:a16="http://schemas.microsoft.com/office/drawing/2014/main" id="{8925D509-4263-87FD-F55C-40BC48100556}"/>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D1CB4279-BE2F-93E7-52FC-B20E59FA5C10}"/>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16</a:t>
            </a:fld>
            <a:endParaRPr lang="en-US">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F924D847-7E0C-E8F4-9253-9B432751341F}"/>
              </a:ext>
            </a:extLst>
          </p:cNvPr>
          <p:cNvGraphicFramePr>
            <a:graphicFrameLocks noGrp="1"/>
          </p:cNvGraphicFramePr>
          <p:nvPr>
            <p:extLst>
              <p:ext uri="{D42A27DB-BD31-4B8C-83A1-F6EECF244321}">
                <p14:modId xmlns:p14="http://schemas.microsoft.com/office/powerpoint/2010/main" val="3998877064"/>
              </p:ext>
            </p:extLst>
          </p:nvPr>
        </p:nvGraphicFramePr>
        <p:xfrm>
          <a:off x="1689100" y="3108007"/>
          <a:ext cx="6096000" cy="1772841"/>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80086882"/>
                    </a:ext>
                  </a:extLst>
                </a:gridCol>
                <a:gridCol w="3048000">
                  <a:extLst>
                    <a:ext uri="{9D8B030D-6E8A-4147-A177-3AD203B41FA5}">
                      <a16:colId xmlns:a16="http://schemas.microsoft.com/office/drawing/2014/main" val="196852210"/>
                    </a:ext>
                  </a:extLst>
                </a:gridCol>
              </a:tblGrid>
              <a:tr h="377587">
                <a:tc>
                  <a:txBody>
                    <a:bodyPr/>
                    <a:lstStyle/>
                    <a:p>
                      <a:r>
                        <a:rPr lang="en-US" dirty="0"/>
                        <a:t>Outcome Component</a:t>
                      </a:r>
                    </a:p>
                  </a:txBody>
                  <a:tcPr/>
                </a:tc>
                <a:tc>
                  <a:txBody>
                    <a:bodyPr/>
                    <a:lstStyle/>
                    <a:p>
                      <a:r>
                        <a:rPr lang="en-US" dirty="0"/>
                        <a:t>Tick which one is your project outcome</a:t>
                      </a:r>
                    </a:p>
                  </a:txBody>
                  <a:tcPr/>
                </a:tc>
                <a:extLst>
                  <a:ext uri="{0D108BD9-81ED-4DB2-BD59-A6C34878D82A}">
                    <a16:rowId xmlns:a16="http://schemas.microsoft.com/office/drawing/2014/main" val="2927836299"/>
                  </a:ext>
                </a:extLst>
              </a:tr>
              <a:tr h="377587">
                <a:tc>
                  <a:txBody>
                    <a:bodyPr/>
                    <a:lstStyle/>
                    <a:p>
                      <a:r>
                        <a:rPr lang="en-US" dirty="0"/>
                        <a:t>Publication</a:t>
                      </a:r>
                    </a:p>
                  </a:txBody>
                  <a:tcPr/>
                </a:tc>
                <a:tc>
                  <a:txBody>
                    <a:bodyPr/>
                    <a:lstStyle/>
                    <a:p>
                      <a:endParaRPr lang="en-US"/>
                    </a:p>
                  </a:txBody>
                  <a:tcPr/>
                </a:tc>
                <a:extLst>
                  <a:ext uri="{0D108BD9-81ED-4DB2-BD59-A6C34878D82A}">
                    <a16:rowId xmlns:a16="http://schemas.microsoft.com/office/drawing/2014/main" val="1757947111"/>
                  </a:ext>
                </a:extLst>
              </a:tr>
              <a:tr h="377587">
                <a:tc>
                  <a:txBody>
                    <a:bodyPr/>
                    <a:lstStyle/>
                    <a:p>
                      <a:r>
                        <a:rPr lang="en-US" dirty="0"/>
                        <a:t>Patent</a:t>
                      </a:r>
                    </a:p>
                  </a:txBody>
                  <a:tcPr/>
                </a:tc>
                <a:tc>
                  <a:txBody>
                    <a:bodyPr/>
                    <a:lstStyle/>
                    <a:p>
                      <a:endParaRPr lang="en-US"/>
                    </a:p>
                  </a:txBody>
                  <a:tcPr/>
                </a:tc>
                <a:extLst>
                  <a:ext uri="{0D108BD9-81ED-4DB2-BD59-A6C34878D82A}">
                    <a16:rowId xmlns:a16="http://schemas.microsoft.com/office/drawing/2014/main" val="3725751101"/>
                  </a:ext>
                </a:extLst>
              </a:tr>
              <a:tr h="377587">
                <a:tc>
                  <a:txBody>
                    <a:bodyPr/>
                    <a:lstStyle/>
                    <a:p>
                      <a:r>
                        <a:rPr lang="en-US" dirty="0"/>
                        <a:t>Product</a:t>
                      </a:r>
                    </a:p>
                  </a:txBody>
                  <a:tcPr/>
                </a:tc>
                <a:tc>
                  <a:txBody>
                    <a:bodyPr/>
                    <a:lstStyle/>
                    <a:p>
                      <a:endParaRPr lang="en-US" dirty="0"/>
                    </a:p>
                  </a:txBody>
                  <a:tcPr/>
                </a:tc>
                <a:extLst>
                  <a:ext uri="{0D108BD9-81ED-4DB2-BD59-A6C34878D82A}">
                    <a16:rowId xmlns:a16="http://schemas.microsoft.com/office/drawing/2014/main" val="3070252792"/>
                  </a:ext>
                </a:extLst>
              </a:tr>
            </a:tbl>
          </a:graphicData>
        </a:graphic>
      </p:graphicFrame>
      <p:sp>
        <p:nvSpPr>
          <p:cNvPr id="12" name="Title 1">
            <a:extLst>
              <a:ext uri="{FF2B5EF4-FFF2-40B4-BE49-F238E27FC236}">
                <a16:creationId xmlns:a16="http://schemas.microsoft.com/office/drawing/2014/main" id="{FEC7A22F-9CAC-FA82-1181-5810D45B065B}"/>
              </a:ext>
            </a:extLst>
          </p:cNvPr>
          <p:cNvSpPr txBox="1">
            <a:spLocks/>
          </p:cNvSpPr>
          <p:nvPr/>
        </p:nvSpPr>
        <p:spPr>
          <a:xfrm>
            <a:off x="1981200" y="227013"/>
            <a:ext cx="8229600" cy="114300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t>Work Plan (Timeline)</a:t>
            </a:r>
            <a:endParaRPr lang="en-IN"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99DEE211-E403-CA11-A254-5DCAD15A1A13}"/>
              </a:ext>
            </a:extLst>
          </p:cNvPr>
          <p:cNvSpPr txBox="1"/>
          <p:nvPr/>
        </p:nvSpPr>
        <p:spPr>
          <a:xfrm>
            <a:off x="2526891" y="5271761"/>
            <a:ext cx="6786281" cy="646331"/>
          </a:xfrm>
          <a:prstGeom prst="rect">
            <a:avLst/>
          </a:prstGeom>
          <a:noFill/>
        </p:spPr>
        <p:txBody>
          <a:bodyPr wrap="none" rtlCol="0">
            <a:spAutoFit/>
          </a:bodyPr>
          <a:lstStyle/>
          <a:p>
            <a:pPr algn="ctr"/>
            <a:r>
              <a:rPr lang="en-IN" b="1" i="0" dirty="0">
                <a:solidFill>
                  <a:srgbClr val="FF0000"/>
                </a:solidFill>
                <a:effectLst/>
              </a:rPr>
              <a:t>Note: Mandatory Outcome</a:t>
            </a:r>
            <a:br>
              <a:rPr lang="en-IN" b="0" i="0" dirty="0">
                <a:solidFill>
                  <a:srgbClr val="000000"/>
                </a:solidFill>
                <a:effectLst/>
              </a:rPr>
            </a:br>
            <a:r>
              <a:rPr lang="en-IN" b="0" i="0" dirty="0">
                <a:solidFill>
                  <a:srgbClr val="000000"/>
                </a:solidFill>
                <a:effectLst/>
              </a:rPr>
              <a:t>Any one of the above must be achieved as the outcome of the project.</a:t>
            </a:r>
          </a:p>
        </p:txBody>
      </p:sp>
      <p:pic>
        <p:nvPicPr>
          <p:cNvPr id="10" name="Graphic 9" descr="Checkmark with solid fill">
            <a:extLst>
              <a:ext uri="{FF2B5EF4-FFF2-40B4-BE49-F238E27FC236}">
                <a16:creationId xmlns:a16="http://schemas.microsoft.com/office/drawing/2014/main" id="{9EE2EEC7-80F8-7345-7FFE-FF623DE081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96000" y="4499442"/>
            <a:ext cx="438150" cy="4381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9700" y="1101724"/>
            <a:ext cx="11912600" cy="5996782"/>
          </a:xfrm>
        </p:spPr>
        <p:txBody>
          <a:bodyPr>
            <a:noAutofit/>
          </a:bodyPr>
          <a:lstStyle/>
          <a:p>
            <a:pPr marL="0" indent="0">
              <a:buNone/>
            </a:pPr>
            <a:r>
              <a:rPr lang="en-IN" sz="1400" dirty="0">
                <a:latin typeface="Times New Roman" panose="02020603050405020304" pitchFamily="18" charset="0"/>
                <a:cs typeface="Times New Roman" panose="02020603050405020304" pitchFamily="18" charset="0"/>
              </a:rPr>
              <a:t>[1] Luis Rivas, Varun Kumar Singh, Vinayak </a:t>
            </a:r>
            <a:r>
              <a:rPr lang="en-IN" sz="1400" dirty="0" err="1">
                <a:latin typeface="Times New Roman" panose="02020603050405020304" pitchFamily="18" charset="0"/>
                <a:cs typeface="Times New Roman" panose="02020603050405020304" pitchFamily="18" charset="0"/>
              </a:rPr>
              <a:t>Khabdelwal</a:t>
            </a:r>
            <a:r>
              <a:rPr lang="en-IN" sz="1400" dirty="0">
                <a:latin typeface="Times New Roman" panose="02020603050405020304" pitchFamily="18" charset="0"/>
                <a:cs typeface="Times New Roman" panose="02020603050405020304" pitchFamily="18" charset="0"/>
              </a:rPr>
              <a:t>, Lanier Watkins, “</a:t>
            </a:r>
            <a:r>
              <a:rPr lang="en-US" sz="1400" dirty="0">
                <a:latin typeface="Times New Roman" panose="02020603050405020304" pitchFamily="18" charset="0"/>
                <a:cs typeface="Times New Roman" panose="02020603050405020304" pitchFamily="18" charset="0"/>
              </a:rPr>
              <a:t>Securing QR Codes Infrastructure Using AI to Detect Malicious Activity</a:t>
            </a:r>
            <a:r>
              <a:rPr lang="en-IN"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2025 IEEE 15th Annual Computing and Communication Workshop and Conference (CCWC).</a:t>
            </a:r>
            <a:endParaRPr lang="en-IN" sz="1400" dirty="0">
              <a:latin typeface="Times New Roman" panose="02020603050405020304" pitchFamily="18" charset="0"/>
              <a:cs typeface="Times New Roman" panose="02020603050405020304" pitchFamily="18" charset="0"/>
            </a:endParaRPr>
          </a:p>
          <a:p>
            <a:pPr marL="0" indent="0">
              <a:buNone/>
            </a:pPr>
            <a:r>
              <a:rPr lang="en-IN" sz="1400" dirty="0">
                <a:latin typeface="Times New Roman" panose="02020603050405020304" pitchFamily="18" charset="0"/>
                <a:cs typeface="Times New Roman" panose="02020603050405020304" pitchFamily="18" charset="0"/>
              </a:rPr>
              <a:t>[2] </a:t>
            </a:r>
            <a:r>
              <a:rPr lang="en-IN" sz="1400" dirty="0" err="1">
                <a:latin typeface="Times New Roman" panose="02020603050405020304" pitchFamily="18" charset="0"/>
                <a:cs typeface="Times New Roman" panose="02020603050405020304" pitchFamily="18" charset="0"/>
              </a:rPr>
              <a:t>Zhursinbek</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Mukhammedali</a:t>
            </a:r>
            <a:r>
              <a:rPr lang="en-IN" sz="1400" dirty="0">
                <a:latin typeface="Times New Roman" panose="02020603050405020304" pitchFamily="18" charset="0"/>
                <a:cs typeface="Times New Roman" panose="02020603050405020304" pitchFamily="18" charset="0"/>
              </a:rPr>
              <a:t>, Khan Vyacheslav, Abdul </a:t>
            </a:r>
            <a:r>
              <a:rPr lang="en-IN" sz="1400" dirty="0" err="1">
                <a:latin typeface="Times New Roman" panose="02020603050405020304" pitchFamily="18" charset="0"/>
                <a:cs typeface="Times New Roman" panose="02020603050405020304" pitchFamily="18" charset="0"/>
              </a:rPr>
              <a:t>Razaque</a:t>
            </a:r>
            <a:r>
              <a:rPr lang="en-IN" sz="1400" dirty="0">
                <a:latin typeface="Times New Roman" panose="02020603050405020304" pitchFamily="18" charset="0"/>
                <a:cs typeface="Times New Roman" panose="02020603050405020304" pitchFamily="18" charset="0"/>
              </a:rPr>
              <a:t>, M. Ajmal Khan, Zhuldyz </a:t>
            </a:r>
            <a:r>
              <a:rPr lang="en-IN" sz="1400" dirty="0" err="1">
                <a:latin typeface="Times New Roman" panose="02020603050405020304" pitchFamily="18" charset="0"/>
                <a:cs typeface="Times New Roman" panose="02020603050405020304" pitchFamily="18" charset="0"/>
              </a:rPr>
              <a:t>Kalpeyeva</a:t>
            </a:r>
            <a:r>
              <a:rPr lang="en-IN" sz="1400"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AI-Enhanced Security Framework for QR Codes</a:t>
            </a:r>
            <a:r>
              <a:rPr lang="en-IN"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2025 1st International Conference on Secure IoT, Assured and Trusted Computing(SATC)</a:t>
            </a:r>
            <a:r>
              <a:rPr lang="en-IN" sz="1400" dirty="0">
                <a:latin typeface="Times New Roman" panose="02020603050405020304" pitchFamily="18" charset="0"/>
                <a:cs typeface="Times New Roman" panose="02020603050405020304" pitchFamily="18" charset="0"/>
              </a:rPr>
              <a:t>.</a:t>
            </a:r>
          </a:p>
          <a:p>
            <a:pPr marL="0" indent="0">
              <a:buNone/>
            </a:pPr>
            <a:r>
              <a:rPr lang="en-IN" sz="1400" dirty="0">
                <a:latin typeface="Times New Roman" panose="02020603050405020304" pitchFamily="18" charset="0"/>
                <a:cs typeface="Times New Roman" panose="02020603050405020304" pitchFamily="18" charset="0"/>
              </a:rPr>
              <a:t>[3] Akshat Gaurav, Brij B. Gupta, Kwok Tai Chui, “</a:t>
            </a:r>
            <a:r>
              <a:rPr lang="en-US" sz="1400" dirty="0">
                <a:latin typeface="Times New Roman" panose="02020603050405020304" pitchFamily="18" charset="0"/>
                <a:cs typeface="Times New Roman" panose="02020603050405020304" pitchFamily="18" charset="0"/>
              </a:rPr>
              <a:t>AI-Driven Smishing Detection in Android Devices Using </a:t>
            </a:r>
            <a:r>
              <a:rPr lang="en-US" sz="1400" dirty="0" err="1">
                <a:latin typeface="Times New Roman" panose="02020603050405020304" pitchFamily="18" charset="0"/>
                <a:cs typeface="Times New Roman" panose="02020603050405020304" pitchFamily="18" charset="0"/>
              </a:rPr>
              <a:t>TinyBERT</a:t>
            </a:r>
            <a:r>
              <a:rPr lang="en-US" sz="1400" dirty="0">
                <a:latin typeface="Times New Roman" panose="02020603050405020304" pitchFamily="18" charset="0"/>
                <a:cs typeface="Times New Roman" panose="02020603050405020304" pitchFamily="18" charset="0"/>
              </a:rPr>
              <a:t> and Aquila Optimization</a:t>
            </a:r>
            <a:r>
              <a:rPr lang="en-IN" sz="1400" dirty="0">
                <a:latin typeface="Times New Roman" panose="02020603050405020304" pitchFamily="18" charset="0"/>
                <a:cs typeface="Times New Roman" panose="02020603050405020304" pitchFamily="18" charset="0"/>
              </a:rPr>
              <a:t>”, </a:t>
            </a:r>
            <a:r>
              <a:rPr lang="en-IN" sz="1400" i="1" dirty="0">
                <a:latin typeface="Times New Roman" panose="02020603050405020304" pitchFamily="18" charset="0"/>
                <a:cs typeface="Times New Roman" panose="02020603050405020304" pitchFamily="18" charset="0"/>
              </a:rPr>
              <a:t>The 27</a:t>
            </a:r>
            <a:r>
              <a:rPr lang="en-IN" sz="1400" i="1" baseline="30000" dirty="0">
                <a:latin typeface="Times New Roman" panose="02020603050405020304" pitchFamily="18" charset="0"/>
                <a:cs typeface="Times New Roman" panose="02020603050405020304" pitchFamily="18" charset="0"/>
              </a:rPr>
              <a:t>th</a:t>
            </a:r>
            <a:r>
              <a:rPr lang="en-IN" sz="1400" i="1" dirty="0">
                <a:latin typeface="Times New Roman" panose="02020603050405020304" pitchFamily="18" charset="0"/>
                <a:cs typeface="Times New Roman" panose="02020603050405020304" pitchFamily="18" charset="0"/>
              </a:rPr>
              <a:t> International Conference on Advanced Communications Technology(ICACT 2025)</a:t>
            </a:r>
            <a:r>
              <a:rPr lang="en-IN" sz="1400" dirty="0">
                <a:latin typeface="Times New Roman" panose="02020603050405020304" pitchFamily="18" charset="0"/>
                <a:cs typeface="Times New Roman" panose="02020603050405020304" pitchFamily="18" charset="0"/>
              </a:rPr>
              <a:t>.</a:t>
            </a:r>
          </a:p>
          <a:p>
            <a:pPr marL="0" indent="0">
              <a:buNone/>
            </a:pPr>
            <a:r>
              <a:rPr lang="en-IN" sz="1400" dirty="0">
                <a:latin typeface="Times New Roman" panose="02020603050405020304" pitchFamily="18" charset="0"/>
                <a:cs typeface="Times New Roman" panose="02020603050405020304" pitchFamily="18" charset="0"/>
              </a:rPr>
              <a:t>[4] Saleem Raja Abdul Samad, Pradeepa Ganesan, Thangam </a:t>
            </a:r>
            <a:r>
              <a:rPr lang="en-IN" sz="1400" dirty="0" err="1">
                <a:latin typeface="Times New Roman" panose="02020603050405020304" pitchFamily="18" charset="0"/>
                <a:cs typeface="Times New Roman" panose="02020603050405020304" pitchFamily="18" charset="0"/>
              </a:rPr>
              <a:t>S,Sundaravadivazhagan</a:t>
            </a:r>
            <a:r>
              <a:rPr lang="en-IN" sz="1400" dirty="0">
                <a:latin typeface="Times New Roman" panose="02020603050405020304" pitchFamily="18" charset="0"/>
                <a:cs typeface="Times New Roman" panose="02020603050405020304" pitchFamily="18" charset="0"/>
              </a:rPr>
              <a:t>, Saranya </a:t>
            </a:r>
            <a:r>
              <a:rPr lang="en-IN" sz="1400" dirty="0" err="1">
                <a:latin typeface="Times New Roman" panose="02020603050405020304" pitchFamily="18" charset="0"/>
                <a:cs typeface="Times New Roman" panose="02020603050405020304" pitchFamily="18" charset="0"/>
              </a:rPr>
              <a:t>Rajiakodi</a:t>
            </a:r>
            <a:r>
              <a:rPr lang="en-IN" sz="1400" dirty="0">
                <a:latin typeface="Times New Roman" panose="02020603050405020304" pitchFamily="18" charset="0"/>
                <a:cs typeface="Times New Roman" panose="02020603050405020304" pitchFamily="18" charset="0"/>
              </a:rPr>
              <a:t>, Amna Salim Rashid Al </a:t>
            </a:r>
            <a:r>
              <a:rPr lang="en-IN" sz="1400" dirty="0" err="1">
                <a:latin typeface="Times New Roman" panose="02020603050405020304" pitchFamily="18" charset="0"/>
                <a:cs typeface="Times New Roman" panose="02020603050405020304" pitchFamily="18" charset="0"/>
              </a:rPr>
              <a:t>Kaabi</a:t>
            </a:r>
            <a:r>
              <a:rPr lang="en-IN"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SMS-Shield: A Lightweight Approach for Smishing Detection using Machine Learning</a:t>
            </a:r>
            <a:r>
              <a:rPr lang="en-IN"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2024 1st International Conference on Innovative Engineering Sciences and Technological Research (ICIESTR).</a:t>
            </a:r>
            <a:endParaRPr lang="en-IN" sz="1400" dirty="0">
              <a:latin typeface="Times New Roman" panose="02020603050405020304" pitchFamily="18" charset="0"/>
              <a:cs typeface="Times New Roman" panose="02020603050405020304" pitchFamily="18" charset="0"/>
            </a:endParaRPr>
          </a:p>
          <a:p>
            <a:pPr marL="0" indent="0">
              <a:buNone/>
            </a:pPr>
            <a:r>
              <a:rPr lang="en-IN" sz="1400" dirty="0">
                <a:latin typeface="Times New Roman" panose="02020603050405020304" pitchFamily="18" charset="0"/>
                <a:cs typeface="Times New Roman" panose="02020603050405020304" pitchFamily="18" charset="0"/>
              </a:rPr>
              <a:t>[5] </a:t>
            </a:r>
            <a:r>
              <a:rPr lang="en-IN" sz="1400" dirty="0" err="1">
                <a:latin typeface="Times New Roman" panose="02020603050405020304" pitchFamily="18" charset="0"/>
                <a:cs typeface="Times New Roman" panose="02020603050405020304" pitchFamily="18" charset="0"/>
              </a:rPr>
              <a:t>Gangisetty</a:t>
            </a:r>
            <a:r>
              <a:rPr lang="en-IN" sz="1400" dirty="0">
                <a:latin typeface="Times New Roman" panose="02020603050405020304" pitchFamily="18" charset="0"/>
                <a:cs typeface="Times New Roman" panose="02020603050405020304" pitchFamily="18" charset="0"/>
              </a:rPr>
              <a:t> Raj Charan, Dr. K Deepa Thilak, “</a:t>
            </a:r>
            <a:r>
              <a:rPr lang="en-US" sz="1400" dirty="0">
                <a:latin typeface="Times New Roman" panose="02020603050405020304" pitchFamily="18" charset="0"/>
                <a:cs typeface="Times New Roman" panose="02020603050405020304" pitchFamily="18" charset="0"/>
              </a:rPr>
              <a:t>Detection of Phishing Link and QR Code of UPI Transaction using Machine Learning</a:t>
            </a:r>
            <a:r>
              <a:rPr lang="en-IN" sz="1400" dirty="0">
                <a:latin typeface="Times New Roman" panose="02020603050405020304" pitchFamily="18" charset="0"/>
                <a:cs typeface="Times New Roman" panose="02020603050405020304" pitchFamily="18" charset="0"/>
              </a:rPr>
              <a:t>”, </a:t>
            </a:r>
            <a:r>
              <a:rPr lang="en-IN" sz="1400" i="1" dirty="0">
                <a:latin typeface="Times New Roman" panose="02020603050405020304" pitchFamily="18" charset="0"/>
                <a:cs typeface="Times New Roman" panose="02020603050405020304" pitchFamily="18" charset="0"/>
              </a:rPr>
              <a:t>2023 3</a:t>
            </a:r>
            <a:r>
              <a:rPr lang="en-IN" sz="1400" i="1" baseline="30000" dirty="0">
                <a:latin typeface="Times New Roman" panose="02020603050405020304" pitchFamily="18" charset="0"/>
                <a:cs typeface="Times New Roman" panose="02020603050405020304" pitchFamily="18" charset="0"/>
              </a:rPr>
              <a:t>rd</a:t>
            </a:r>
            <a:r>
              <a:rPr lang="en-IN" sz="1400" i="1" dirty="0">
                <a:latin typeface="Times New Roman" panose="02020603050405020304" pitchFamily="18" charset="0"/>
                <a:cs typeface="Times New Roman" panose="02020603050405020304" pitchFamily="18" charset="0"/>
              </a:rPr>
              <a:t> International Conference on Innovative Mechanisms for Industry Applications (ICIMIA)</a:t>
            </a:r>
            <a:r>
              <a:rPr lang="en-IN" sz="1400" dirty="0">
                <a:latin typeface="Times New Roman" panose="02020603050405020304" pitchFamily="18" charset="0"/>
                <a:cs typeface="Times New Roman" panose="02020603050405020304" pitchFamily="18" charset="0"/>
              </a:rPr>
              <a:t>.</a:t>
            </a:r>
          </a:p>
          <a:p>
            <a:pPr marL="0" indent="0">
              <a:buNone/>
            </a:pPr>
            <a:r>
              <a:rPr lang="en-IN" sz="1400" dirty="0">
                <a:latin typeface="Times New Roman" panose="02020603050405020304" pitchFamily="18" charset="0"/>
                <a:cs typeface="Times New Roman" panose="02020603050405020304" pitchFamily="18" charset="0"/>
              </a:rPr>
              <a:t>[6] Delano Oscar Do Rosario Lourenco, MVH Sai Sriraj, </a:t>
            </a:r>
            <a:r>
              <a:rPr lang="en-IN" sz="1400" dirty="0" err="1">
                <a:latin typeface="Times New Roman" panose="02020603050405020304" pitchFamily="18" charset="0"/>
                <a:cs typeface="Times New Roman" panose="02020603050405020304" pitchFamily="18" charset="0"/>
              </a:rPr>
              <a:t>Krotha</a:t>
            </a:r>
            <a:r>
              <a:rPr lang="en-IN" sz="1400" dirty="0">
                <a:latin typeface="Times New Roman" panose="02020603050405020304" pitchFamily="18" charset="0"/>
                <a:cs typeface="Times New Roman" panose="02020603050405020304" pitchFamily="18" charset="0"/>
              </a:rPr>
              <a:t> Kayne </a:t>
            </a:r>
            <a:r>
              <a:rPr lang="en-IN" sz="1400" dirty="0" err="1">
                <a:latin typeface="Times New Roman" panose="02020603050405020304" pitchFamily="18" charset="0"/>
                <a:cs typeface="Times New Roman" panose="02020603050405020304" pitchFamily="18" charset="0"/>
              </a:rPr>
              <a:t>Thambi</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Vibho</a:t>
            </a:r>
            <a:r>
              <a:rPr lang="en-IN" sz="1400" dirty="0">
                <a:latin typeface="Times New Roman" panose="02020603050405020304" pitchFamily="18" charset="0"/>
                <a:cs typeface="Times New Roman" panose="02020603050405020304" pitchFamily="18" charset="0"/>
              </a:rPr>
              <a:t> Ranjan,“</a:t>
            </a:r>
            <a:r>
              <a:rPr lang="en-US" sz="1400" dirty="0">
                <a:latin typeface="Times New Roman" panose="02020603050405020304" pitchFamily="18" charset="0"/>
                <a:cs typeface="Times New Roman" panose="02020603050405020304" pitchFamily="18" charset="0"/>
              </a:rPr>
              <a:t>Malicious URLs and QR Code Classification using Machine Learning and Deep Learning Techniques</a:t>
            </a:r>
            <a:r>
              <a:rPr lang="en-IN"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2023 3rd Asian Conference on Innovation in Technology (ASIANCON)</a:t>
            </a:r>
            <a:r>
              <a:rPr lang="en-IN" sz="1400" dirty="0">
                <a:latin typeface="Times New Roman" panose="02020603050405020304" pitchFamily="18" charset="0"/>
                <a:cs typeface="Times New Roman" panose="02020603050405020304" pitchFamily="18" charset="0"/>
              </a:rPr>
              <a:t>.</a:t>
            </a:r>
          </a:p>
          <a:p>
            <a:pPr marL="0" indent="0">
              <a:buNone/>
            </a:pPr>
            <a:r>
              <a:rPr lang="en-IN" sz="1400" dirty="0">
                <a:latin typeface="Times New Roman" panose="02020603050405020304" pitchFamily="18" charset="0"/>
                <a:cs typeface="Times New Roman" panose="02020603050405020304" pitchFamily="18" charset="0"/>
              </a:rPr>
              <a:t>[7] </a:t>
            </a:r>
            <a:r>
              <a:rPr lang="en-IN" sz="1400" dirty="0" err="1">
                <a:latin typeface="Times New Roman" panose="02020603050405020304" pitchFamily="18" charset="0"/>
                <a:cs typeface="Times New Roman" panose="02020603050405020304" pitchFamily="18" charset="0"/>
              </a:rPr>
              <a:t>Swarangi</a:t>
            </a:r>
            <a:r>
              <a:rPr lang="en-IN" sz="1400" dirty="0">
                <a:latin typeface="Times New Roman" panose="02020603050405020304" pitchFamily="18" charset="0"/>
                <a:cs typeface="Times New Roman" panose="02020603050405020304" pitchFamily="18" charset="0"/>
              </a:rPr>
              <a:t> Uplenchwar, Varsha Sawant, Prajakta Surve, Shilpa Deshpande, Supriya Kelkar, “</a:t>
            </a:r>
            <a:r>
              <a:rPr lang="en-US" sz="1400" dirty="0">
                <a:latin typeface="Times New Roman" panose="02020603050405020304" pitchFamily="18" charset="0"/>
                <a:cs typeface="Times New Roman" panose="02020603050405020304" pitchFamily="18" charset="0"/>
              </a:rPr>
              <a:t>Phishing Attack Detection on Text Messages Using Machine Learning Techniques</a:t>
            </a:r>
            <a:r>
              <a:rPr lang="en-IN" sz="1400" dirty="0">
                <a:latin typeface="Times New Roman" panose="02020603050405020304" pitchFamily="18" charset="0"/>
                <a:cs typeface="Times New Roman" panose="02020603050405020304" pitchFamily="18" charset="0"/>
              </a:rPr>
              <a:t>”, </a:t>
            </a:r>
            <a:r>
              <a:rPr lang="en-IN" sz="1400" i="1" dirty="0">
                <a:latin typeface="Times New Roman" panose="02020603050405020304" pitchFamily="18" charset="0"/>
                <a:cs typeface="Times New Roman" panose="02020603050405020304" pitchFamily="18" charset="0"/>
              </a:rPr>
              <a:t>2022 IEEE Pune Section International Conference (</a:t>
            </a:r>
            <a:r>
              <a:rPr lang="en-IN" sz="1400" i="1" dirty="0" err="1">
                <a:latin typeface="Times New Roman" panose="02020603050405020304" pitchFamily="18" charset="0"/>
                <a:cs typeface="Times New Roman" panose="02020603050405020304" pitchFamily="18" charset="0"/>
              </a:rPr>
              <a:t>PuneCon</a:t>
            </a:r>
            <a:r>
              <a:rPr lang="en-IN" sz="1400" i="1" dirty="0">
                <a:latin typeface="Times New Roman" panose="02020603050405020304" pitchFamily="18" charset="0"/>
                <a:cs typeface="Times New Roman" panose="02020603050405020304" pitchFamily="18" charset="0"/>
              </a:rPr>
              <a:t>)</a:t>
            </a:r>
            <a:r>
              <a:rPr lang="en-IN" sz="1400" dirty="0">
                <a:latin typeface="Times New Roman" panose="02020603050405020304" pitchFamily="18" charset="0"/>
                <a:cs typeface="Times New Roman" panose="02020603050405020304" pitchFamily="18" charset="0"/>
              </a:rPr>
              <a:t>.</a:t>
            </a:r>
          </a:p>
          <a:p>
            <a:pPr marL="0" indent="0">
              <a:buNone/>
            </a:pPr>
            <a:r>
              <a:rPr lang="en-IN" sz="1400" dirty="0">
                <a:latin typeface="Times New Roman" panose="02020603050405020304" pitchFamily="18" charset="0"/>
                <a:cs typeface="Times New Roman" panose="02020603050405020304" pitchFamily="18" charset="0"/>
              </a:rPr>
              <a:t>[8] Samadhan M. </a:t>
            </a:r>
            <a:r>
              <a:rPr lang="en-IN" sz="1400" dirty="0" err="1">
                <a:latin typeface="Times New Roman" panose="02020603050405020304" pitchFamily="18" charset="0"/>
                <a:cs typeface="Times New Roman" panose="02020603050405020304" pitchFamily="18" charset="0"/>
              </a:rPr>
              <a:t>Nagare</a:t>
            </a:r>
            <a:r>
              <a:rPr lang="en-IN" sz="1400" dirty="0">
                <a:latin typeface="Times New Roman" panose="02020603050405020304" pitchFamily="18" charset="0"/>
                <a:cs typeface="Times New Roman" panose="02020603050405020304" pitchFamily="18" charset="0"/>
              </a:rPr>
              <a:t>, Pratibha P. Dapke, Syed </a:t>
            </a:r>
            <a:r>
              <a:rPr lang="en-IN" sz="1400" dirty="0" err="1">
                <a:latin typeface="Times New Roman" panose="02020603050405020304" pitchFamily="18" charset="0"/>
                <a:cs typeface="Times New Roman" panose="02020603050405020304" pitchFamily="18" charset="0"/>
              </a:rPr>
              <a:t>Ahteshamuddin</a:t>
            </a:r>
            <a:r>
              <a:rPr lang="en-IN" sz="1400" dirty="0">
                <a:latin typeface="Times New Roman" panose="02020603050405020304" pitchFamily="18" charset="0"/>
                <a:cs typeface="Times New Roman" panose="02020603050405020304" pitchFamily="18" charset="0"/>
              </a:rPr>
              <a:t> Quadri, Sagar B. </a:t>
            </a:r>
            <a:r>
              <a:rPr lang="en-IN" sz="1400" dirty="0" err="1">
                <a:latin typeface="Times New Roman" panose="02020603050405020304" pitchFamily="18" charset="0"/>
                <a:cs typeface="Times New Roman" panose="02020603050405020304" pitchFamily="18" charset="0"/>
              </a:rPr>
              <a:t>Bandal</a:t>
            </a:r>
            <a:r>
              <a:rPr lang="en-IN" sz="1400" dirty="0">
                <a:latin typeface="Times New Roman" panose="02020603050405020304" pitchFamily="18" charset="0"/>
                <a:cs typeface="Times New Roman" panose="02020603050405020304" pitchFamily="18" charset="0"/>
              </a:rPr>
              <a:t>, Manasi R. </a:t>
            </a:r>
            <a:r>
              <a:rPr lang="en-IN" sz="1400" dirty="0" err="1">
                <a:latin typeface="Times New Roman" panose="02020603050405020304" pitchFamily="18" charset="0"/>
                <a:cs typeface="Times New Roman" panose="02020603050405020304" pitchFamily="18" charset="0"/>
              </a:rPr>
              <a:t>Baheti</a:t>
            </a:r>
            <a:r>
              <a:rPr lang="en-IN"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Short Message Service (SMS) Mobile Spam Detection using Naïve Bayes</a:t>
            </a:r>
            <a:r>
              <a:rPr lang="en-IN"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2024 5th International Conference on Mobile Computing and Sustainable Informatics (ICMCSI)</a:t>
            </a:r>
            <a:r>
              <a:rPr lang="en-IN" sz="1400" dirty="0">
                <a:latin typeface="Times New Roman" panose="02020603050405020304" pitchFamily="18" charset="0"/>
                <a:cs typeface="Times New Roman" panose="02020603050405020304" pitchFamily="18" charset="0"/>
              </a:rPr>
              <a:t>.</a:t>
            </a:r>
          </a:p>
          <a:p>
            <a:pPr marL="0" indent="0">
              <a:buNone/>
            </a:pPr>
            <a:r>
              <a:rPr lang="en-IN" sz="1400" dirty="0">
                <a:latin typeface="Times New Roman" panose="02020603050405020304" pitchFamily="18" charset="0"/>
                <a:cs typeface="Times New Roman" panose="02020603050405020304" pitchFamily="18" charset="0"/>
              </a:rPr>
              <a:t>[9] N </a:t>
            </a:r>
            <a:r>
              <a:rPr lang="en-IN" sz="1400" dirty="0" err="1">
                <a:latin typeface="Times New Roman" panose="02020603050405020304" pitchFamily="18" charset="0"/>
                <a:cs typeface="Times New Roman" panose="02020603050405020304" pitchFamily="18" charset="0"/>
              </a:rPr>
              <a:t>Nasurudeen</a:t>
            </a:r>
            <a:r>
              <a:rPr lang="en-IN" sz="1400" dirty="0">
                <a:latin typeface="Times New Roman" panose="02020603050405020304" pitchFamily="18" charset="0"/>
                <a:cs typeface="Times New Roman" panose="02020603050405020304" pitchFamily="18" charset="0"/>
              </a:rPr>
              <a:t> Ahamed, </a:t>
            </a:r>
            <a:r>
              <a:rPr lang="en-IN" sz="1400" dirty="0" err="1">
                <a:latin typeface="Times New Roman" panose="02020603050405020304" pitchFamily="18" charset="0"/>
                <a:cs typeface="Times New Roman" panose="02020603050405020304" pitchFamily="18" charset="0"/>
              </a:rPr>
              <a:t>Tangavel</a:t>
            </a:r>
            <a:r>
              <a:rPr lang="en-IN" sz="1400" dirty="0">
                <a:latin typeface="Times New Roman" panose="02020603050405020304" pitchFamily="18" charset="0"/>
                <a:cs typeface="Times New Roman" panose="02020603050405020304" pitchFamily="18" charset="0"/>
              </a:rPr>
              <a:t> Murugan, </a:t>
            </a:r>
            <a:r>
              <a:rPr lang="en-IN" sz="1400" dirty="0" err="1">
                <a:latin typeface="Times New Roman" panose="02020603050405020304" pitchFamily="18" charset="0"/>
                <a:cs typeface="Times New Roman" panose="02020603050405020304" pitchFamily="18" charset="0"/>
              </a:rPr>
              <a:t>Bhabendu</a:t>
            </a:r>
            <a:r>
              <a:rPr lang="en-IN" sz="1400" dirty="0">
                <a:latin typeface="Times New Roman" panose="02020603050405020304" pitchFamily="18" charset="0"/>
                <a:cs typeface="Times New Roman" panose="02020603050405020304" pitchFamily="18" charset="0"/>
              </a:rPr>
              <a:t> Kumar Mohanta,“</a:t>
            </a:r>
            <a:r>
              <a:rPr lang="en-US" sz="1400" dirty="0">
                <a:latin typeface="Times New Roman" panose="02020603050405020304" pitchFamily="18" charset="0"/>
                <a:cs typeface="Times New Roman" panose="02020603050405020304" pitchFamily="18" charset="0"/>
              </a:rPr>
              <a:t>QR Code Phishing (</a:t>
            </a:r>
            <a:r>
              <a:rPr lang="en-US" sz="1400" dirty="0" err="1">
                <a:latin typeface="Times New Roman" panose="02020603050405020304" pitchFamily="18" charset="0"/>
                <a:cs typeface="Times New Roman" panose="02020603050405020304" pitchFamily="18" charset="0"/>
              </a:rPr>
              <a:t>Quishing</a:t>
            </a:r>
            <a:r>
              <a:rPr lang="en-US" sz="1400" dirty="0">
                <a:latin typeface="Times New Roman" panose="02020603050405020304" pitchFamily="18" charset="0"/>
                <a:cs typeface="Times New Roman" panose="02020603050405020304" pitchFamily="18" charset="0"/>
              </a:rPr>
              <a:t>): Food Supply Chain Management Traceability Risks Combined With Blockchain Technology</a:t>
            </a:r>
            <a:r>
              <a:rPr lang="en-IN"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2025 3rd International Conference on Business Analytics for Technology and Security (ICBATS)</a:t>
            </a:r>
            <a:r>
              <a:rPr lang="en-IN" sz="1400" dirty="0">
                <a:latin typeface="Times New Roman" panose="02020603050405020304" pitchFamily="18" charset="0"/>
                <a:cs typeface="Times New Roman" panose="02020603050405020304" pitchFamily="18" charset="0"/>
              </a:rPr>
              <a:t>.</a:t>
            </a:r>
          </a:p>
          <a:p>
            <a:pPr marL="0" indent="0">
              <a:buNone/>
            </a:pPr>
            <a:r>
              <a:rPr lang="en-IN" sz="1400" dirty="0">
                <a:latin typeface="Times New Roman" panose="02020603050405020304" pitchFamily="18" charset="0"/>
                <a:cs typeface="Times New Roman" panose="02020603050405020304" pitchFamily="18" charset="0"/>
              </a:rPr>
              <a:t>[10] Aleksandr </a:t>
            </a:r>
            <a:r>
              <a:rPr lang="en-IN" sz="1400" dirty="0" err="1">
                <a:latin typeface="Times New Roman" panose="02020603050405020304" pitchFamily="18" charset="0"/>
                <a:cs typeface="Times New Roman" panose="02020603050405020304" pitchFamily="18" charset="0"/>
              </a:rPr>
              <a:t>Nahapetyan</a:t>
            </a:r>
            <a:r>
              <a:rPr lang="en-IN" sz="1400" dirty="0">
                <a:latin typeface="Times New Roman" panose="02020603050405020304" pitchFamily="18" charset="0"/>
                <a:cs typeface="Times New Roman" panose="02020603050405020304" pitchFamily="18" charset="0"/>
              </a:rPr>
              <a:t>, Sathvik Prasad, Kevin Childs, Adam Oest, Yeganeh Ladwig, </a:t>
            </a:r>
            <a:r>
              <a:rPr lang="en-IN" sz="1400" dirty="0" err="1">
                <a:latin typeface="Times New Roman" panose="02020603050405020304" pitchFamily="18" charset="0"/>
                <a:cs typeface="Times New Roman" panose="02020603050405020304" pitchFamily="18" charset="0"/>
              </a:rPr>
              <a:t>Alexanderos</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Kapravelous</a:t>
            </a:r>
            <a:r>
              <a:rPr lang="en-IN" sz="1400" dirty="0">
                <a:latin typeface="Times New Roman" panose="02020603050405020304" pitchFamily="18" charset="0"/>
                <a:cs typeface="Times New Roman" panose="02020603050405020304" pitchFamily="18" charset="0"/>
              </a:rPr>
              <a:t>, Bradley Reaves,“</a:t>
            </a:r>
            <a:r>
              <a:rPr lang="en-US" sz="1400" dirty="0">
                <a:latin typeface="Times New Roman" panose="02020603050405020304" pitchFamily="18" charset="0"/>
                <a:cs typeface="Times New Roman" panose="02020603050405020304" pitchFamily="18" charset="0"/>
              </a:rPr>
              <a:t>On SMS Phishing Tactics and Infrastructure</a:t>
            </a:r>
            <a:r>
              <a:rPr lang="en-IN"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2024 IEEE Symposium on Security and Privacy (SP)</a:t>
            </a:r>
            <a:r>
              <a:rPr lang="en-IN" sz="1400" dirty="0">
                <a:latin typeface="Times New Roman" panose="02020603050405020304" pitchFamily="18" charset="0"/>
                <a:cs typeface="Times New Roman" panose="02020603050405020304" pitchFamily="18" charset="0"/>
              </a:rPr>
              <a:t>.</a:t>
            </a:r>
          </a:p>
          <a:p>
            <a:pPr marL="0" indent="0">
              <a:buNone/>
            </a:pPr>
            <a:r>
              <a:rPr lang="en-IN" sz="1400" dirty="0">
                <a:latin typeface="Times New Roman" panose="02020603050405020304" pitchFamily="18" charset="0"/>
                <a:cs typeface="Times New Roman" panose="02020603050405020304" pitchFamily="18" charset="0"/>
              </a:rPr>
              <a:t>[11] Zeynep </a:t>
            </a:r>
            <a:r>
              <a:rPr lang="en-IN" sz="1400" dirty="0" err="1">
                <a:latin typeface="Times New Roman" panose="02020603050405020304" pitchFamily="18" charset="0"/>
                <a:cs typeface="Times New Roman" panose="02020603050405020304" pitchFamily="18" charset="0"/>
              </a:rPr>
              <a:t>Aslanpencesi</a:t>
            </a:r>
            <a:r>
              <a:rPr lang="en-IN" sz="1400" dirty="0">
                <a:latin typeface="Times New Roman" panose="02020603050405020304" pitchFamily="18" charset="0"/>
                <a:cs typeface="Times New Roman" panose="02020603050405020304" pitchFamily="18" charset="0"/>
              </a:rPr>
              <a:t>, Muhammet Baykara, Talha Burak </a:t>
            </a:r>
            <a:r>
              <a:rPr lang="en-IN" sz="1400" dirty="0" err="1">
                <a:latin typeface="Times New Roman" panose="02020603050405020304" pitchFamily="18" charset="0"/>
                <a:cs typeface="Times New Roman" panose="02020603050405020304" pitchFamily="18" charset="0"/>
              </a:rPr>
              <a:t>Alakus</a:t>
            </a:r>
            <a:r>
              <a:rPr lang="en-IN"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SMS Phishing Detection with Hybrid CNN-GRU</a:t>
            </a:r>
            <a:r>
              <a:rPr lang="en-IN"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2024 7th World Symposium on Communication Engineering (WSCE)</a:t>
            </a:r>
            <a:r>
              <a:rPr lang="en-IN" sz="1400" dirty="0">
                <a:latin typeface="Times New Roman" panose="02020603050405020304" pitchFamily="18" charset="0"/>
                <a:cs typeface="Times New Roman" panose="02020603050405020304" pitchFamily="18" charset="0"/>
              </a:rPr>
              <a:t>.</a:t>
            </a:r>
          </a:p>
          <a:p>
            <a:pPr marL="105252" indent="0">
              <a:lnSpc>
                <a:spcPct val="115000"/>
              </a:lnSpc>
              <a:spcBef>
                <a:spcPts val="0"/>
              </a:spcBef>
              <a:buSzPct val="100000"/>
              <a:buNone/>
            </a:pPr>
            <a:endParaRPr lang="en-US" sz="1400" dirty="0">
              <a:latin typeface="Times New Roman" panose="02020603050405020304" pitchFamily="18" charset="0"/>
              <a:ea typeface="Times New Roman"/>
              <a:cs typeface="Times New Roman" panose="02020603050405020304" pitchFamily="18" charset="0"/>
              <a:sym typeface="Times New Roman"/>
            </a:endParaRPr>
          </a:p>
        </p:txBody>
      </p:sp>
      <p:sp>
        <p:nvSpPr>
          <p:cNvPr id="4" name="Date Placeholder 3">
            <a:extLst>
              <a:ext uri="{FF2B5EF4-FFF2-40B4-BE49-F238E27FC236}">
                <a16:creationId xmlns:a16="http://schemas.microsoft.com/office/drawing/2014/main" id="{494BF346-E2CC-BEB0-7525-2BCF490A74F6}"/>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6/3/2026</a:t>
            </a:r>
          </a:p>
        </p:txBody>
      </p:sp>
      <p:sp>
        <p:nvSpPr>
          <p:cNvPr id="5" name="Footer Placeholder 4">
            <a:extLst>
              <a:ext uri="{FF2B5EF4-FFF2-40B4-BE49-F238E27FC236}">
                <a16:creationId xmlns:a16="http://schemas.microsoft.com/office/drawing/2014/main" id="{EAFAA3A5-3EF4-BCA8-7C48-CA28BB497757}"/>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DE304D16-176C-8AA7-6FA4-88AF1AACF3CC}"/>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17</a:t>
            </a:fld>
            <a:endParaRPr lang="en-US">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E9841976-E672-3493-C28B-F916650A2A37}"/>
              </a:ext>
            </a:extLst>
          </p:cNvPr>
          <p:cNvSpPr txBox="1">
            <a:spLocks/>
          </p:cNvSpPr>
          <p:nvPr/>
        </p:nvSpPr>
        <p:spPr>
          <a:xfrm>
            <a:off x="1981200" y="227013"/>
            <a:ext cx="8229600" cy="669735"/>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000" dirty="0">
                <a:latin typeface="Times New Roman" panose="02020603050405020304" pitchFamily="18" charset="0"/>
                <a:ea typeface="Roboto"/>
                <a:cs typeface="Times New Roman" panose="02020603050405020304" pitchFamily="18" charset="0"/>
                <a:sym typeface="Roboto"/>
              </a:rPr>
              <a:t>References</a:t>
            </a:r>
            <a:endParaRPr lang="en-IN" sz="4000"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1003</TotalTime>
  <Words>2684</Words>
  <Application>Microsoft Office PowerPoint</Application>
  <PresentationFormat>Widescreen</PresentationFormat>
  <Paragraphs>229</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Aptos</vt:lpstr>
      <vt:lpstr>Arial</vt:lpstr>
      <vt:lpstr>Bookman Old Style</vt:lpstr>
      <vt:lpstr>Calibri</vt:lpstr>
      <vt:lpstr>Century Schoolbook</vt:lpstr>
      <vt:lpstr>Roboto</vt:lpstr>
      <vt:lpstr>Times New Roman</vt:lpstr>
      <vt:lpstr>Wingdings</vt:lpstr>
      <vt:lpstr>Office Theme</vt:lpstr>
      <vt:lpstr>Department of Computer Science and Engineering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Tools &amp; Technologies</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Science and Engineering</dc:title>
  <dc:subject/>
  <dc:creator>Nithin Naik R</dc:creator>
  <cp:keywords/>
  <dc:description>generated using python-pptx</dc:description>
  <cp:lastModifiedBy>Nithin Naik R</cp:lastModifiedBy>
  <cp:revision>25</cp:revision>
  <dcterms:created xsi:type="dcterms:W3CDTF">2013-01-27T09:14:16Z</dcterms:created>
  <dcterms:modified xsi:type="dcterms:W3CDTF">2026-03-06T09:04:45Z</dcterms:modified>
  <cp:category/>
</cp:coreProperties>
</file>