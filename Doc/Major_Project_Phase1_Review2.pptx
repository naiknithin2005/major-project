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6"/>
  </p:notesMasterIdLst>
  <p:sldIdLst>
    <p:sldId id="256" r:id="rId2"/>
    <p:sldId id="277" r:id="rId3"/>
    <p:sldId id="257" r:id="rId4"/>
    <p:sldId id="258" r:id="rId5"/>
    <p:sldId id="260" r:id="rId6"/>
    <p:sldId id="286" r:id="rId7"/>
    <p:sldId id="288" r:id="rId8"/>
    <p:sldId id="287" r:id="rId9"/>
    <p:sldId id="275" r:id="rId10"/>
    <p:sldId id="264" r:id="rId11"/>
    <p:sldId id="265" r:id="rId12"/>
    <p:sldId id="259" r:id="rId13"/>
    <p:sldId id="261" r:id="rId14"/>
    <p:sldId id="289" r:id="rId15"/>
    <p:sldId id="290" r:id="rId16"/>
    <p:sldId id="262" r:id="rId17"/>
    <p:sldId id="268" r:id="rId18"/>
    <p:sldId id="285" r:id="rId19"/>
    <p:sldId id="263" r:id="rId20"/>
    <p:sldId id="278" r:id="rId21"/>
    <p:sldId id="279" r:id="rId22"/>
    <p:sldId id="282" r:id="rId23"/>
    <p:sldId id="281" r:id="rId24"/>
    <p:sldId id="273"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EDEC"/>
    <a:srgbClr val="ECCE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1453"/>
  </p:normalViewPr>
  <p:slideViewPr>
    <p:cSldViewPr snapToGrid="0" snapToObjects="1">
      <p:cViewPr varScale="1">
        <p:scale>
          <a:sx n="75" d="100"/>
          <a:sy n="75" d="100"/>
        </p:scale>
        <p:origin x="1565" y="6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D58FC5-9E64-4A26-BDBF-6CD7E549CD31}" type="datetimeFigureOut">
              <a:rPr lang="en-IN" smtClean="0"/>
              <a:t>24-04-2026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072E3D-C9ED-41C0-B19F-CE3A3C6E8940}" type="slidenum">
              <a:rPr lang="en-IN" smtClean="0"/>
              <a:t>‹#›</a:t>
            </a:fld>
            <a:endParaRPr lang="en-IN"/>
          </a:p>
        </p:txBody>
      </p:sp>
    </p:spTree>
    <p:extLst>
      <p:ext uri="{BB962C8B-B14F-4D97-AF65-F5344CB8AC3E}">
        <p14:creationId xmlns:p14="http://schemas.microsoft.com/office/powerpoint/2010/main" val="13399356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IN"/>
              <a:t>24/04/2026</a:t>
            </a:r>
            <a:endParaRPr lang="en-US"/>
          </a:p>
        </p:txBody>
      </p:sp>
      <p:sp>
        <p:nvSpPr>
          <p:cNvPr id="5" name="Footer Placeholder 4"/>
          <p:cNvSpPr>
            <a:spLocks noGrp="1"/>
          </p:cNvSpPr>
          <p:nvPr>
            <p:ph type="ftr" sz="quarter" idx="11"/>
          </p:nvPr>
        </p:nvSpPr>
        <p:spPr/>
        <p:txBody>
          <a:bodyPr/>
          <a:lstStyle/>
          <a:p>
            <a:r>
              <a:rPr lang="en-US"/>
              <a:t>BMSIT&amp;M, CSE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867033" y="-2048688"/>
            <a:ext cx="7029567" cy="669735"/>
          </a:xfrm>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r>
              <a:rPr lang="en-IN"/>
              <a:t>24/04/2026</a:t>
            </a:r>
            <a:endParaRPr lang="en-US"/>
          </a:p>
        </p:txBody>
      </p:sp>
      <p:sp>
        <p:nvSpPr>
          <p:cNvPr id="5" name="Footer Placeholder 4"/>
          <p:cNvSpPr>
            <a:spLocks noGrp="1"/>
          </p:cNvSpPr>
          <p:nvPr>
            <p:ph type="ftr" sz="quarter" idx="11"/>
          </p:nvPr>
        </p:nvSpPr>
        <p:spPr/>
        <p:txBody>
          <a:bodyPr/>
          <a:lstStyle/>
          <a:p>
            <a:r>
              <a:rPr lang="en-US"/>
              <a:t>BMSIT&amp;M, CSE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2052" name="Picture 4" descr="COMEDK | Karnataka Professional Colleges Foundation | BMS ...">
            <a:extLst>
              <a:ext uri="{FF2B5EF4-FFF2-40B4-BE49-F238E27FC236}">
                <a16:creationId xmlns:a16="http://schemas.microsoft.com/office/drawing/2014/main" id="{E0A92C00-6914-054B-6F6E-831A17F9FF5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7646"/>
            <a:ext cx="1280593" cy="1086452"/>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577D0B7-0F8D-5672-357B-1C70F5E296E3}"/>
              </a:ext>
            </a:extLst>
          </p:cNvPr>
          <p:cNvPicPr>
            <a:picLocks noChangeAspect="1"/>
          </p:cNvPicPr>
          <p:nvPr userDrawn="1"/>
        </p:nvPicPr>
        <p:blipFill>
          <a:blip r:embed="rId3"/>
          <a:srcRect r="88830"/>
          <a:stretch>
            <a:fillRect/>
          </a:stretch>
        </p:blipFill>
        <p:spPr>
          <a:xfrm>
            <a:off x="10942103" y="41470"/>
            <a:ext cx="1280593" cy="1267126"/>
          </a:xfrm>
          <a:prstGeom prst="rect">
            <a:avLst/>
          </a:prstGeom>
        </p:spPr>
      </p:pic>
    </p:spTree>
    <p:extLst>
      <p:ext uri="{BB962C8B-B14F-4D97-AF65-F5344CB8AC3E}">
        <p14:creationId xmlns:p14="http://schemas.microsoft.com/office/powerpoint/2010/main" val="261431425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IN"/>
              <a:t>24/04/2026</a:t>
            </a:r>
            <a:endParaRPr lang="en-US"/>
          </a:p>
        </p:txBody>
      </p:sp>
      <p:sp>
        <p:nvSpPr>
          <p:cNvPr id="5" name="Footer Placeholder 4"/>
          <p:cNvSpPr>
            <a:spLocks noGrp="1"/>
          </p:cNvSpPr>
          <p:nvPr>
            <p:ph type="ftr" sz="quarter" idx="11"/>
          </p:nvPr>
        </p:nvSpPr>
        <p:spPr/>
        <p:txBody>
          <a:bodyPr/>
          <a:lstStyle/>
          <a:p>
            <a:r>
              <a:rPr lang="en-US"/>
              <a:t>BMSIT&amp;M, CSE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IN"/>
              <a:t>24/04/2026</a:t>
            </a:r>
            <a:endParaRPr lang="en-US"/>
          </a:p>
        </p:txBody>
      </p:sp>
      <p:sp>
        <p:nvSpPr>
          <p:cNvPr id="6" name="Footer Placeholder 5"/>
          <p:cNvSpPr>
            <a:spLocks noGrp="1"/>
          </p:cNvSpPr>
          <p:nvPr>
            <p:ph type="ftr" sz="quarter" idx="11"/>
          </p:nvPr>
        </p:nvSpPr>
        <p:spPr/>
        <p:txBody>
          <a:bodyPr/>
          <a:lstStyle/>
          <a:p>
            <a:r>
              <a:rPr lang="en-US"/>
              <a:t>BMSIT&amp;M, CSE                                 </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IN"/>
              <a:t>24/04/2026</a:t>
            </a:r>
            <a:endParaRPr lang="en-US"/>
          </a:p>
        </p:txBody>
      </p:sp>
      <p:sp>
        <p:nvSpPr>
          <p:cNvPr id="8" name="Footer Placeholder 7"/>
          <p:cNvSpPr>
            <a:spLocks noGrp="1"/>
          </p:cNvSpPr>
          <p:nvPr>
            <p:ph type="ftr" sz="quarter" idx="11"/>
          </p:nvPr>
        </p:nvSpPr>
        <p:spPr/>
        <p:txBody>
          <a:bodyPr/>
          <a:lstStyle/>
          <a:p>
            <a:r>
              <a:rPr lang="en-US"/>
              <a:t>BMSIT&amp;M, CSE                                 </a:t>
            </a:r>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IN"/>
              <a:t>24/04/2026</a:t>
            </a:r>
            <a:endParaRPr lang="en-US"/>
          </a:p>
        </p:txBody>
      </p:sp>
      <p:sp>
        <p:nvSpPr>
          <p:cNvPr id="4" name="Footer Placeholder 3"/>
          <p:cNvSpPr>
            <a:spLocks noGrp="1"/>
          </p:cNvSpPr>
          <p:nvPr>
            <p:ph type="ftr" sz="quarter" idx="11"/>
          </p:nvPr>
        </p:nvSpPr>
        <p:spPr/>
        <p:txBody>
          <a:bodyPr/>
          <a:lstStyle/>
          <a:p>
            <a:r>
              <a:rPr lang="en-US"/>
              <a:t>BMSIT&amp;M, CSE                                 </a:t>
            </a:r>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IN"/>
              <a:t>24/04/2026</a:t>
            </a:r>
            <a:endParaRPr lang="en-US"/>
          </a:p>
        </p:txBody>
      </p:sp>
      <p:sp>
        <p:nvSpPr>
          <p:cNvPr id="3" name="Footer Placeholder 2"/>
          <p:cNvSpPr>
            <a:spLocks noGrp="1"/>
          </p:cNvSpPr>
          <p:nvPr>
            <p:ph type="ftr" sz="quarter" idx="11"/>
          </p:nvPr>
        </p:nvSpPr>
        <p:spPr/>
        <p:txBody>
          <a:bodyPr/>
          <a:lstStyle/>
          <a:p>
            <a:r>
              <a:rPr lang="en-US"/>
              <a:t>BMSIT&amp;M, CSE                                 </a:t>
            </a:r>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24/04/2026</a:t>
            </a:r>
            <a:endParaRPr lang="en-US"/>
          </a:p>
        </p:txBody>
      </p:sp>
      <p:sp>
        <p:nvSpPr>
          <p:cNvPr id="6" name="Footer Placeholder 5"/>
          <p:cNvSpPr>
            <a:spLocks noGrp="1"/>
          </p:cNvSpPr>
          <p:nvPr>
            <p:ph type="ftr" sz="quarter" idx="11"/>
          </p:nvPr>
        </p:nvSpPr>
        <p:spPr/>
        <p:txBody>
          <a:bodyPr/>
          <a:lstStyle/>
          <a:p>
            <a:r>
              <a:rPr lang="en-US"/>
              <a:t>BMSIT&amp;M, CSE                                 </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IN"/>
              <a:t>24/04/2026</a:t>
            </a:r>
            <a:endParaRPr lang="en-US"/>
          </a:p>
        </p:txBody>
      </p:sp>
      <p:sp>
        <p:nvSpPr>
          <p:cNvPr id="6" name="Footer Placeholder 5"/>
          <p:cNvSpPr>
            <a:spLocks noGrp="1"/>
          </p:cNvSpPr>
          <p:nvPr>
            <p:ph type="ftr" sz="quarter" idx="11"/>
          </p:nvPr>
        </p:nvSpPr>
        <p:spPr/>
        <p:txBody>
          <a:bodyPr/>
          <a:lstStyle/>
          <a:p>
            <a:r>
              <a:rPr lang="en-US"/>
              <a:t>BMSIT&amp;M, CSE                                 </a:t>
            </a:r>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IN"/>
              <a:t>24/04/2026</a:t>
            </a:r>
            <a:endParaRPr lang="en-US"/>
          </a:p>
        </p:txBody>
      </p:sp>
      <p:sp>
        <p:nvSpPr>
          <p:cNvPr id="5" name="Footer Placeholder 4"/>
          <p:cNvSpPr>
            <a:spLocks noGrp="1"/>
          </p:cNvSpPr>
          <p:nvPr>
            <p:ph type="ftr" sz="quarter" idx="11"/>
          </p:nvPr>
        </p:nvSpPr>
        <p:spPr/>
        <p:txBody>
          <a:bodyPr/>
          <a:lstStyle/>
          <a:p>
            <a:r>
              <a:rPr lang="en-US"/>
              <a:t>BMSIT&amp;M, CSE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IN"/>
              <a:t>24/04/2026</a:t>
            </a:r>
            <a:endParaRPr lang="en-US"/>
          </a:p>
        </p:txBody>
      </p:sp>
      <p:sp>
        <p:nvSpPr>
          <p:cNvPr id="5" name="Footer Placeholder 4"/>
          <p:cNvSpPr>
            <a:spLocks noGrp="1"/>
          </p:cNvSpPr>
          <p:nvPr>
            <p:ph type="ftr" sz="quarter" idx="11"/>
          </p:nvPr>
        </p:nvSpPr>
        <p:spPr/>
        <p:txBody>
          <a:bodyPr/>
          <a:lstStyle/>
          <a:p>
            <a:r>
              <a:rPr lang="en-US"/>
              <a:t>BMSIT&amp;M, CSE                                 </a:t>
            </a:r>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IN"/>
              <a:t>24/04/2026</a:t>
            </a:r>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BMSIT&amp;M, CSE                                 </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6927" y="1698208"/>
            <a:ext cx="8887521" cy="880400"/>
          </a:xfrm>
        </p:spPr>
        <p:txBody>
          <a:bodyPr>
            <a:noAutofit/>
          </a:bodyPr>
          <a:lstStyle/>
          <a:p>
            <a:r>
              <a:rPr lang="en-US" sz="3200" b="1" dirty="0">
                <a:solidFill>
                  <a:schemeClr val="accent1">
                    <a:lumMod val="50000"/>
                  </a:schemeClr>
                </a:solidFill>
                <a:latin typeface="Times New Roman" panose="02020603050405020304" pitchFamily="18" charset="0"/>
                <a:cs typeface="Times New Roman" panose="02020603050405020304" pitchFamily="18" charset="0"/>
              </a:rPr>
              <a:t>Department of Computer Science and Engineering</a:t>
            </a:r>
            <a:endParaRPr sz="32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731957" y="3260888"/>
            <a:ext cx="10728086" cy="3469850"/>
          </a:xfrm>
        </p:spPr>
        <p:txBody>
          <a:bodyPr>
            <a:normAutofit fontScale="25000" lnSpcReduction="20000"/>
          </a:bodyPr>
          <a:lstStyle/>
          <a:p>
            <a:pPr>
              <a:spcBef>
                <a:spcPts val="0"/>
              </a:spcBef>
              <a:buSzPct val="100000"/>
            </a:pPr>
            <a:r>
              <a:rPr lang="en-US" sz="7200" b="1" dirty="0">
                <a:latin typeface="Times New Roman" panose="02020603050405020304" pitchFamily="18" charset="0"/>
                <a:ea typeface="Century Schoolbook"/>
                <a:cs typeface="Times New Roman" panose="02020603050405020304" pitchFamily="18" charset="0"/>
                <a:sym typeface="Century Schoolbook"/>
              </a:rPr>
              <a:t>REAL TIME AI/ML BASED QUISHING AND SMISHING DETECTION AND PREVENTION SYSTEM</a:t>
            </a:r>
          </a:p>
          <a:p>
            <a:pPr>
              <a:spcBef>
                <a:spcPts val="776"/>
              </a:spcBef>
              <a:buClr>
                <a:schemeClr val="dk2"/>
              </a:buClr>
              <a:buSzPct val="100000"/>
            </a:pPr>
            <a:r>
              <a:rPr lang="en-US" sz="5600" b="1" dirty="0">
                <a:latin typeface="Times New Roman" panose="02020603050405020304" pitchFamily="18" charset="0"/>
                <a:ea typeface="Century Schoolbook"/>
                <a:cs typeface="Times New Roman" panose="02020603050405020304" pitchFamily="18" charset="0"/>
                <a:sym typeface="Century Schoolbook"/>
              </a:rPr>
              <a:t>NITHIN NAIK.R(1BY23CS152)</a:t>
            </a:r>
            <a:br>
              <a:rPr lang="en-US" sz="5600" b="1" dirty="0">
                <a:latin typeface="Times New Roman" panose="02020603050405020304" pitchFamily="18" charset="0"/>
                <a:ea typeface="Century Schoolbook"/>
                <a:cs typeface="Times New Roman" panose="02020603050405020304" pitchFamily="18" charset="0"/>
                <a:sym typeface="Century Schoolbook"/>
              </a:rPr>
            </a:br>
            <a:r>
              <a:rPr lang="en-US" sz="5600" b="1" dirty="0">
                <a:latin typeface="Times New Roman" panose="02020603050405020304" pitchFamily="18" charset="0"/>
                <a:ea typeface="Century Schoolbook"/>
                <a:cs typeface="Times New Roman" panose="02020603050405020304" pitchFamily="18" charset="0"/>
                <a:sym typeface="Century Schoolbook"/>
              </a:rPr>
              <a:t>SAGAR S H(1BY24CS415)</a:t>
            </a:r>
            <a:br>
              <a:rPr lang="en-US" sz="5600" b="1" dirty="0">
                <a:latin typeface="Times New Roman" panose="02020603050405020304" pitchFamily="18" charset="0"/>
                <a:ea typeface="Century Schoolbook"/>
                <a:cs typeface="Times New Roman" panose="02020603050405020304" pitchFamily="18" charset="0"/>
                <a:sym typeface="Century Schoolbook"/>
              </a:rPr>
            </a:br>
            <a:r>
              <a:rPr lang="en-US" sz="5600" b="1" dirty="0">
                <a:latin typeface="Times New Roman" panose="02020603050405020304" pitchFamily="18" charset="0"/>
                <a:ea typeface="Century Schoolbook"/>
                <a:cs typeface="Times New Roman" panose="02020603050405020304" pitchFamily="18" charset="0"/>
                <a:sym typeface="Century Schoolbook"/>
              </a:rPr>
              <a:t>UMAR(1BY23CS190)</a:t>
            </a:r>
            <a:br>
              <a:rPr lang="en-US" sz="5600" b="1" dirty="0">
                <a:latin typeface="Times New Roman" panose="02020603050405020304" pitchFamily="18" charset="0"/>
                <a:ea typeface="Century Schoolbook"/>
                <a:cs typeface="Times New Roman" panose="02020603050405020304" pitchFamily="18" charset="0"/>
                <a:sym typeface="Century Schoolbook"/>
              </a:rPr>
            </a:br>
            <a:r>
              <a:rPr lang="en-US" sz="5600" b="1" dirty="0">
                <a:latin typeface="Times New Roman" panose="02020603050405020304" pitchFamily="18" charset="0"/>
                <a:ea typeface="Century Schoolbook"/>
                <a:cs typeface="Times New Roman" panose="02020603050405020304" pitchFamily="18" charset="0"/>
                <a:sym typeface="Century Schoolbook"/>
              </a:rPr>
              <a:t>PRASHANT(1BY23CS161)</a:t>
            </a:r>
            <a:endParaRPr lang="en-US" sz="5600" dirty="0">
              <a:latin typeface="Times New Roman" panose="02020603050405020304" pitchFamily="18" charset="0"/>
              <a:cs typeface="Times New Roman" panose="02020603050405020304" pitchFamily="18" charset="0"/>
            </a:endParaRPr>
          </a:p>
          <a:p>
            <a:pPr>
              <a:spcBef>
                <a:spcPts val="776"/>
              </a:spcBef>
              <a:buClr>
                <a:schemeClr val="dk2"/>
              </a:buClr>
              <a:buSzPct val="100000"/>
            </a:pPr>
            <a:endParaRPr lang="en-US" sz="4000" b="1" dirty="0">
              <a:latin typeface="Times New Roman" panose="02020603050405020304" pitchFamily="18" charset="0"/>
              <a:ea typeface="Century Schoolbook"/>
              <a:cs typeface="Times New Roman" panose="02020603050405020304" pitchFamily="18" charset="0"/>
              <a:sym typeface="Century Schoolbook"/>
            </a:endParaRPr>
          </a:p>
          <a:p>
            <a:pPr>
              <a:spcBef>
                <a:spcPts val="820"/>
              </a:spcBef>
              <a:buClr>
                <a:schemeClr val="dk2"/>
              </a:buClr>
              <a:buSzPct val="100000"/>
            </a:pPr>
            <a:r>
              <a:rPr lang="en-US" sz="4800" b="1" dirty="0">
                <a:latin typeface="Times New Roman" panose="02020603050405020304" pitchFamily="18" charset="0"/>
                <a:ea typeface="Century Schoolbook"/>
                <a:cs typeface="Times New Roman" panose="02020603050405020304" pitchFamily="18" charset="0"/>
                <a:sym typeface="Century Schoolbook"/>
              </a:rPr>
              <a:t>UNDER THE GUIDANCE OF:</a:t>
            </a:r>
            <a:endParaRPr lang="en-US" sz="4800" dirty="0">
              <a:latin typeface="Times New Roman" panose="02020603050405020304" pitchFamily="18" charset="0"/>
              <a:cs typeface="Times New Roman" panose="02020603050405020304" pitchFamily="18" charset="0"/>
            </a:endParaRPr>
          </a:p>
          <a:p>
            <a:r>
              <a:rPr lang="en-US" sz="7200" b="1" dirty="0"/>
              <a:t>Prof. BRUNDA S</a:t>
            </a:r>
            <a:endParaRPr lang="en-IN" sz="12800" dirty="0"/>
          </a:p>
          <a:p>
            <a:pPr lvl="0">
              <a:spcBef>
                <a:spcPts val="809"/>
              </a:spcBef>
              <a:buClr>
                <a:schemeClr val="dk2"/>
              </a:buClr>
              <a:buSzPct val="100000"/>
            </a:pPr>
            <a:r>
              <a:rPr lang="en-IN" sz="6400" b="1" dirty="0">
                <a:latin typeface="Times New Roman" panose="02020603050405020304" pitchFamily="18" charset="0"/>
                <a:ea typeface="Century Schoolbook"/>
                <a:cs typeface="Times New Roman" panose="02020603050405020304" pitchFamily="18" charset="0"/>
                <a:sym typeface="Century Schoolbook"/>
              </a:rPr>
              <a:t>Assistant Professor</a:t>
            </a:r>
          </a:p>
          <a:p>
            <a:pPr>
              <a:spcBef>
                <a:spcPts val="809"/>
              </a:spcBef>
              <a:buClr>
                <a:schemeClr val="dk2"/>
              </a:buClr>
              <a:buSzPct val="100000"/>
            </a:pPr>
            <a:r>
              <a:rPr lang="en-US" sz="4000" b="1" dirty="0">
                <a:latin typeface="Times New Roman" panose="02020603050405020304" pitchFamily="18" charset="0"/>
                <a:ea typeface="Century Schoolbook"/>
                <a:cs typeface="Times New Roman" panose="02020603050405020304" pitchFamily="18" charset="0"/>
                <a:sym typeface="Century Schoolbook"/>
              </a:rPr>
              <a:t>DEPT. OF CSE</a:t>
            </a:r>
            <a:endParaRPr lang="en-US" dirty="0">
              <a:latin typeface="Times New Roman" panose="02020603050405020304" pitchFamily="18" charset="0"/>
              <a:cs typeface="Times New Roman" panose="02020603050405020304" pitchFamily="18" charset="0"/>
            </a:endParaRPr>
          </a:p>
          <a:p>
            <a:pPr>
              <a:spcBef>
                <a:spcPts val="809"/>
              </a:spcBef>
              <a:buClr>
                <a:schemeClr val="dk2"/>
              </a:buClr>
              <a:buSzPct val="100000"/>
            </a:pPr>
            <a:r>
              <a:rPr lang="en-US" sz="4000" b="1" dirty="0">
                <a:latin typeface="Times New Roman" panose="02020603050405020304" pitchFamily="18" charset="0"/>
                <a:ea typeface="Century Schoolbook"/>
                <a:cs typeface="Times New Roman" panose="02020603050405020304" pitchFamily="18" charset="0"/>
                <a:sym typeface="Century Schoolbook"/>
              </a:rPr>
              <a:t>BMSIT&amp;M</a:t>
            </a:r>
            <a:endParaRPr lang="en-US" dirty="0">
              <a:latin typeface="Times New Roman" panose="02020603050405020304" pitchFamily="18" charset="0"/>
              <a:cs typeface="Times New Roman" panose="02020603050405020304" pitchFamily="18" charset="0"/>
            </a:endParaRPr>
          </a:p>
          <a:p>
            <a:pPr>
              <a:spcBef>
                <a:spcPts val="809"/>
              </a:spcBef>
              <a:buClr>
                <a:schemeClr val="dk2"/>
              </a:buClr>
              <a:buSzPct val="100000"/>
            </a:pPr>
            <a:r>
              <a:rPr lang="en-US" sz="4000" b="1" dirty="0">
                <a:latin typeface="Times New Roman" panose="02020603050405020304" pitchFamily="18" charset="0"/>
                <a:ea typeface="Century Schoolbook"/>
                <a:cs typeface="Times New Roman" panose="02020603050405020304" pitchFamily="18" charset="0"/>
                <a:sym typeface="Century Schoolbook"/>
              </a:rPr>
              <a:t>2025-26</a:t>
            </a:r>
            <a:endParaRPr dirty="0"/>
          </a:p>
        </p:txBody>
      </p:sp>
      <p:pic>
        <p:nvPicPr>
          <p:cNvPr id="1028" name="Picture 4" descr="logo">
            <a:extLst>
              <a:ext uri="{FF2B5EF4-FFF2-40B4-BE49-F238E27FC236}">
                <a16:creationId xmlns:a16="http://schemas.microsoft.com/office/drawing/2014/main" id="{3E1624B9-242F-355A-EE27-143D87BDAC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010" y="-16064"/>
            <a:ext cx="9012936" cy="2014174"/>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a:extLst>
              <a:ext uri="{FF2B5EF4-FFF2-40B4-BE49-F238E27FC236}">
                <a16:creationId xmlns:a16="http://schemas.microsoft.com/office/drawing/2014/main" id="{45F9DE8D-BEDA-78E6-1063-A5D3E745CFDB}"/>
              </a:ext>
            </a:extLst>
          </p:cNvPr>
          <p:cNvSpPr txBox="1">
            <a:spLocks/>
          </p:cNvSpPr>
          <p:nvPr/>
        </p:nvSpPr>
        <p:spPr>
          <a:xfrm>
            <a:off x="2743546" y="2380488"/>
            <a:ext cx="6629400" cy="880400"/>
          </a:xfrm>
          <a:prstGeom prst="rect">
            <a:avLst/>
          </a:prstGeom>
        </p:spPr>
        <p:txBody>
          <a:bodyPr vert="horz" lIns="91440" tIns="45720" rIns="91440" bIns="45720" rtlCol="0" anchor="ctr">
            <a:normAutofit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endParaRPr lang="en-US" sz="2800" b="1" dirty="0">
              <a:solidFill>
                <a:schemeClr val="accent2">
                  <a:lumMod val="75000"/>
                </a:schemeClr>
              </a:solidFill>
              <a:latin typeface="Times New Roman" panose="02020603050405020304" pitchFamily="18" charset="0"/>
              <a:cs typeface="Times New Roman" panose="02020603050405020304" pitchFamily="18" charset="0"/>
            </a:endParaRPr>
          </a:p>
          <a:p>
            <a:r>
              <a:rPr lang="en-US" sz="2800" b="1" dirty="0">
                <a:solidFill>
                  <a:schemeClr val="accent2">
                    <a:lumMod val="75000"/>
                  </a:schemeClr>
                </a:solidFill>
                <a:latin typeface="Times New Roman" panose="02020603050405020304" pitchFamily="18" charset="0"/>
                <a:cs typeface="Times New Roman" panose="02020603050405020304" pitchFamily="18" charset="0"/>
              </a:rPr>
              <a:t>Major Project – Phase 1 - Review 2</a:t>
            </a:r>
          </a:p>
        </p:txBody>
      </p:sp>
      <p:pic>
        <p:nvPicPr>
          <p:cNvPr id="8" name="Picture 7">
            <a:extLst>
              <a:ext uri="{FF2B5EF4-FFF2-40B4-BE49-F238E27FC236}">
                <a16:creationId xmlns:a16="http://schemas.microsoft.com/office/drawing/2014/main" id="{CCD92D58-DEFF-AD49-E9A6-3F6683070D95}"/>
              </a:ext>
            </a:extLst>
          </p:cNvPr>
          <p:cNvPicPr>
            <a:picLocks noChangeAspect="1"/>
          </p:cNvPicPr>
          <p:nvPr/>
        </p:nvPicPr>
        <p:blipFill>
          <a:blip r:embed="rId3"/>
          <a:srcRect r="88830"/>
          <a:stretch>
            <a:fillRect/>
          </a:stretch>
        </p:blipFill>
        <p:spPr>
          <a:xfrm>
            <a:off x="10394471" y="118194"/>
            <a:ext cx="1596807" cy="158001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6C7BB-DCB2-189C-05DA-5D24D4C515C0}"/>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30B1D643-3E6D-D12A-E840-06A643610F16}"/>
              </a:ext>
            </a:extLst>
          </p:cNvPr>
          <p:cNvSpPr>
            <a:spLocks noGrp="1"/>
          </p:cNvSpPr>
          <p:nvPr>
            <p:ph idx="1"/>
          </p:nvPr>
        </p:nvSpPr>
        <p:spPr>
          <a:xfrm>
            <a:off x="609600" y="1005841"/>
            <a:ext cx="10972800" cy="5350510"/>
          </a:xfrm>
        </p:spPr>
        <p:txBody>
          <a:bodyPr>
            <a:normAutofit fontScale="55000" lnSpcReduction="20000"/>
          </a:bodyPr>
          <a:lstStyle/>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Abstract </a:t>
            </a:r>
          </a:p>
          <a:p>
            <a:pPr marL="342900" indent="-342900">
              <a:buFont typeface="Arial" panose="020B0604020202020204" pitchFamily="34" charset="0"/>
              <a:buChar char="•"/>
            </a:pPr>
            <a:r>
              <a:rPr lang="en-US" dirty="0"/>
              <a:t>Introduction</a:t>
            </a:r>
          </a:p>
          <a:p>
            <a:pPr marL="342900" indent="-342900">
              <a:buFont typeface="Arial" panose="020B0604020202020204" pitchFamily="34" charset="0"/>
              <a:buChar char="•"/>
            </a:pPr>
            <a:r>
              <a:rPr lang="en-US" dirty="0"/>
              <a:t>Problem Statement</a:t>
            </a:r>
          </a:p>
          <a:p>
            <a:pPr marL="342900" indent="-342900">
              <a:buFont typeface="Arial" panose="020B0604020202020204" pitchFamily="34" charset="0"/>
              <a:buChar char="•"/>
            </a:pPr>
            <a:r>
              <a:rPr lang="en-US" dirty="0"/>
              <a:t>Objectives</a:t>
            </a:r>
          </a:p>
          <a:p>
            <a:pPr marL="342900" indent="-342900">
              <a:buFont typeface="Arial" panose="020B0604020202020204" pitchFamily="34" charset="0"/>
              <a:buChar char="•"/>
            </a:pPr>
            <a:r>
              <a:rPr lang="en-US" dirty="0"/>
              <a:t>Literature Survey</a:t>
            </a:r>
          </a:p>
          <a:p>
            <a:pPr marL="342900" indent="-342900">
              <a:buFont typeface="Arial" panose="020B0604020202020204" pitchFamily="34" charset="0"/>
              <a:buChar char="•"/>
            </a:pPr>
            <a:r>
              <a:rPr lang="en-US" dirty="0"/>
              <a:t>Research Gap and Research Challenges</a:t>
            </a:r>
          </a:p>
          <a:p>
            <a:pPr marL="342900" indent="-342900">
              <a:buFont typeface="Arial" panose="020B0604020202020204" pitchFamily="34" charset="0"/>
              <a:buChar char="•"/>
            </a:pPr>
            <a:r>
              <a:rPr lang="en-US" dirty="0"/>
              <a:t>Proposed Methodology- Brief description of implementation and high Level design/architecture of the proposed system</a:t>
            </a:r>
          </a:p>
          <a:p>
            <a:pPr marL="342900" indent="-342900">
              <a:buFont typeface="Arial" panose="020B0604020202020204" pitchFamily="34" charset="0"/>
              <a:buChar char="•"/>
            </a:pPr>
            <a:r>
              <a:rPr lang="en-US" dirty="0"/>
              <a:t>Highlights from Phase 1 Review 1 suggestions, along with justification for inclusion</a:t>
            </a:r>
          </a:p>
          <a:p>
            <a:pPr marL="342900" indent="-342900">
              <a:buFont typeface="Arial" panose="020B0604020202020204" pitchFamily="34" charset="0"/>
              <a:buChar char="•"/>
            </a:pPr>
            <a:r>
              <a:rPr lang="en-US" dirty="0"/>
              <a:t>Expected outcomes</a:t>
            </a:r>
          </a:p>
          <a:p>
            <a:pPr marL="342900" indent="-342900">
              <a:buFont typeface="Arial" panose="020B0604020202020204" pitchFamily="34" charset="0"/>
              <a:buChar char="•"/>
            </a:pPr>
            <a:r>
              <a:rPr lang="en-US" dirty="0"/>
              <a:t>Societal and Environment Impact</a:t>
            </a:r>
          </a:p>
          <a:p>
            <a:pPr marL="342900" indent="-342900">
              <a:buFont typeface="Arial" panose="020B0604020202020204" pitchFamily="34" charset="0"/>
              <a:buChar char="•"/>
            </a:pPr>
            <a:r>
              <a:rPr lang="en-US" dirty="0"/>
              <a:t>Standard &amp; Sustainability</a:t>
            </a:r>
          </a:p>
          <a:p>
            <a:pPr marL="342900" indent="-342900">
              <a:buFont typeface="Arial" panose="020B0604020202020204" pitchFamily="34" charset="0"/>
              <a:buChar char="•"/>
            </a:pPr>
            <a:r>
              <a:rPr lang="en-US" dirty="0"/>
              <a:t>Team Contribution</a:t>
            </a:r>
          </a:p>
          <a:p>
            <a:pPr marL="342900" indent="-342900">
              <a:buFont typeface="Arial" panose="020B0604020202020204" pitchFamily="34" charset="0"/>
              <a:buChar char="•"/>
            </a:pPr>
            <a:r>
              <a:rPr lang="en-US" dirty="0"/>
              <a:t>Cost Analysis</a:t>
            </a:r>
          </a:p>
          <a:p>
            <a:pPr marL="342900" indent="-342900">
              <a:buFont typeface="Arial" panose="020B0604020202020204" pitchFamily="34" charset="0"/>
              <a:buChar char="•"/>
            </a:pPr>
            <a:r>
              <a:rPr lang="en-US" dirty="0"/>
              <a:t>Project Management</a:t>
            </a:r>
          </a:p>
          <a:p>
            <a:pPr marL="342900" indent="-342900">
              <a:buFont typeface="Arial" panose="020B0604020202020204" pitchFamily="34" charset="0"/>
              <a:buChar char="•"/>
            </a:pPr>
            <a:r>
              <a:rPr lang="en-US" dirty="0"/>
              <a:t>Conclusion </a:t>
            </a:r>
          </a:p>
          <a:p>
            <a:pPr marL="342900" indent="-342900">
              <a:buFont typeface="Arial" panose="020B0604020202020204" pitchFamily="34" charset="0"/>
              <a:buChar char="•"/>
            </a:pPr>
            <a:r>
              <a:rPr lang="en-US" dirty="0"/>
              <a:t>References</a:t>
            </a:r>
          </a:p>
          <a:p>
            <a:pPr marL="0" indent="0">
              <a:buNone/>
            </a:pPr>
            <a:endParaRPr lang="en-US" dirty="0"/>
          </a:p>
        </p:txBody>
      </p:sp>
      <p:sp>
        <p:nvSpPr>
          <p:cNvPr id="4" name="Date Placeholder 3">
            <a:extLst>
              <a:ext uri="{FF2B5EF4-FFF2-40B4-BE49-F238E27FC236}">
                <a16:creationId xmlns:a16="http://schemas.microsoft.com/office/drawing/2014/main" id="{44247A06-46A0-4D76-7CA1-643621B5DD1A}"/>
              </a:ext>
            </a:extLst>
          </p:cNvPr>
          <p:cNvSpPr>
            <a:spLocks noGrp="1"/>
          </p:cNvSpPr>
          <p:nvPr>
            <p:ph type="dt" sz="half" idx="10"/>
          </p:nvPr>
        </p:nvSpPr>
        <p:spPr/>
        <p:txBody>
          <a:bodyPr/>
          <a:lstStyle/>
          <a:p>
            <a:r>
              <a:rPr lang="en-IN"/>
              <a:t>24/04/2026</a:t>
            </a:r>
            <a:endParaRPr lang="en-US"/>
          </a:p>
        </p:txBody>
      </p:sp>
      <p:sp>
        <p:nvSpPr>
          <p:cNvPr id="5" name="Footer Placeholder 4">
            <a:extLst>
              <a:ext uri="{FF2B5EF4-FFF2-40B4-BE49-F238E27FC236}">
                <a16:creationId xmlns:a16="http://schemas.microsoft.com/office/drawing/2014/main" id="{EB0EA9E6-A2A1-E2BC-AD0E-F5EF460F1D0A}"/>
              </a:ext>
            </a:extLst>
          </p:cNvPr>
          <p:cNvSpPr>
            <a:spLocks noGrp="1"/>
          </p:cNvSpPr>
          <p:nvPr>
            <p:ph type="ftr" sz="quarter" idx="11"/>
          </p:nvPr>
        </p:nvSpPr>
        <p:spPr/>
        <p:txBody>
          <a:bodyPr/>
          <a:lstStyle/>
          <a:p>
            <a:r>
              <a:rPr lang="en-US"/>
              <a:t>BMSIT&amp;M, CSE                                 </a:t>
            </a:r>
          </a:p>
        </p:txBody>
      </p:sp>
      <p:sp>
        <p:nvSpPr>
          <p:cNvPr id="6" name="Slide Number Placeholder 5">
            <a:extLst>
              <a:ext uri="{FF2B5EF4-FFF2-40B4-BE49-F238E27FC236}">
                <a16:creationId xmlns:a16="http://schemas.microsoft.com/office/drawing/2014/main" id="{42D52D13-CED6-DCA9-3E36-69F86962BF90}"/>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7" name="TextBox 6">
            <a:extLst>
              <a:ext uri="{FF2B5EF4-FFF2-40B4-BE49-F238E27FC236}">
                <a16:creationId xmlns:a16="http://schemas.microsoft.com/office/drawing/2014/main" id="{C4C7E726-1201-DF40-2EA7-8F897F6942C7}"/>
              </a:ext>
            </a:extLst>
          </p:cNvPr>
          <p:cNvSpPr txBox="1"/>
          <p:nvPr/>
        </p:nvSpPr>
        <p:spPr>
          <a:xfrm>
            <a:off x="2480310" y="213598"/>
            <a:ext cx="6617970" cy="523220"/>
          </a:xfrm>
          <a:prstGeom prst="rect">
            <a:avLst/>
          </a:prstGeom>
          <a:noFill/>
        </p:spPr>
        <p:txBody>
          <a:bodyPr wrap="square" rtlCol="0">
            <a:spAutoFit/>
          </a:bodyPr>
          <a:lstStyle/>
          <a:p>
            <a:pPr marL="0" indent="0" algn="ctr">
              <a:buNone/>
            </a:pPr>
            <a:r>
              <a:rPr lang="en-US" sz="2800" dirty="0">
                <a:latin typeface="Times New Roman" panose="02020603050405020304" pitchFamily="18" charset="0"/>
                <a:cs typeface="Times New Roman" panose="02020603050405020304" pitchFamily="18" charset="0"/>
              </a:rPr>
              <a:t>Content </a:t>
            </a:r>
          </a:p>
        </p:txBody>
      </p:sp>
    </p:spTree>
    <p:extLst>
      <p:ext uri="{BB962C8B-B14F-4D97-AF65-F5344CB8AC3E}">
        <p14:creationId xmlns:p14="http://schemas.microsoft.com/office/powerpoint/2010/main" val="1514828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lumMod val="20000"/>
              <a:lumOff val="80000"/>
            </a:schemeClr>
          </a:solidFill>
          <a:ln w="19050">
            <a:solidFill>
              <a:schemeClr val="accent2">
                <a:lumMod val="50000"/>
              </a:schemeClr>
            </a:solidFill>
          </a:ln>
        </p:spPr>
        <p:txBody>
          <a:bodyPr>
            <a:normAutofit fontScale="90000"/>
          </a:bodyPr>
          <a:lstStyle/>
          <a:p>
            <a:r>
              <a:rPr dirty="0">
                <a:latin typeface="Times New Roman" panose="02020603050405020304" pitchFamily="18" charset="0"/>
                <a:ea typeface="Cambria" panose="02040503050406030204" pitchFamily="18" charset="0"/>
                <a:cs typeface="Times New Roman" panose="02020603050405020304" pitchFamily="18" charset="0"/>
              </a:rPr>
              <a:t>Problem Statement</a:t>
            </a:r>
          </a:p>
        </p:txBody>
      </p:sp>
      <p:sp>
        <p:nvSpPr>
          <p:cNvPr id="3" name="Content Placeholder 2"/>
          <p:cNvSpPr>
            <a:spLocks noGrp="1"/>
          </p:cNvSpPr>
          <p:nvPr>
            <p:ph idx="1"/>
          </p:nvPr>
        </p:nvSpPr>
        <p:spPr/>
        <p:txBody>
          <a:bodyPr>
            <a:normAutofit lnSpcReduction="10000"/>
          </a:bodyPr>
          <a:lstStyle/>
          <a:p>
            <a:pPr marL="88900" indent="0" algn="just">
              <a:lnSpc>
                <a:spcPct val="115000"/>
              </a:lnSpc>
              <a:spcBef>
                <a:spcPts val="0"/>
              </a:spcBef>
              <a:buSzPts val="2200"/>
              <a:buNone/>
            </a:pPr>
            <a:r>
              <a:rPr lang="en-US" sz="2000" dirty="0">
                <a:latin typeface="Times New Roman" panose="02020603050405020304" pitchFamily="18" charset="0"/>
                <a:cs typeface="Times New Roman" panose="02020603050405020304" pitchFamily="18" charset="0"/>
              </a:rPr>
              <a:t>In today’s digital world, mobile users depend heavily on QR codes and SMS messages for banking and payments, making them vulnerable to phishing attacks. QR phishing and SMS phishing exploit user trust by delivering malicious links that often bypass traditional security systems.</a:t>
            </a:r>
          </a:p>
          <a:p>
            <a:pPr marL="88900" indent="0" algn="just">
              <a:lnSpc>
                <a:spcPct val="115000"/>
              </a:lnSpc>
              <a:spcBef>
                <a:spcPts val="0"/>
              </a:spcBef>
              <a:buSzPts val="2200"/>
              <a:buNone/>
            </a:pPr>
            <a:endParaRPr lang="en-US" sz="2000" dirty="0">
              <a:latin typeface="Times New Roman" panose="02020603050405020304" pitchFamily="18" charset="0"/>
              <a:cs typeface="Times New Roman" panose="02020603050405020304" pitchFamily="18" charset="0"/>
            </a:endParaRPr>
          </a:p>
          <a:p>
            <a:pPr marL="88900" indent="0" algn="just">
              <a:lnSpc>
                <a:spcPct val="115000"/>
              </a:lnSpc>
              <a:spcBef>
                <a:spcPts val="0"/>
              </a:spcBef>
              <a:buSzPts val="2200"/>
              <a:buNone/>
            </a:pPr>
            <a:r>
              <a:rPr lang="en-US" sz="2000" dirty="0">
                <a:latin typeface="Times New Roman" panose="02020603050405020304" pitchFamily="18" charset="0"/>
                <a:cs typeface="Times New Roman" panose="02020603050405020304" pitchFamily="18" charset="0"/>
              </a:rPr>
              <a:t>Most existing solutions rely on blacklists and external APIs, which fail to detect newly generated (zero-day) phishing attacks and raise concerns related to privacy and delayed response. As attackers continuously create new domains and deceptive message patterns, users remain exposed to financial loss and data theft. Therefore, there is a need for a self-contained, intelligent detection system that can proactively identify suspicious patterns and protect users against emerging QR and SMS-based phishing threats without relying on external services.</a:t>
            </a:r>
          </a:p>
          <a:p>
            <a:pPr marL="88900" indent="0" algn="just">
              <a:lnSpc>
                <a:spcPct val="115000"/>
              </a:lnSpc>
              <a:spcBef>
                <a:spcPts val="0"/>
              </a:spcBef>
              <a:buSzPts val="2200"/>
              <a:buNone/>
            </a:pPr>
            <a:endParaRPr lang="en-US" sz="2000" dirty="0">
              <a:latin typeface="Times New Roman" panose="02020603050405020304" pitchFamily="18" charset="0"/>
              <a:cs typeface="Times New Roman" panose="02020603050405020304" pitchFamily="18" charset="0"/>
            </a:endParaRPr>
          </a:p>
          <a:p>
            <a:pPr marL="88900" indent="0" algn="just">
              <a:lnSpc>
                <a:spcPct val="115000"/>
              </a:lnSpc>
              <a:spcBef>
                <a:spcPts val="0"/>
              </a:spcBef>
              <a:buSzPts val="2200"/>
              <a:buNone/>
            </a:pPr>
            <a:r>
              <a:rPr lang="en-US" sz="2000" dirty="0">
                <a:latin typeface="Times New Roman" panose="02020603050405020304" pitchFamily="18" charset="0"/>
                <a:cs typeface="Times New Roman" panose="02020603050405020304" pitchFamily="18" charset="0"/>
              </a:rPr>
              <a:t>The targeted users of this system include </a:t>
            </a:r>
            <a:r>
              <a:rPr lang="en-US" sz="2000" b="1" dirty="0">
                <a:latin typeface="Times New Roman" panose="02020603050405020304" pitchFamily="18" charset="0"/>
                <a:cs typeface="Times New Roman" panose="02020603050405020304" pitchFamily="18" charset="0"/>
              </a:rPr>
              <a:t>mobile banking users(UPI), elderly users, students, and organizations that rely on digital payments and mobile communication</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B924D67-2A6E-AFE7-E2CB-5FCFC8042691}"/>
              </a:ext>
            </a:extLst>
          </p:cNvPr>
          <p:cNvSpPr>
            <a:spLocks noGrp="1"/>
          </p:cNvSpPr>
          <p:nvPr>
            <p:ph type="dt" sz="half" idx="10"/>
          </p:nvPr>
        </p:nvSpPr>
        <p:spPr/>
        <p:txBody>
          <a:bodyPr/>
          <a:lstStyle/>
          <a:p>
            <a:r>
              <a:rPr lang="en-IN">
                <a:latin typeface="Times New Roman" panose="02020603050405020304" pitchFamily="18" charset="0"/>
                <a:cs typeface="Times New Roman" panose="02020603050405020304" pitchFamily="18" charset="0"/>
              </a:rPr>
              <a:t>24/04/2026</a:t>
            </a:r>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F686765-11AC-DBC6-7EC6-F18C80C9B9FC}"/>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728510E2-0DDE-FD8C-4D14-B15788DD4927}"/>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658D6BDE-8564-393F-223F-4B5B57677A12}"/>
              </a:ext>
            </a:extLst>
          </p:cNvPr>
          <p:cNvSpPr txBox="1"/>
          <p:nvPr/>
        </p:nvSpPr>
        <p:spPr>
          <a:xfrm>
            <a:off x="2275840" y="412595"/>
            <a:ext cx="7659898" cy="707886"/>
          </a:xfrm>
          <a:prstGeom prst="rect">
            <a:avLst/>
          </a:prstGeom>
          <a:solidFill>
            <a:schemeClr val="accent1">
              <a:lumMod val="40000"/>
              <a:lumOff val="60000"/>
            </a:schemeClr>
          </a:solidFill>
          <a:ln w="28575">
            <a:solidFill>
              <a:schemeClr val="accent4">
                <a:lumMod val="75000"/>
              </a:schemeClr>
            </a:solidFill>
          </a:ln>
        </p:spPr>
        <p:txBody>
          <a:bodyPr wrap="square" rtlCol="0">
            <a:spAutoFit/>
          </a:bodyPr>
          <a:lstStyle/>
          <a:p>
            <a:pPr algn="ctr"/>
            <a:r>
              <a:rPr lang="en-US" sz="4000" dirty="0">
                <a:latin typeface="Times New Roman" panose="02020603050405020304" pitchFamily="18" charset="0"/>
                <a:cs typeface="Times New Roman" panose="02020603050405020304" pitchFamily="18" charset="0"/>
              </a:rPr>
              <a:t>Problem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760456"/>
            <a:ext cx="10972800" cy="4525963"/>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The rapid growth of </a:t>
            </a:r>
            <a:r>
              <a:rPr lang="en-US" sz="2000" b="1" dirty="0">
                <a:latin typeface="Times New Roman" panose="02020603050405020304" pitchFamily="18" charset="0"/>
                <a:cs typeface="Times New Roman" panose="02020603050405020304" pitchFamily="18" charset="0"/>
              </a:rPr>
              <a:t>QR-code–based scan and SMS communication</a:t>
            </a:r>
            <a:r>
              <a:rPr lang="en-US" sz="2000" dirty="0">
                <a:latin typeface="Times New Roman" panose="02020603050405020304" pitchFamily="18" charset="0"/>
                <a:cs typeface="Times New Roman" panose="02020603050405020304" pitchFamily="18" charset="0"/>
              </a:rPr>
              <a:t> has significantly increased the risk of phishing attacks targeting mobile users. Many existing security solutions depend heavily on </a:t>
            </a:r>
            <a:r>
              <a:rPr lang="en-US" sz="2000" b="1" dirty="0">
                <a:latin typeface="Times New Roman" panose="02020603050405020304" pitchFamily="18" charset="0"/>
                <a:cs typeface="Times New Roman" panose="02020603050405020304" pitchFamily="18" charset="0"/>
              </a:rPr>
              <a:t>blacklists and external APIs</a:t>
            </a:r>
            <a:r>
              <a:rPr lang="en-US" sz="2000" dirty="0">
                <a:latin typeface="Times New Roman" panose="02020603050405020304" pitchFamily="18" charset="0"/>
                <a:cs typeface="Times New Roman" panose="02020603050405020304" pitchFamily="18" charset="0"/>
              </a:rPr>
              <a:t> to identify malicious links, but these approaches are ineffective against </a:t>
            </a:r>
            <a:r>
              <a:rPr lang="en-US" sz="2000" b="1" dirty="0">
                <a:latin typeface="Times New Roman" panose="02020603050405020304" pitchFamily="18" charset="0"/>
                <a:cs typeface="Times New Roman" panose="02020603050405020304" pitchFamily="18" charset="0"/>
              </a:rPr>
              <a:t>zero-day attacks</a:t>
            </a:r>
            <a:r>
              <a:rPr lang="en-US" sz="2000" dirty="0">
                <a:latin typeface="Times New Roman" panose="02020603050405020304" pitchFamily="18" charset="0"/>
                <a:cs typeface="Times New Roman" panose="02020603050405020304" pitchFamily="18" charset="0"/>
              </a:rPr>
              <a:t>, where newly created phishing domains are not yet listed in security databases. Cyber attackers continuously generate </a:t>
            </a:r>
            <a:r>
              <a:rPr lang="en-US" sz="2000" b="1" dirty="0">
                <a:latin typeface="Times New Roman" panose="02020603050405020304" pitchFamily="18" charset="0"/>
                <a:cs typeface="Times New Roman" panose="02020603050405020304" pitchFamily="18" charset="0"/>
              </a:rPr>
              <a:t>new phishing websites and deceptive SMS messages</a:t>
            </a:r>
            <a:r>
              <a:rPr lang="en-US" sz="2000" dirty="0">
                <a:latin typeface="Times New Roman" panose="02020603050405020304" pitchFamily="18" charset="0"/>
                <a:cs typeface="Times New Roman" panose="02020603050405020304" pitchFamily="18" charset="0"/>
              </a:rPr>
              <a:t> that can easily bypass traditional rule-based or signature-based detection systems. Therefore, there is a strong need for a </a:t>
            </a:r>
            <a:r>
              <a:rPr lang="en-US" sz="2000" b="1" dirty="0">
                <a:latin typeface="Times New Roman" panose="02020603050405020304" pitchFamily="18" charset="0"/>
                <a:cs typeface="Times New Roman" panose="02020603050405020304" pitchFamily="18" charset="0"/>
              </a:rPr>
              <a:t>real-time AI/ML-based detection system</a:t>
            </a:r>
            <a:r>
              <a:rPr lang="en-US" sz="2000" dirty="0">
                <a:latin typeface="Times New Roman" panose="02020603050405020304" pitchFamily="18" charset="0"/>
                <a:cs typeface="Times New Roman" panose="02020603050405020304" pitchFamily="18" charset="0"/>
              </a:rPr>
              <a:t> capable of intelligently analyzing messages and QR codes to identify suspicious patterns. Such a system can help protect users from </a:t>
            </a:r>
            <a:r>
              <a:rPr lang="en-US" sz="2000" b="1" dirty="0">
                <a:latin typeface="Times New Roman" panose="02020603050405020304" pitchFamily="18" charset="0"/>
                <a:cs typeface="Times New Roman" panose="02020603050405020304" pitchFamily="18" charset="0"/>
              </a:rPr>
              <a:t>financial loss, identity theft, and other cyber fraud</a:t>
            </a:r>
            <a:r>
              <a:rPr lang="en-US" sz="2000" dirty="0">
                <a:latin typeface="Times New Roman" panose="02020603050405020304" pitchFamily="18" charset="0"/>
                <a:cs typeface="Times New Roman" panose="02020603050405020304" pitchFamily="18" charset="0"/>
              </a:rPr>
              <a:t>, while improving overall security in digital payment and communication platforms. </a:t>
            </a:r>
          </a:p>
        </p:txBody>
      </p:sp>
      <p:sp>
        <p:nvSpPr>
          <p:cNvPr id="4" name="Date Placeholder 3">
            <a:extLst>
              <a:ext uri="{FF2B5EF4-FFF2-40B4-BE49-F238E27FC236}">
                <a16:creationId xmlns:a16="http://schemas.microsoft.com/office/drawing/2014/main" id="{CAB7AD8C-AFF8-AB30-424F-E36B50FD7DA9}"/>
              </a:ext>
            </a:extLst>
          </p:cNvPr>
          <p:cNvSpPr>
            <a:spLocks noGrp="1"/>
          </p:cNvSpPr>
          <p:nvPr>
            <p:ph type="dt" sz="half" idx="10"/>
          </p:nvPr>
        </p:nvSpPr>
        <p:spPr/>
        <p:txBody>
          <a:bodyPr/>
          <a:lstStyle/>
          <a:p>
            <a:r>
              <a:rPr lang="en-IN">
                <a:latin typeface="Times New Roman" panose="02020603050405020304" pitchFamily="18" charset="0"/>
                <a:cs typeface="Times New Roman" panose="02020603050405020304" pitchFamily="18" charset="0"/>
              </a:rPr>
              <a:t>24/04/2026</a:t>
            </a:r>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99BDF0AD-F96A-5483-8AF7-C46B097B451D}"/>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9610035A-15EC-C8D2-FE8D-58A0184C7853}"/>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70964F1-2503-4F9E-EC83-D7F6AE416084}"/>
              </a:ext>
            </a:extLst>
          </p:cNvPr>
          <p:cNvSpPr txBox="1">
            <a:spLocks/>
          </p:cNvSpPr>
          <p:nvPr/>
        </p:nvSpPr>
        <p:spPr>
          <a:xfrm>
            <a:off x="1371601" y="305071"/>
            <a:ext cx="9590048"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sz="4000" dirty="0">
                <a:latin typeface="Times New Roman" panose="02020603050405020304" pitchFamily="18" charset="0"/>
                <a:cs typeface="Times New Roman" panose="02020603050405020304" pitchFamily="18" charset="0"/>
              </a:rPr>
              <a:t>Motivation</a:t>
            </a:r>
            <a:endParaRPr lang="en-IN" sz="40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0796CD0-92E9-F299-18C3-1ED1B59A801B}"/>
              </a:ext>
            </a:extLst>
          </p:cNvPr>
          <p:cNvSpPr>
            <a:spLocks noGrp="1"/>
          </p:cNvSpPr>
          <p:nvPr>
            <p:ph type="dt" sz="half" idx="10"/>
          </p:nvPr>
        </p:nvSpPr>
        <p:spPr>
          <a:xfrm>
            <a:off x="609600" y="6330505"/>
            <a:ext cx="2844800" cy="365125"/>
          </a:xfrm>
        </p:spPr>
        <p:txBody>
          <a:bodyPr/>
          <a:lstStyle/>
          <a:p>
            <a:r>
              <a:rPr lang="en-IN">
                <a:latin typeface="Times New Roman" panose="02020603050405020304" pitchFamily="18" charset="0"/>
                <a:cs typeface="Times New Roman" panose="02020603050405020304" pitchFamily="18" charset="0"/>
              </a:rPr>
              <a:t>24/04/2026</a:t>
            </a:r>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271222F5-0719-5489-7FBC-7FB70ECFFBB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05934D60-3CB9-7FCA-FC82-653CC23FDFD3}"/>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5</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34B7F7AB-38B6-8CA3-C191-B23656555899}"/>
              </a:ext>
            </a:extLst>
          </p:cNvPr>
          <p:cNvSpPr txBox="1">
            <a:spLocks/>
          </p:cNvSpPr>
          <p:nvPr/>
        </p:nvSpPr>
        <p:spPr>
          <a:xfrm>
            <a:off x="1905000" y="162370"/>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Literature Survey </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6FAA18F2-96E1-509F-6B4D-A049DE05F8DC}"/>
              </a:ext>
            </a:extLst>
          </p:cNvPr>
          <p:cNvGraphicFramePr>
            <a:graphicFrameLocks noGrp="1"/>
          </p:cNvGraphicFramePr>
          <p:nvPr>
            <p:extLst>
              <p:ext uri="{D42A27DB-BD31-4B8C-83A1-F6EECF244321}">
                <p14:modId xmlns:p14="http://schemas.microsoft.com/office/powerpoint/2010/main" val="356424110"/>
              </p:ext>
            </p:extLst>
          </p:nvPr>
        </p:nvGraphicFramePr>
        <p:xfrm>
          <a:off x="497840" y="1371790"/>
          <a:ext cx="11389357" cy="4998720"/>
        </p:xfrm>
        <a:graphic>
          <a:graphicData uri="http://schemas.openxmlformats.org/drawingml/2006/table">
            <a:tbl>
              <a:tblPr firstRow="1" bandRow="1">
                <a:tableStyleId>{5C22544A-7EE6-4342-B048-85BDC9FD1C3A}</a:tableStyleId>
              </a:tblPr>
              <a:tblGrid>
                <a:gridCol w="1627051">
                  <a:extLst>
                    <a:ext uri="{9D8B030D-6E8A-4147-A177-3AD203B41FA5}">
                      <a16:colId xmlns:a16="http://schemas.microsoft.com/office/drawing/2014/main" val="2593488256"/>
                    </a:ext>
                  </a:extLst>
                </a:gridCol>
                <a:gridCol w="1627051">
                  <a:extLst>
                    <a:ext uri="{9D8B030D-6E8A-4147-A177-3AD203B41FA5}">
                      <a16:colId xmlns:a16="http://schemas.microsoft.com/office/drawing/2014/main" val="2887970951"/>
                    </a:ext>
                  </a:extLst>
                </a:gridCol>
                <a:gridCol w="1627051">
                  <a:extLst>
                    <a:ext uri="{9D8B030D-6E8A-4147-A177-3AD203B41FA5}">
                      <a16:colId xmlns:a16="http://schemas.microsoft.com/office/drawing/2014/main" val="1447142165"/>
                    </a:ext>
                  </a:extLst>
                </a:gridCol>
                <a:gridCol w="1627051">
                  <a:extLst>
                    <a:ext uri="{9D8B030D-6E8A-4147-A177-3AD203B41FA5}">
                      <a16:colId xmlns:a16="http://schemas.microsoft.com/office/drawing/2014/main" val="3828443792"/>
                    </a:ext>
                  </a:extLst>
                </a:gridCol>
                <a:gridCol w="1627051">
                  <a:extLst>
                    <a:ext uri="{9D8B030D-6E8A-4147-A177-3AD203B41FA5}">
                      <a16:colId xmlns:a16="http://schemas.microsoft.com/office/drawing/2014/main" val="870818910"/>
                    </a:ext>
                  </a:extLst>
                </a:gridCol>
                <a:gridCol w="1627051">
                  <a:extLst>
                    <a:ext uri="{9D8B030D-6E8A-4147-A177-3AD203B41FA5}">
                      <a16:colId xmlns:a16="http://schemas.microsoft.com/office/drawing/2014/main" val="1470712405"/>
                    </a:ext>
                  </a:extLst>
                </a:gridCol>
                <a:gridCol w="1627051">
                  <a:extLst>
                    <a:ext uri="{9D8B030D-6E8A-4147-A177-3AD203B41FA5}">
                      <a16:colId xmlns:a16="http://schemas.microsoft.com/office/drawing/2014/main" val="3221372287"/>
                    </a:ext>
                  </a:extLst>
                </a:gridCol>
              </a:tblGrid>
              <a:tr h="701040">
                <a:tc>
                  <a:txBody>
                    <a:bodyPr/>
                    <a:lstStyle/>
                    <a:p>
                      <a:r>
                        <a:rPr lang="en-IN" dirty="0">
                          <a:latin typeface="Times New Roman" panose="02020603050405020304" pitchFamily="18" charset="0"/>
                          <a:cs typeface="Times New Roman" panose="02020603050405020304" pitchFamily="18" charset="0"/>
                        </a:rPr>
                        <a:t>Author</a:t>
                      </a:r>
                      <a:endParaRPr lang="en-US" dirty="0"/>
                    </a:p>
                  </a:txBody>
                  <a:tcPr/>
                </a:tc>
                <a:tc>
                  <a:txBody>
                    <a:bodyPr/>
                    <a:lstStyle/>
                    <a:p>
                      <a:r>
                        <a:rPr lang="en-IN" dirty="0">
                          <a:latin typeface="Times New Roman" panose="02020603050405020304" pitchFamily="18" charset="0"/>
                          <a:cs typeface="Times New Roman" panose="02020603050405020304" pitchFamily="18" charset="0"/>
                        </a:rPr>
                        <a:t>Paper Title</a:t>
                      </a:r>
                      <a:endParaRPr lang="en-US" b="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Year</a:t>
                      </a:r>
                      <a:endParaRPr lang="en-US" dirty="0"/>
                    </a:p>
                    <a:p>
                      <a:endParaRPr lang="en-US" dirty="0"/>
                    </a:p>
                  </a:txBody>
                  <a:tcPr/>
                </a:tc>
                <a:tc>
                  <a:txBody>
                    <a:bodyPr/>
                    <a:lstStyle/>
                    <a:p>
                      <a:r>
                        <a:rPr lang="en-US" dirty="0"/>
                        <a:t>Purpose of the work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Algorithms</a:t>
                      </a:r>
                      <a:endParaRPr lang="en-US" dirty="0">
                        <a:latin typeface="Times New Roman" panose="02020603050405020304" pitchFamily="18" charset="0"/>
                        <a:cs typeface="Times New Roman" panose="02020603050405020304" pitchFamily="18" charset="0"/>
                      </a:endParaRPr>
                    </a:p>
                    <a:p>
                      <a:endParaRPr lang="en-US" dirty="0"/>
                    </a:p>
                  </a:txBody>
                  <a:tcPr/>
                </a:tc>
                <a:tc>
                  <a:txBody>
                    <a:bodyPr/>
                    <a:lstStyle/>
                    <a:p>
                      <a:r>
                        <a:rPr lang="en-US" dirty="0"/>
                        <a:t>Limitation of paper</a:t>
                      </a:r>
                    </a:p>
                  </a:txBody>
                  <a:tcPr/>
                </a:tc>
                <a:tc>
                  <a:txBody>
                    <a:bodyPr/>
                    <a:lstStyle/>
                    <a:p>
                      <a:r>
                        <a:rPr lang="en-US" dirty="0"/>
                        <a:t>Results</a:t>
                      </a:r>
                    </a:p>
                  </a:txBody>
                  <a:tcPr/>
                </a:tc>
                <a:extLst>
                  <a:ext uri="{0D108BD9-81ED-4DB2-BD59-A6C34878D82A}">
                    <a16:rowId xmlns:a16="http://schemas.microsoft.com/office/drawing/2014/main" val="3567292271"/>
                  </a:ext>
                </a:extLst>
              </a:tr>
              <a:tr h="1038984">
                <a:tc>
                  <a:txBody>
                    <a:bodyPr/>
                    <a:lstStyle/>
                    <a:p>
                      <a:r>
                        <a:rPr lang="en-IN" dirty="0">
                          <a:latin typeface="Times New Roman" panose="02020603050405020304" pitchFamily="18" charset="0"/>
                          <a:cs typeface="Times New Roman" panose="02020603050405020304" pitchFamily="18" charset="0"/>
                        </a:rPr>
                        <a:t>Abdulrehman Arif et al.</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AI-Driven Edge Computing for IoT: Revolutionizing Phishing Detection and Mitigation</a:t>
                      </a:r>
                    </a:p>
                  </a:txBody>
                  <a:tcPr/>
                </a:tc>
                <a:tc>
                  <a:txBody>
                    <a:bodyPr/>
                    <a:lstStyle/>
                    <a:p>
                      <a:r>
                        <a:rPr lang="en-US"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To integrate AI with edge computing for real-time phishing detection in IoT environments</a:t>
                      </a:r>
                    </a:p>
                  </a:txBody>
                  <a:tcPr/>
                </a:tc>
                <a:tc>
                  <a:txBody>
                    <a:bodyPr/>
                    <a:lstStyle/>
                    <a:p>
                      <a:r>
                        <a:rPr lang="en-US" dirty="0">
                          <a:latin typeface="Times New Roman" panose="02020603050405020304" pitchFamily="18" charset="0"/>
                          <a:cs typeface="Times New Roman" panose="02020603050405020304" pitchFamily="18" charset="0"/>
                        </a:rPr>
                        <a:t>DNN, Federated Learning, RL, Lightweight AI</a:t>
                      </a:r>
                    </a:p>
                  </a:txBody>
                  <a:tcPr/>
                </a:tc>
                <a:tc>
                  <a:txBody>
                    <a:bodyPr/>
                    <a:lstStyle/>
                    <a:p>
                      <a:r>
                        <a:rPr lang="en-US" dirty="0">
                          <a:latin typeface="Times New Roman" panose="02020603050405020304" pitchFamily="18" charset="0"/>
                          <a:cs typeface="Times New Roman" panose="02020603050405020304" pitchFamily="18" charset="0"/>
                        </a:rPr>
                        <a:t>Scalability issues, privacy concerns, resource constraints in IoT</a:t>
                      </a:r>
                    </a:p>
                  </a:txBody>
                  <a:tcPr/>
                </a:tc>
                <a:tc>
                  <a:txBody>
                    <a:bodyPr/>
                    <a:lstStyle/>
                    <a:p>
                      <a:r>
                        <a:rPr lang="en-US" dirty="0">
                          <a:latin typeface="Times New Roman" panose="02020603050405020304" pitchFamily="18" charset="0"/>
                          <a:cs typeface="Times New Roman" panose="02020603050405020304" pitchFamily="18" charset="0"/>
                        </a:rPr>
                        <a:t>Achieved ~95% detection accuracy with low latency and real-time processing</a:t>
                      </a:r>
                    </a:p>
                  </a:txBody>
                  <a:tcPr/>
                </a:tc>
                <a:extLst>
                  <a:ext uri="{0D108BD9-81ED-4DB2-BD59-A6C34878D82A}">
                    <a16:rowId xmlns:a16="http://schemas.microsoft.com/office/drawing/2014/main" val="3838390924"/>
                  </a:ext>
                </a:extLst>
              </a:tr>
              <a:tr h="1038984">
                <a:tc>
                  <a:txBody>
                    <a:bodyPr/>
                    <a:lstStyle/>
                    <a:p>
                      <a:r>
                        <a:rPr lang="en-IN" dirty="0">
                          <a:latin typeface="Times New Roman" panose="02020603050405020304" pitchFamily="18" charset="0"/>
                          <a:cs typeface="Times New Roman" panose="02020603050405020304" pitchFamily="18" charset="0"/>
                        </a:rPr>
                        <a:t>Daniela </a:t>
                      </a:r>
                      <a:r>
                        <a:rPr lang="en-IN" dirty="0" err="1">
                          <a:latin typeface="Times New Roman" panose="02020603050405020304" pitchFamily="18" charset="0"/>
                          <a:cs typeface="Times New Roman" panose="02020603050405020304" pitchFamily="18" charset="0"/>
                        </a:rPr>
                        <a:t>Popescul</a:t>
                      </a:r>
                      <a:r>
                        <a:rPr lang="en-IN" dirty="0">
                          <a:latin typeface="Times New Roman" panose="02020603050405020304" pitchFamily="18" charset="0"/>
                          <a:cs typeface="Times New Roman" panose="02020603050405020304" pitchFamily="18" charset="0"/>
                        </a:rPr>
                        <a:t> &amp; Laura Radu</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AI in Phishing Detection: A Bibliometric Review</a:t>
                      </a:r>
                    </a:p>
                  </a:txBody>
                  <a:tcPr/>
                </a:tc>
                <a:tc>
                  <a:txBody>
                    <a:bodyPr/>
                    <a:lstStyle/>
                    <a:p>
                      <a:r>
                        <a:rPr lang="en-US"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To analyze research trends, algorithms, and evolution of AI-based phishing detection</a:t>
                      </a:r>
                    </a:p>
                  </a:txBody>
                  <a:tcPr/>
                </a:tc>
                <a:tc>
                  <a:txBody>
                    <a:bodyPr/>
                    <a:lstStyle/>
                    <a:p>
                      <a:r>
                        <a:rPr lang="en-IN" dirty="0">
                          <a:latin typeface="Times New Roman" panose="02020603050405020304" pitchFamily="18" charset="0"/>
                          <a:cs typeface="Times New Roman" panose="02020603050405020304" pitchFamily="18" charset="0"/>
                        </a:rPr>
                        <a:t>NLP, Hybrid Models</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High false positives, need for large datasets, lack of explainability</a:t>
                      </a:r>
                    </a:p>
                  </a:txBody>
                  <a:tcPr/>
                </a:tc>
                <a:tc>
                  <a:txBody>
                    <a:bodyPr/>
                    <a:lstStyle/>
                    <a:p>
                      <a:r>
                        <a:rPr lang="en-US" dirty="0">
                          <a:latin typeface="Times New Roman" panose="02020603050405020304" pitchFamily="18" charset="0"/>
                          <a:cs typeface="Times New Roman" panose="02020603050405020304" pitchFamily="18" charset="0"/>
                        </a:rPr>
                        <a:t>Identified shift from ML → DL with improved accuracy and hybrid approaches</a:t>
                      </a:r>
                    </a:p>
                  </a:txBody>
                  <a:tcPr/>
                </a:tc>
                <a:extLst>
                  <a:ext uri="{0D108BD9-81ED-4DB2-BD59-A6C34878D82A}">
                    <a16:rowId xmlns:a16="http://schemas.microsoft.com/office/drawing/2014/main" val="51680968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F9DC9-DF13-70DC-CA64-59AF22BDE351}"/>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0F600A22-7669-FD93-E08F-23BD18D7C0CD}"/>
              </a:ext>
            </a:extLst>
          </p:cNvPr>
          <p:cNvSpPr>
            <a:spLocks noGrp="1"/>
          </p:cNvSpPr>
          <p:nvPr>
            <p:ph type="dt" sz="half" idx="10"/>
          </p:nvPr>
        </p:nvSpPr>
        <p:spPr>
          <a:xfrm>
            <a:off x="609600" y="6330505"/>
            <a:ext cx="2844800" cy="365125"/>
          </a:xfrm>
        </p:spPr>
        <p:txBody>
          <a:bodyPr/>
          <a:lstStyle/>
          <a:p>
            <a:r>
              <a:rPr lang="en-IN">
                <a:latin typeface="Times New Roman" panose="02020603050405020304" pitchFamily="18" charset="0"/>
                <a:cs typeface="Times New Roman" panose="02020603050405020304" pitchFamily="18" charset="0"/>
              </a:rPr>
              <a:t>24/04/2026</a:t>
            </a:r>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3D6168A-7EF2-E529-49E8-F3A6DF508D3E}"/>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88E1F0C7-41D7-1623-C61E-50384D25C2D2}"/>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6</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87ECC6CC-7B87-1229-C33F-B6232DA082CA}"/>
              </a:ext>
            </a:extLst>
          </p:cNvPr>
          <p:cNvSpPr txBox="1">
            <a:spLocks/>
          </p:cNvSpPr>
          <p:nvPr/>
        </p:nvSpPr>
        <p:spPr>
          <a:xfrm>
            <a:off x="1904999" y="162370"/>
            <a:ext cx="8461513" cy="672517"/>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fontScale="925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Literature Survey (Tabular column)</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1BC621F0-34D4-1CDA-AC80-360E7FF4133E}"/>
              </a:ext>
            </a:extLst>
          </p:cNvPr>
          <p:cNvGraphicFramePr>
            <a:graphicFrameLocks noGrp="1"/>
          </p:cNvGraphicFramePr>
          <p:nvPr>
            <p:extLst>
              <p:ext uri="{D42A27DB-BD31-4B8C-83A1-F6EECF244321}">
                <p14:modId xmlns:p14="http://schemas.microsoft.com/office/powerpoint/2010/main" val="2982529433"/>
              </p:ext>
            </p:extLst>
          </p:nvPr>
        </p:nvGraphicFramePr>
        <p:xfrm>
          <a:off x="0" y="-70709"/>
          <a:ext cx="12192000" cy="6370320"/>
        </p:xfrm>
        <a:graphic>
          <a:graphicData uri="http://schemas.openxmlformats.org/drawingml/2006/table">
            <a:tbl>
              <a:tblPr firstRow="1" bandRow="1">
                <a:tableStyleId>{5C22544A-7EE6-4342-B048-85BDC9FD1C3A}</a:tableStyleId>
              </a:tblPr>
              <a:tblGrid>
                <a:gridCol w="1818832">
                  <a:extLst>
                    <a:ext uri="{9D8B030D-6E8A-4147-A177-3AD203B41FA5}">
                      <a16:colId xmlns:a16="http://schemas.microsoft.com/office/drawing/2014/main" val="2593488256"/>
                    </a:ext>
                  </a:extLst>
                </a:gridCol>
                <a:gridCol w="1671566">
                  <a:extLst>
                    <a:ext uri="{9D8B030D-6E8A-4147-A177-3AD203B41FA5}">
                      <a16:colId xmlns:a16="http://schemas.microsoft.com/office/drawing/2014/main" val="2887970951"/>
                    </a:ext>
                  </a:extLst>
                </a:gridCol>
                <a:gridCol w="924182">
                  <a:extLst>
                    <a:ext uri="{9D8B030D-6E8A-4147-A177-3AD203B41FA5}">
                      <a16:colId xmlns:a16="http://schemas.microsoft.com/office/drawing/2014/main" val="1447142165"/>
                    </a:ext>
                  </a:extLst>
                </a:gridCol>
                <a:gridCol w="2418949">
                  <a:extLst>
                    <a:ext uri="{9D8B030D-6E8A-4147-A177-3AD203B41FA5}">
                      <a16:colId xmlns:a16="http://schemas.microsoft.com/office/drawing/2014/main" val="3828443792"/>
                    </a:ext>
                  </a:extLst>
                </a:gridCol>
                <a:gridCol w="1468060">
                  <a:extLst>
                    <a:ext uri="{9D8B030D-6E8A-4147-A177-3AD203B41FA5}">
                      <a16:colId xmlns:a16="http://schemas.microsoft.com/office/drawing/2014/main" val="870818910"/>
                    </a:ext>
                  </a:extLst>
                </a:gridCol>
                <a:gridCol w="1875071">
                  <a:extLst>
                    <a:ext uri="{9D8B030D-6E8A-4147-A177-3AD203B41FA5}">
                      <a16:colId xmlns:a16="http://schemas.microsoft.com/office/drawing/2014/main" val="1470712405"/>
                    </a:ext>
                  </a:extLst>
                </a:gridCol>
                <a:gridCol w="2015340">
                  <a:extLst>
                    <a:ext uri="{9D8B030D-6E8A-4147-A177-3AD203B41FA5}">
                      <a16:colId xmlns:a16="http://schemas.microsoft.com/office/drawing/2014/main" val="3221372287"/>
                    </a:ext>
                  </a:extLst>
                </a:gridCol>
              </a:tblGrid>
              <a:tr h="701040">
                <a:tc>
                  <a:txBody>
                    <a:bodyPr/>
                    <a:lstStyle/>
                    <a:p>
                      <a:r>
                        <a:rPr lang="en-IN" dirty="0">
                          <a:latin typeface="Times New Roman" panose="02020603050405020304" pitchFamily="18" charset="0"/>
                          <a:cs typeface="Times New Roman" panose="02020603050405020304" pitchFamily="18" charset="0"/>
                        </a:rPr>
                        <a:t>Author</a:t>
                      </a:r>
                      <a:endParaRPr lang="en-US" dirty="0"/>
                    </a:p>
                  </a:txBody>
                  <a:tcPr/>
                </a:tc>
                <a:tc>
                  <a:txBody>
                    <a:bodyPr/>
                    <a:lstStyle/>
                    <a:p>
                      <a:r>
                        <a:rPr lang="en-IN" dirty="0">
                          <a:latin typeface="Times New Roman" panose="02020603050405020304" pitchFamily="18" charset="0"/>
                          <a:cs typeface="Times New Roman" panose="02020603050405020304" pitchFamily="18" charset="0"/>
                        </a:rPr>
                        <a:t>Paper Title</a:t>
                      </a:r>
                      <a:endParaRPr lang="en-US" b="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Year</a:t>
                      </a:r>
                      <a:endParaRPr lang="en-US" dirty="0"/>
                    </a:p>
                    <a:p>
                      <a:endParaRPr lang="en-US" dirty="0"/>
                    </a:p>
                  </a:txBody>
                  <a:tcPr/>
                </a:tc>
                <a:tc>
                  <a:txBody>
                    <a:bodyPr/>
                    <a:lstStyle/>
                    <a:p>
                      <a:r>
                        <a:rPr lang="en-US" dirty="0"/>
                        <a:t>Purpose of the work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Algorithms</a:t>
                      </a:r>
                      <a:endParaRPr lang="en-US" dirty="0">
                        <a:latin typeface="Times New Roman" panose="02020603050405020304" pitchFamily="18" charset="0"/>
                        <a:cs typeface="Times New Roman" panose="02020603050405020304" pitchFamily="18" charset="0"/>
                      </a:endParaRPr>
                    </a:p>
                    <a:p>
                      <a:endParaRPr lang="en-US" dirty="0"/>
                    </a:p>
                  </a:txBody>
                  <a:tcPr/>
                </a:tc>
                <a:tc>
                  <a:txBody>
                    <a:bodyPr/>
                    <a:lstStyle/>
                    <a:p>
                      <a:r>
                        <a:rPr lang="en-US" dirty="0"/>
                        <a:t>Limitation of paper</a:t>
                      </a:r>
                    </a:p>
                  </a:txBody>
                  <a:tcPr/>
                </a:tc>
                <a:tc>
                  <a:txBody>
                    <a:bodyPr/>
                    <a:lstStyle/>
                    <a:p>
                      <a:r>
                        <a:rPr lang="en-US" dirty="0"/>
                        <a:t>Results</a:t>
                      </a:r>
                    </a:p>
                  </a:txBody>
                  <a:tcPr/>
                </a:tc>
                <a:extLst>
                  <a:ext uri="{0D108BD9-81ED-4DB2-BD59-A6C34878D82A}">
                    <a16:rowId xmlns:a16="http://schemas.microsoft.com/office/drawing/2014/main" val="3567292271"/>
                  </a:ext>
                </a:extLst>
              </a:tr>
              <a:tr h="1038984">
                <a:tc>
                  <a:txBody>
                    <a:bodyPr/>
                    <a:lstStyle/>
                    <a:p>
                      <a:r>
                        <a:rPr lang="da-DK" dirty="0">
                          <a:latin typeface="Times New Roman" panose="02020603050405020304" pitchFamily="18" charset="0"/>
                          <a:cs typeface="Times New Roman" panose="02020603050405020304" pitchFamily="18" charset="0"/>
                        </a:rPr>
                        <a:t>Neha Yogesh Nagdeve et al.</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AI/ML-Based Phishing Detection and Prevention System</a:t>
                      </a:r>
                    </a:p>
                  </a:txBody>
                  <a:tcPr/>
                </a:tc>
                <a:tc>
                  <a:txBody>
                    <a:bodyPr/>
                    <a:lstStyle/>
                    <a:p>
                      <a:r>
                        <a:rPr lang="en-US"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To develop an intelligent phishing detection system using AI/ML that can analyze emails, URLs, and websites to identify phishing attacks and prevent data theft.</a:t>
                      </a:r>
                    </a:p>
                  </a:txBody>
                  <a:tcPr/>
                </a:tc>
                <a:tc>
                  <a:txBody>
                    <a:bodyPr/>
                    <a:lstStyle/>
                    <a:p>
                      <a:r>
                        <a:rPr lang="en-US" dirty="0">
                          <a:latin typeface="Times New Roman" panose="02020603050405020304" pitchFamily="18" charset="0"/>
                          <a:cs typeface="Times New Roman" panose="02020603050405020304" pitchFamily="18" charset="0"/>
                        </a:rPr>
                        <a:t>Random Forest, </a:t>
                      </a:r>
                      <a:r>
                        <a:rPr lang="en-US" dirty="0" err="1">
                          <a:latin typeface="Times New Roman" panose="02020603050405020304" pitchFamily="18" charset="0"/>
                          <a:cs typeface="Times New Roman" panose="02020603050405020304" pitchFamily="18" charset="0"/>
                        </a:rPr>
                        <a:t>Decission</a:t>
                      </a:r>
                      <a:r>
                        <a:rPr lang="en-US" dirty="0">
                          <a:latin typeface="Times New Roman" panose="02020603050405020304" pitchFamily="18" charset="0"/>
                          <a:cs typeface="Times New Roman" panose="02020603050405020304" pitchFamily="18" charset="0"/>
                        </a:rPr>
                        <a:t> Tree</a:t>
                      </a:r>
                    </a:p>
                  </a:txBody>
                  <a:tcPr/>
                </a:tc>
                <a:tc>
                  <a:txBody>
                    <a:bodyPr/>
                    <a:lstStyle/>
                    <a:p>
                      <a:r>
                        <a:rPr lang="en-US" dirty="0">
                          <a:latin typeface="Times New Roman" panose="02020603050405020304" pitchFamily="18" charset="0"/>
                          <a:cs typeface="Times New Roman" panose="02020603050405020304" pitchFamily="18" charset="0"/>
                        </a:rPr>
                        <a:t>Requires large datasets, high computational resources, and may face challenges in adapting to completely new phishing patterns (zero-day attacks)</a:t>
                      </a:r>
                    </a:p>
                  </a:txBody>
                  <a:tcPr/>
                </a:tc>
                <a:tc>
                  <a:txBody>
                    <a:bodyPr/>
                    <a:lstStyle/>
                    <a:p>
                      <a:r>
                        <a:rPr lang="en-US" dirty="0">
                          <a:latin typeface="Times New Roman" panose="02020603050405020304" pitchFamily="18" charset="0"/>
                          <a:cs typeface="Times New Roman" panose="02020603050405020304" pitchFamily="18" charset="0"/>
                        </a:rPr>
                        <a:t>Improved real-time detection accuracy and adaptability using AI techniques; better performance than traditional rule-based systems.</a:t>
                      </a:r>
                    </a:p>
                  </a:txBody>
                  <a:tcPr/>
                </a:tc>
                <a:extLst>
                  <a:ext uri="{0D108BD9-81ED-4DB2-BD59-A6C34878D82A}">
                    <a16:rowId xmlns:a16="http://schemas.microsoft.com/office/drawing/2014/main" val="3838390924"/>
                  </a:ext>
                </a:extLst>
              </a:tr>
              <a:tr h="1038984">
                <a:tc>
                  <a:txBody>
                    <a:bodyPr/>
                    <a:lstStyle/>
                    <a:p>
                      <a:r>
                        <a:rPr lang="en-US" dirty="0">
                          <a:latin typeface="Times New Roman" panose="02020603050405020304" pitchFamily="18" charset="0"/>
                          <a:cs typeface="Times New Roman" panose="02020603050405020304" pitchFamily="18" charset="0"/>
                        </a:rPr>
                        <a:t>Asadullah Safi &amp; Satwinder Singh</a:t>
                      </a:r>
                    </a:p>
                  </a:txBody>
                  <a:tcPr/>
                </a:tc>
                <a:tc>
                  <a:txBody>
                    <a:bodyPr/>
                    <a:lstStyle/>
                    <a:p>
                      <a:r>
                        <a:rPr lang="en-US" dirty="0">
                          <a:latin typeface="Times New Roman" panose="02020603050405020304" pitchFamily="18" charset="0"/>
                          <a:cs typeface="Times New Roman" panose="02020603050405020304" pitchFamily="18" charset="0"/>
                        </a:rPr>
                        <a:t> A Systematic Literature Review on Phishing Website Detection Techniques.</a:t>
                      </a:r>
                    </a:p>
                  </a:txBody>
                  <a:tcPr/>
                </a:tc>
                <a:tc>
                  <a:txBody>
                    <a:bodyPr/>
                    <a:lstStyle/>
                    <a:p>
                      <a:r>
                        <a:rPr lang="en-US" dirty="0">
                          <a:latin typeface="Times New Roman" panose="02020603050405020304" pitchFamily="18" charset="0"/>
                          <a:cs typeface="Times New Roman" panose="02020603050405020304" pitchFamily="18" charset="0"/>
                        </a:rPr>
                        <a:t>2024</a:t>
                      </a:r>
                    </a:p>
                  </a:txBody>
                  <a:tcPr/>
                </a:tc>
                <a:tc>
                  <a:txBody>
                    <a:bodyPr/>
                    <a:lstStyle/>
                    <a:p>
                      <a:r>
                        <a:rPr lang="en-US" dirty="0">
                          <a:latin typeface="Times New Roman" panose="02020603050405020304" pitchFamily="18" charset="0"/>
                          <a:cs typeface="Times New Roman" panose="02020603050405020304" pitchFamily="18" charset="0"/>
                        </a:rPr>
                        <a:t>To analyze and compare different phishing detection techniques (ML, DL, heuristic, list-based) and identify the most effective approaches and datasets.</a:t>
                      </a:r>
                    </a:p>
                  </a:txBody>
                  <a:tcPr/>
                </a:tc>
                <a:tc>
                  <a:txBody>
                    <a:bodyPr/>
                    <a:lstStyle/>
                    <a:p>
                      <a:r>
                        <a:rPr lang="en-US" dirty="0">
                          <a:latin typeface="Times New Roman" panose="02020603050405020304" pitchFamily="18" charset="0"/>
                          <a:cs typeface="Times New Roman" panose="02020603050405020304" pitchFamily="18" charset="0"/>
                        </a:rPr>
                        <a:t>Random Forest, SVM, CNN</a:t>
                      </a:r>
                    </a:p>
                  </a:txBody>
                  <a:tcPr/>
                </a:tc>
                <a:tc>
                  <a:txBody>
                    <a:bodyPr/>
                    <a:lstStyle/>
                    <a:p>
                      <a:r>
                        <a:rPr lang="en-US" dirty="0">
                          <a:latin typeface="Times New Roman" panose="02020603050405020304" pitchFamily="18" charset="0"/>
                          <a:cs typeface="Times New Roman" panose="02020603050405020304" pitchFamily="18" charset="0"/>
                        </a:rPr>
                        <a:t>Mostly focused on website phishing; lacks real-time implementation aspects and limited discussion on mobile-based phishing (SMS/QR).</a:t>
                      </a:r>
                    </a:p>
                  </a:txBody>
                  <a:tcPr/>
                </a:tc>
                <a:tc>
                  <a:txBody>
                    <a:bodyPr/>
                    <a:lstStyle/>
                    <a:p>
                      <a:r>
                        <a:rPr lang="en-US" dirty="0">
                          <a:latin typeface="Times New Roman" panose="02020603050405020304" pitchFamily="18" charset="0"/>
                          <a:cs typeface="Times New Roman" panose="02020603050405020304" pitchFamily="18" charset="0"/>
                        </a:rPr>
                        <a:t>Machine Learning and Deep Learning models (especially CNN) achieved highest accuracy (~99%); ML is the most widely used approach.</a:t>
                      </a:r>
                    </a:p>
                  </a:txBody>
                  <a:tcPr/>
                </a:tc>
                <a:extLst>
                  <a:ext uri="{0D108BD9-81ED-4DB2-BD59-A6C34878D82A}">
                    <a16:rowId xmlns:a16="http://schemas.microsoft.com/office/drawing/2014/main" val="516809689"/>
                  </a:ext>
                </a:extLst>
              </a:tr>
            </a:tbl>
          </a:graphicData>
        </a:graphic>
      </p:graphicFrame>
    </p:spTree>
    <p:extLst>
      <p:ext uri="{BB962C8B-B14F-4D97-AF65-F5344CB8AC3E}">
        <p14:creationId xmlns:p14="http://schemas.microsoft.com/office/powerpoint/2010/main" val="815169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C22454-2946-EB3D-95F6-5747A34AE640}"/>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6E26891E-166B-7D77-8F1F-C907DA1D8B1D}"/>
              </a:ext>
            </a:extLst>
          </p:cNvPr>
          <p:cNvSpPr>
            <a:spLocks noGrp="1"/>
          </p:cNvSpPr>
          <p:nvPr>
            <p:ph type="dt" sz="half" idx="10"/>
          </p:nvPr>
        </p:nvSpPr>
        <p:spPr>
          <a:xfrm>
            <a:off x="609600" y="6330505"/>
            <a:ext cx="2844800" cy="365125"/>
          </a:xfrm>
        </p:spPr>
        <p:txBody>
          <a:bodyPr/>
          <a:lstStyle/>
          <a:p>
            <a:r>
              <a:rPr lang="en-IN">
                <a:latin typeface="Times New Roman" panose="02020603050405020304" pitchFamily="18" charset="0"/>
                <a:cs typeface="Times New Roman" panose="02020603050405020304" pitchFamily="18" charset="0"/>
              </a:rPr>
              <a:t>24/04/2026</a:t>
            </a:r>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13BCF7FE-19C7-3648-0A4D-6B726B292D37}"/>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C7F12AC1-A89D-E0CD-AFDC-9AE6084B186D}"/>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7</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EE16D4F8-4F4A-51C7-4564-25AB87A46A91}"/>
              </a:ext>
            </a:extLst>
          </p:cNvPr>
          <p:cNvSpPr txBox="1">
            <a:spLocks/>
          </p:cNvSpPr>
          <p:nvPr/>
        </p:nvSpPr>
        <p:spPr>
          <a:xfrm>
            <a:off x="1905000" y="162370"/>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Literature Survey (Tabular column)</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094B3ECF-D9E0-DB05-7244-E68026FF0886}"/>
              </a:ext>
            </a:extLst>
          </p:cNvPr>
          <p:cNvGraphicFramePr>
            <a:graphicFrameLocks noGrp="1"/>
          </p:cNvGraphicFramePr>
          <p:nvPr>
            <p:extLst>
              <p:ext uri="{D42A27DB-BD31-4B8C-83A1-F6EECF244321}">
                <p14:modId xmlns:p14="http://schemas.microsoft.com/office/powerpoint/2010/main" val="697669334"/>
              </p:ext>
            </p:extLst>
          </p:nvPr>
        </p:nvGraphicFramePr>
        <p:xfrm>
          <a:off x="-2" y="0"/>
          <a:ext cx="12192001" cy="6052931"/>
        </p:xfrm>
        <a:graphic>
          <a:graphicData uri="http://schemas.openxmlformats.org/drawingml/2006/table">
            <a:tbl>
              <a:tblPr firstRow="1" bandRow="1">
                <a:tableStyleId>{5C22544A-7EE6-4342-B048-85BDC9FD1C3A}</a:tableStyleId>
              </a:tblPr>
              <a:tblGrid>
                <a:gridCol w="1873190">
                  <a:extLst>
                    <a:ext uri="{9D8B030D-6E8A-4147-A177-3AD203B41FA5}">
                      <a16:colId xmlns:a16="http://schemas.microsoft.com/office/drawing/2014/main" val="2593488256"/>
                    </a:ext>
                  </a:extLst>
                </a:gridCol>
                <a:gridCol w="1873190">
                  <a:extLst>
                    <a:ext uri="{9D8B030D-6E8A-4147-A177-3AD203B41FA5}">
                      <a16:colId xmlns:a16="http://schemas.microsoft.com/office/drawing/2014/main" val="2887970951"/>
                    </a:ext>
                  </a:extLst>
                </a:gridCol>
                <a:gridCol w="944116">
                  <a:extLst>
                    <a:ext uri="{9D8B030D-6E8A-4147-A177-3AD203B41FA5}">
                      <a16:colId xmlns:a16="http://schemas.microsoft.com/office/drawing/2014/main" val="1447142165"/>
                    </a:ext>
                  </a:extLst>
                </a:gridCol>
                <a:gridCol w="2802264">
                  <a:extLst>
                    <a:ext uri="{9D8B030D-6E8A-4147-A177-3AD203B41FA5}">
                      <a16:colId xmlns:a16="http://schemas.microsoft.com/office/drawing/2014/main" val="3828443792"/>
                    </a:ext>
                  </a:extLst>
                </a:gridCol>
                <a:gridCol w="2211692">
                  <a:extLst>
                    <a:ext uri="{9D8B030D-6E8A-4147-A177-3AD203B41FA5}">
                      <a16:colId xmlns:a16="http://schemas.microsoft.com/office/drawing/2014/main" val="1470712405"/>
                    </a:ext>
                  </a:extLst>
                </a:gridCol>
                <a:gridCol w="2487549">
                  <a:extLst>
                    <a:ext uri="{9D8B030D-6E8A-4147-A177-3AD203B41FA5}">
                      <a16:colId xmlns:a16="http://schemas.microsoft.com/office/drawing/2014/main" val="3221372287"/>
                    </a:ext>
                  </a:extLst>
                </a:gridCol>
              </a:tblGrid>
              <a:tr h="728887">
                <a:tc>
                  <a:txBody>
                    <a:bodyPr/>
                    <a:lstStyle/>
                    <a:p>
                      <a:r>
                        <a:rPr lang="en-IN" dirty="0">
                          <a:latin typeface="Times New Roman" panose="02020603050405020304" pitchFamily="18" charset="0"/>
                          <a:cs typeface="Times New Roman" panose="02020603050405020304" pitchFamily="18" charset="0"/>
                        </a:rPr>
                        <a:t>Author</a:t>
                      </a:r>
                      <a:endParaRPr lang="en-US" dirty="0"/>
                    </a:p>
                  </a:txBody>
                  <a:tcPr/>
                </a:tc>
                <a:tc>
                  <a:txBody>
                    <a:bodyPr/>
                    <a:lstStyle/>
                    <a:p>
                      <a:r>
                        <a:rPr lang="en-IN" dirty="0">
                          <a:latin typeface="Times New Roman" panose="02020603050405020304" pitchFamily="18" charset="0"/>
                          <a:cs typeface="Times New Roman" panose="02020603050405020304" pitchFamily="18" charset="0"/>
                        </a:rPr>
                        <a:t>Paper Title</a:t>
                      </a:r>
                      <a:endParaRPr lang="en-US" b="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Year</a:t>
                      </a:r>
                      <a:endParaRPr lang="en-US" dirty="0"/>
                    </a:p>
                    <a:p>
                      <a:endParaRPr lang="en-US" dirty="0"/>
                    </a:p>
                  </a:txBody>
                  <a:tcPr/>
                </a:tc>
                <a:tc>
                  <a:txBody>
                    <a:bodyPr/>
                    <a:lstStyle/>
                    <a:p>
                      <a:r>
                        <a:rPr lang="en-US" dirty="0"/>
                        <a:t>Purpose of the work</a:t>
                      </a:r>
                    </a:p>
                  </a:txBody>
                  <a:tcPr/>
                </a:tc>
                <a:tc>
                  <a:txBody>
                    <a:bodyPr/>
                    <a:lstStyle/>
                    <a:p>
                      <a:r>
                        <a:rPr lang="en-US" dirty="0"/>
                        <a:t>Limitation of paper</a:t>
                      </a:r>
                    </a:p>
                  </a:txBody>
                  <a:tcPr/>
                </a:tc>
                <a:tc>
                  <a:txBody>
                    <a:bodyPr/>
                    <a:lstStyle/>
                    <a:p>
                      <a:r>
                        <a:rPr lang="en-US" dirty="0"/>
                        <a:t>Results</a:t>
                      </a:r>
                    </a:p>
                  </a:txBody>
                  <a:tcPr/>
                </a:tc>
                <a:extLst>
                  <a:ext uri="{0D108BD9-81ED-4DB2-BD59-A6C34878D82A}">
                    <a16:rowId xmlns:a16="http://schemas.microsoft.com/office/drawing/2014/main" val="3567292271"/>
                  </a:ext>
                </a:extLst>
              </a:tr>
              <a:tr h="2662022">
                <a:tc>
                  <a:txBody>
                    <a:bodyPr/>
                    <a:lstStyle/>
                    <a:p>
                      <a:r>
                        <a:rPr lang="en-US" dirty="0">
                          <a:latin typeface="Times New Roman" panose="02020603050405020304" pitchFamily="18" charset="0"/>
                          <a:cs typeface="Times New Roman" panose="02020603050405020304" pitchFamily="18" charset="0"/>
                        </a:rPr>
                        <a:t>Bello </a:t>
                      </a:r>
                      <a:r>
                        <a:rPr lang="en-US" dirty="0" err="1">
                          <a:latin typeface="Times New Roman" panose="02020603050405020304" pitchFamily="18" charset="0"/>
                          <a:cs typeface="Times New Roman" panose="02020603050405020304" pitchFamily="18" charset="0"/>
                        </a:rPr>
                        <a:t>Bello</a:t>
                      </a:r>
                      <a:r>
                        <a:rPr lang="en-US" dirty="0">
                          <a:latin typeface="Times New Roman" panose="02020603050405020304" pitchFamily="18" charset="0"/>
                          <a:cs typeface="Times New Roman" panose="02020603050405020304" pitchFamily="18" charset="0"/>
                        </a:rPr>
                        <a:t> Musa, Adamu Ahmad Bahago, Nasir Auwal Muhammad, Dr. Fakhrun Jamal</a:t>
                      </a:r>
                    </a:p>
                  </a:txBody>
                  <a:tcPr/>
                </a:tc>
                <a:tc>
                  <a:txBody>
                    <a:bodyPr/>
                    <a:lstStyle/>
                    <a:p>
                      <a:r>
                        <a:rPr lang="en-US" dirty="0">
                          <a:latin typeface="Times New Roman" panose="02020603050405020304" pitchFamily="18" charset="0"/>
                          <a:cs typeface="Times New Roman" panose="02020603050405020304" pitchFamily="18" charset="0"/>
                        </a:rPr>
                        <a:t>Emerging Trends in Phishing: A Look at Smishing, Vishing, </a:t>
                      </a:r>
                      <a:r>
                        <a:rPr lang="en-US" dirty="0" err="1">
                          <a:latin typeface="Times New Roman" panose="02020603050405020304" pitchFamily="18" charset="0"/>
                          <a:cs typeface="Times New Roman" panose="02020603050405020304" pitchFamily="18" charset="0"/>
                        </a:rPr>
                        <a:t>Quishing</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To study how phishing has changed from normal email phishing into newer forms like smishing, vishing, and </a:t>
                      </a:r>
                      <a:r>
                        <a:rPr lang="en-US" dirty="0" err="1">
                          <a:latin typeface="Times New Roman" panose="02020603050405020304" pitchFamily="18" charset="0"/>
                          <a:cs typeface="Times New Roman" panose="02020603050405020304" pitchFamily="18" charset="0"/>
                        </a:rPr>
                        <a:t>quishing</a:t>
                      </a:r>
                      <a:r>
                        <a:rPr lang="en-US" dirty="0">
                          <a:latin typeface="Times New Roman" panose="02020603050405020304" pitchFamily="18" charset="0"/>
                          <a:cs typeface="Times New Roman" panose="02020603050405020304" pitchFamily="18" charset="0"/>
                        </a:rPr>
                        <a:t>, and to explain how these attacks work and how they can be prevented.</a:t>
                      </a:r>
                    </a:p>
                  </a:txBody>
                  <a:tcPr/>
                </a:tc>
                <a:tc>
                  <a:txBody>
                    <a:bodyPr/>
                    <a:lstStyle/>
                    <a:p>
                      <a:r>
                        <a:rPr lang="en-US" dirty="0">
                          <a:latin typeface="Times New Roman" panose="02020603050405020304" pitchFamily="18" charset="0"/>
                          <a:cs typeface="Times New Roman" panose="02020603050405020304" pitchFamily="18" charset="0"/>
                        </a:rPr>
                        <a:t>It is mainly a review paper, so it does not present a new experimental model, dataset, or benchmark test. It also does not give a fully tested practical detection system.</a:t>
                      </a:r>
                    </a:p>
                  </a:txBody>
                  <a:tcPr/>
                </a:tc>
                <a:tc>
                  <a:txBody>
                    <a:bodyPr/>
                    <a:lstStyle/>
                    <a:p>
                      <a:r>
                        <a:rPr lang="en-US" dirty="0">
                          <a:latin typeface="Times New Roman" panose="02020603050405020304" pitchFamily="18" charset="0"/>
                          <a:cs typeface="Times New Roman" panose="02020603050405020304" pitchFamily="18" charset="0"/>
                        </a:rPr>
                        <a:t> Identified shift from Email Phishing → Smishing, Vishing, </a:t>
                      </a:r>
                      <a:r>
                        <a:rPr lang="en-US" dirty="0" err="1">
                          <a:latin typeface="Times New Roman" panose="02020603050405020304" pitchFamily="18" charset="0"/>
                          <a:cs typeface="Times New Roman" panose="02020603050405020304" pitchFamily="18" charset="0"/>
                        </a:rPr>
                        <a:t>Quishing</a:t>
                      </a:r>
                      <a:r>
                        <a:rPr lang="en-US" dirty="0">
                          <a:latin typeface="Times New Roman" panose="02020603050405020304" pitchFamily="18" charset="0"/>
                          <a:cs typeface="Times New Roman" panose="02020603050405020304" pitchFamily="18" charset="0"/>
                        </a:rPr>
                        <a:t> with increased attack complexity and need for AI-based detection and user awareness strategies.</a:t>
                      </a:r>
                    </a:p>
                  </a:txBody>
                  <a:tcPr/>
                </a:tc>
                <a:extLst>
                  <a:ext uri="{0D108BD9-81ED-4DB2-BD59-A6C34878D82A}">
                    <a16:rowId xmlns:a16="http://schemas.microsoft.com/office/drawing/2014/main" val="3838390924"/>
                  </a:ext>
                </a:extLst>
              </a:tr>
              <a:tr h="2662022">
                <a:tc>
                  <a:txBody>
                    <a:bodyPr/>
                    <a:lstStyle/>
                    <a:p>
                      <a:r>
                        <a:rPr lang="it-IT" dirty="0">
                          <a:latin typeface="Times New Roman" panose="02020603050405020304" pitchFamily="18" charset="0"/>
                          <a:cs typeface="Times New Roman" panose="02020603050405020304" pitchFamily="18" charset="0"/>
                        </a:rPr>
                        <a:t>Marie Weinz, Nicola Zannone, Luca Allodi, Giovanni Apruzzese</a:t>
                      </a:r>
                      <a:endParaRPr lang="en-US"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The Impact of Emerging Phishing Threats: Assessing </a:t>
                      </a:r>
                      <a:r>
                        <a:rPr lang="en-US" dirty="0" err="1">
                          <a:latin typeface="Times New Roman" panose="02020603050405020304" pitchFamily="18" charset="0"/>
                          <a:cs typeface="Times New Roman" panose="02020603050405020304" pitchFamily="18" charset="0"/>
                        </a:rPr>
                        <a:t>Quishing</a:t>
                      </a:r>
                      <a:r>
                        <a:rPr lang="en-US" dirty="0">
                          <a:latin typeface="Times New Roman" panose="02020603050405020304" pitchFamily="18" charset="0"/>
                          <a:cs typeface="Times New Roman" panose="02020603050405020304" pitchFamily="18" charset="0"/>
                        </a:rPr>
                        <a:t> and LLM-generated Phishing Emails against Organizations</a:t>
                      </a:r>
                    </a:p>
                  </a:txBody>
                  <a:tcPr/>
                </a:tc>
                <a:tc>
                  <a:txBody>
                    <a:bodyPr/>
                    <a:lstStyle/>
                    <a:p>
                      <a:r>
                        <a:rPr lang="en-US" dirty="0">
                          <a:latin typeface="Times New Roman" panose="02020603050405020304" pitchFamily="18" charset="0"/>
                          <a:cs typeface="Times New Roman" panose="02020603050405020304" pitchFamily="18" charset="0"/>
                        </a:rPr>
                        <a:t>2025</a:t>
                      </a:r>
                    </a:p>
                  </a:txBody>
                  <a:tcPr/>
                </a:tc>
                <a:tc>
                  <a:txBody>
                    <a:bodyPr/>
                    <a:lstStyle/>
                    <a:p>
                      <a:r>
                        <a:rPr lang="en-US" dirty="0">
                          <a:latin typeface="Times New Roman" panose="02020603050405020304" pitchFamily="18" charset="0"/>
                          <a:cs typeface="Times New Roman" panose="02020603050405020304" pitchFamily="18" charset="0"/>
                        </a:rPr>
                        <a:t> To study how </a:t>
                      </a:r>
                      <a:r>
                        <a:rPr lang="en-US" dirty="0" err="1">
                          <a:latin typeface="Times New Roman" panose="02020603050405020304" pitchFamily="18" charset="0"/>
                          <a:cs typeface="Times New Roman" panose="02020603050405020304" pitchFamily="18" charset="0"/>
                        </a:rPr>
                        <a:t>quishing</a:t>
                      </a:r>
                      <a:r>
                        <a:rPr lang="en-US" dirty="0">
                          <a:latin typeface="Times New Roman" panose="02020603050405020304" pitchFamily="18" charset="0"/>
                          <a:cs typeface="Times New Roman" panose="02020603050405020304" pitchFamily="18" charset="0"/>
                        </a:rPr>
                        <a:t> and LLM-generated phishing emails affect organizations, and to check how effective current defenses are against these new phishing threats.</a:t>
                      </a:r>
                    </a:p>
                  </a:txBody>
                  <a:tcPr/>
                </a:tc>
                <a:tc>
                  <a:txBody>
                    <a:bodyPr/>
                    <a:lstStyle/>
                    <a:p>
                      <a:r>
                        <a:rPr lang="en-US" dirty="0">
                          <a:latin typeface="Times New Roman" panose="02020603050405020304" pitchFamily="18" charset="0"/>
                          <a:cs typeface="Times New Roman" panose="02020603050405020304" pitchFamily="18" charset="0"/>
                        </a:rPr>
                        <a:t>It is mainly an evaluation/simulation study, so it does not propose a new standalone detection algorithm or security tool.</a:t>
                      </a:r>
                    </a:p>
                  </a:txBody>
                  <a:tcPr/>
                </a:tc>
                <a:tc>
                  <a:txBody>
                    <a:bodyPr/>
                    <a:lstStyle/>
                    <a:p>
                      <a:r>
                        <a:rPr lang="en-US" dirty="0" err="1">
                          <a:latin typeface="Times New Roman" panose="02020603050405020304" pitchFamily="18" charset="0"/>
                          <a:cs typeface="Times New Roman" panose="02020603050405020304" pitchFamily="18" charset="0"/>
                        </a:rPr>
                        <a:t>Quishing</a:t>
                      </a:r>
                      <a:r>
                        <a:rPr lang="en-US" dirty="0">
                          <a:latin typeface="Times New Roman" panose="02020603050405020304" pitchFamily="18" charset="0"/>
                          <a:cs typeface="Times New Roman" panose="02020603050405020304" pitchFamily="18" charset="0"/>
                        </a:rPr>
                        <a:t> was found to be as effective as traditional phishing in getting users to the landing page, and LLM-generated emails were also very effective. </a:t>
                      </a:r>
                    </a:p>
                  </a:txBody>
                  <a:tcPr/>
                </a:tc>
                <a:extLst>
                  <a:ext uri="{0D108BD9-81ED-4DB2-BD59-A6C34878D82A}">
                    <a16:rowId xmlns:a16="http://schemas.microsoft.com/office/drawing/2014/main" val="516809689"/>
                  </a:ext>
                </a:extLst>
              </a:tr>
            </a:tbl>
          </a:graphicData>
        </a:graphic>
      </p:graphicFrame>
    </p:spTree>
    <p:extLst>
      <p:ext uri="{BB962C8B-B14F-4D97-AF65-F5344CB8AC3E}">
        <p14:creationId xmlns:p14="http://schemas.microsoft.com/office/powerpoint/2010/main" val="2938864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E01ED-9245-7C59-700E-E7BAC97686C9}"/>
            </a:ext>
          </a:extLst>
        </p:cNvPr>
        <p:cNvGrpSpPr/>
        <p:nvPr/>
      </p:nvGrpSpPr>
      <p:grpSpPr>
        <a:xfrm>
          <a:off x="0" y="0"/>
          <a:ext cx="0" cy="0"/>
          <a:chOff x="0" y="0"/>
          <a:chExt cx="0" cy="0"/>
        </a:xfrm>
      </p:grpSpPr>
      <p:sp>
        <p:nvSpPr>
          <p:cNvPr id="4" name="Date Placeholder 3">
            <a:extLst>
              <a:ext uri="{FF2B5EF4-FFF2-40B4-BE49-F238E27FC236}">
                <a16:creationId xmlns:a16="http://schemas.microsoft.com/office/drawing/2014/main" id="{CBE6FCC3-BD2A-0330-CD51-4022D76D3D50}"/>
              </a:ext>
            </a:extLst>
          </p:cNvPr>
          <p:cNvSpPr>
            <a:spLocks noGrp="1"/>
          </p:cNvSpPr>
          <p:nvPr>
            <p:ph type="dt" sz="half" idx="10"/>
          </p:nvPr>
        </p:nvSpPr>
        <p:spPr>
          <a:xfrm>
            <a:off x="609600" y="6330505"/>
            <a:ext cx="2844800" cy="365125"/>
          </a:xfrm>
        </p:spPr>
        <p:txBody>
          <a:bodyPr/>
          <a:lstStyle/>
          <a:p>
            <a:r>
              <a:rPr lang="en-IN">
                <a:latin typeface="Times New Roman" panose="02020603050405020304" pitchFamily="18" charset="0"/>
                <a:cs typeface="Times New Roman" panose="02020603050405020304" pitchFamily="18" charset="0"/>
              </a:rPr>
              <a:t>24/04/2026</a:t>
            </a:r>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244913B-5D18-523A-CBDE-6FE5575224ED}"/>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AC833F9D-0E00-1631-FCDA-8B1A6C4986F1}"/>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8</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FFAFDCE6-2241-B650-9C41-2916C4E071AD}"/>
              </a:ext>
            </a:extLst>
          </p:cNvPr>
          <p:cNvSpPr txBox="1">
            <a:spLocks/>
          </p:cNvSpPr>
          <p:nvPr/>
        </p:nvSpPr>
        <p:spPr>
          <a:xfrm>
            <a:off x="1905000" y="162370"/>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Literature Survey (Tabular column)</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464AD15F-9ECA-AE43-7F94-B1B95150A1AE}"/>
              </a:ext>
            </a:extLst>
          </p:cNvPr>
          <p:cNvGraphicFramePr>
            <a:graphicFrameLocks noGrp="1"/>
          </p:cNvGraphicFramePr>
          <p:nvPr/>
        </p:nvGraphicFramePr>
        <p:xfrm>
          <a:off x="497840" y="1371790"/>
          <a:ext cx="11389357" cy="2779008"/>
        </p:xfrm>
        <a:graphic>
          <a:graphicData uri="http://schemas.openxmlformats.org/drawingml/2006/table">
            <a:tbl>
              <a:tblPr firstRow="1" bandRow="1">
                <a:tableStyleId>{5C22544A-7EE6-4342-B048-85BDC9FD1C3A}</a:tableStyleId>
              </a:tblPr>
              <a:tblGrid>
                <a:gridCol w="1627051">
                  <a:extLst>
                    <a:ext uri="{9D8B030D-6E8A-4147-A177-3AD203B41FA5}">
                      <a16:colId xmlns:a16="http://schemas.microsoft.com/office/drawing/2014/main" val="2593488256"/>
                    </a:ext>
                  </a:extLst>
                </a:gridCol>
                <a:gridCol w="1627051">
                  <a:extLst>
                    <a:ext uri="{9D8B030D-6E8A-4147-A177-3AD203B41FA5}">
                      <a16:colId xmlns:a16="http://schemas.microsoft.com/office/drawing/2014/main" val="2887970951"/>
                    </a:ext>
                  </a:extLst>
                </a:gridCol>
                <a:gridCol w="1627051">
                  <a:extLst>
                    <a:ext uri="{9D8B030D-6E8A-4147-A177-3AD203B41FA5}">
                      <a16:colId xmlns:a16="http://schemas.microsoft.com/office/drawing/2014/main" val="1447142165"/>
                    </a:ext>
                  </a:extLst>
                </a:gridCol>
                <a:gridCol w="1627051">
                  <a:extLst>
                    <a:ext uri="{9D8B030D-6E8A-4147-A177-3AD203B41FA5}">
                      <a16:colId xmlns:a16="http://schemas.microsoft.com/office/drawing/2014/main" val="3828443792"/>
                    </a:ext>
                  </a:extLst>
                </a:gridCol>
                <a:gridCol w="1627051">
                  <a:extLst>
                    <a:ext uri="{9D8B030D-6E8A-4147-A177-3AD203B41FA5}">
                      <a16:colId xmlns:a16="http://schemas.microsoft.com/office/drawing/2014/main" val="870818910"/>
                    </a:ext>
                  </a:extLst>
                </a:gridCol>
                <a:gridCol w="1627051">
                  <a:extLst>
                    <a:ext uri="{9D8B030D-6E8A-4147-A177-3AD203B41FA5}">
                      <a16:colId xmlns:a16="http://schemas.microsoft.com/office/drawing/2014/main" val="1470712405"/>
                    </a:ext>
                  </a:extLst>
                </a:gridCol>
                <a:gridCol w="1627051">
                  <a:extLst>
                    <a:ext uri="{9D8B030D-6E8A-4147-A177-3AD203B41FA5}">
                      <a16:colId xmlns:a16="http://schemas.microsoft.com/office/drawing/2014/main" val="3221372287"/>
                    </a:ext>
                  </a:extLst>
                </a:gridCol>
              </a:tblGrid>
              <a:tr h="701040">
                <a:tc>
                  <a:txBody>
                    <a:bodyPr/>
                    <a:lstStyle/>
                    <a:p>
                      <a:r>
                        <a:rPr lang="en-IN" dirty="0">
                          <a:latin typeface="Times New Roman" panose="02020603050405020304" pitchFamily="18" charset="0"/>
                          <a:cs typeface="Times New Roman" panose="02020603050405020304" pitchFamily="18" charset="0"/>
                        </a:rPr>
                        <a:t>Author</a:t>
                      </a:r>
                      <a:endParaRPr lang="en-US" dirty="0"/>
                    </a:p>
                  </a:txBody>
                  <a:tcPr/>
                </a:tc>
                <a:tc>
                  <a:txBody>
                    <a:bodyPr/>
                    <a:lstStyle/>
                    <a:p>
                      <a:r>
                        <a:rPr lang="en-IN" dirty="0">
                          <a:latin typeface="Times New Roman" panose="02020603050405020304" pitchFamily="18" charset="0"/>
                          <a:cs typeface="Times New Roman" panose="02020603050405020304" pitchFamily="18" charset="0"/>
                        </a:rPr>
                        <a:t>Paper Title</a:t>
                      </a:r>
                      <a:endParaRPr lang="en-US" b="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Year</a:t>
                      </a:r>
                      <a:endParaRPr lang="en-US" dirty="0"/>
                    </a:p>
                    <a:p>
                      <a:endParaRPr lang="en-US" dirty="0"/>
                    </a:p>
                  </a:txBody>
                  <a:tcPr/>
                </a:tc>
                <a:tc>
                  <a:txBody>
                    <a:bodyPr/>
                    <a:lstStyle/>
                    <a:p>
                      <a:r>
                        <a:rPr lang="en-US" dirty="0"/>
                        <a:t>Purpose of the work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dirty="0">
                          <a:latin typeface="Times New Roman" panose="02020603050405020304" pitchFamily="18" charset="0"/>
                          <a:cs typeface="Times New Roman" panose="02020603050405020304" pitchFamily="18" charset="0"/>
                        </a:rPr>
                        <a:t>Algorithms</a:t>
                      </a:r>
                      <a:endParaRPr lang="en-US" dirty="0">
                        <a:latin typeface="Times New Roman" panose="02020603050405020304" pitchFamily="18" charset="0"/>
                        <a:cs typeface="Times New Roman" panose="02020603050405020304" pitchFamily="18" charset="0"/>
                      </a:endParaRPr>
                    </a:p>
                    <a:p>
                      <a:endParaRPr lang="en-US" dirty="0"/>
                    </a:p>
                  </a:txBody>
                  <a:tcPr/>
                </a:tc>
                <a:tc>
                  <a:txBody>
                    <a:bodyPr/>
                    <a:lstStyle/>
                    <a:p>
                      <a:r>
                        <a:rPr lang="en-US" dirty="0"/>
                        <a:t>Limitation of paper</a:t>
                      </a:r>
                    </a:p>
                  </a:txBody>
                  <a:tcPr/>
                </a:tc>
                <a:tc>
                  <a:txBody>
                    <a:bodyPr/>
                    <a:lstStyle/>
                    <a:p>
                      <a:r>
                        <a:rPr lang="en-US" dirty="0"/>
                        <a:t>Results</a:t>
                      </a:r>
                    </a:p>
                  </a:txBody>
                  <a:tcPr/>
                </a:tc>
                <a:extLst>
                  <a:ext uri="{0D108BD9-81ED-4DB2-BD59-A6C34878D82A}">
                    <a16:rowId xmlns:a16="http://schemas.microsoft.com/office/drawing/2014/main" val="3567292271"/>
                  </a:ext>
                </a:extLst>
              </a:tr>
              <a:tr h="1038984">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38390924"/>
                  </a:ext>
                </a:extLst>
              </a:tr>
              <a:tr h="1038984">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tc>
                  <a:txBody>
                    <a:bodyPr/>
                    <a:lstStyle/>
                    <a:p>
                      <a:endParaRPr lang="en-US"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6809689"/>
                  </a:ext>
                </a:extLst>
              </a:tr>
            </a:tbl>
          </a:graphicData>
        </a:graphic>
      </p:graphicFrame>
      <p:graphicFrame>
        <p:nvGraphicFramePr>
          <p:cNvPr id="2" name="Table 1">
            <a:extLst>
              <a:ext uri="{FF2B5EF4-FFF2-40B4-BE49-F238E27FC236}">
                <a16:creationId xmlns:a16="http://schemas.microsoft.com/office/drawing/2014/main" id="{B4E02BF1-44D2-1260-54C8-6E7FE69E5CBE}"/>
              </a:ext>
            </a:extLst>
          </p:cNvPr>
          <p:cNvGraphicFramePr>
            <a:graphicFrameLocks noGrp="1"/>
          </p:cNvGraphicFramePr>
          <p:nvPr>
            <p:extLst>
              <p:ext uri="{D42A27DB-BD31-4B8C-83A1-F6EECF244321}">
                <p14:modId xmlns:p14="http://schemas.microsoft.com/office/powerpoint/2010/main" val="96886076"/>
              </p:ext>
            </p:extLst>
          </p:nvPr>
        </p:nvGraphicFramePr>
        <p:xfrm>
          <a:off x="0" y="0"/>
          <a:ext cx="12192001" cy="6964680"/>
        </p:xfrm>
        <a:graphic>
          <a:graphicData uri="http://schemas.openxmlformats.org/drawingml/2006/table">
            <a:tbl>
              <a:tblPr firstRow="1" bandRow="1">
                <a:tableStyleId>{5C22544A-7EE6-4342-B048-85BDC9FD1C3A}</a:tableStyleId>
              </a:tblPr>
              <a:tblGrid>
                <a:gridCol w="1533517">
                  <a:extLst>
                    <a:ext uri="{9D8B030D-6E8A-4147-A177-3AD203B41FA5}">
                      <a16:colId xmlns:a16="http://schemas.microsoft.com/office/drawing/2014/main" val="2593488256"/>
                    </a:ext>
                  </a:extLst>
                </a:gridCol>
                <a:gridCol w="1589237">
                  <a:extLst>
                    <a:ext uri="{9D8B030D-6E8A-4147-A177-3AD203B41FA5}">
                      <a16:colId xmlns:a16="http://schemas.microsoft.com/office/drawing/2014/main" val="2887970951"/>
                    </a:ext>
                  </a:extLst>
                </a:gridCol>
                <a:gridCol w="815518">
                  <a:extLst>
                    <a:ext uri="{9D8B030D-6E8A-4147-A177-3AD203B41FA5}">
                      <a16:colId xmlns:a16="http://schemas.microsoft.com/office/drawing/2014/main" val="1447142165"/>
                    </a:ext>
                  </a:extLst>
                </a:gridCol>
                <a:gridCol w="2348060">
                  <a:extLst>
                    <a:ext uri="{9D8B030D-6E8A-4147-A177-3AD203B41FA5}">
                      <a16:colId xmlns:a16="http://schemas.microsoft.com/office/drawing/2014/main" val="3828443792"/>
                    </a:ext>
                  </a:extLst>
                </a:gridCol>
                <a:gridCol w="1810855">
                  <a:extLst>
                    <a:ext uri="{9D8B030D-6E8A-4147-A177-3AD203B41FA5}">
                      <a16:colId xmlns:a16="http://schemas.microsoft.com/office/drawing/2014/main" val="870818910"/>
                    </a:ext>
                  </a:extLst>
                </a:gridCol>
                <a:gridCol w="1631401">
                  <a:extLst>
                    <a:ext uri="{9D8B030D-6E8A-4147-A177-3AD203B41FA5}">
                      <a16:colId xmlns:a16="http://schemas.microsoft.com/office/drawing/2014/main" val="1470712405"/>
                    </a:ext>
                  </a:extLst>
                </a:gridCol>
                <a:gridCol w="2463413">
                  <a:extLst>
                    <a:ext uri="{9D8B030D-6E8A-4147-A177-3AD203B41FA5}">
                      <a16:colId xmlns:a16="http://schemas.microsoft.com/office/drawing/2014/main" val="3221372287"/>
                    </a:ext>
                  </a:extLst>
                </a:gridCol>
              </a:tblGrid>
              <a:tr h="685800">
                <a:tc>
                  <a:txBody>
                    <a:bodyPr/>
                    <a:lstStyle/>
                    <a:p>
                      <a:r>
                        <a:rPr lang="en-IN" sz="1600" dirty="0">
                          <a:latin typeface="Times New Roman" panose="02020603050405020304" pitchFamily="18" charset="0"/>
                          <a:cs typeface="Times New Roman" panose="02020603050405020304" pitchFamily="18" charset="0"/>
                        </a:rPr>
                        <a:t>Author</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IN" sz="1600">
                          <a:latin typeface="Times New Roman" panose="02020603050405020304" pitchFamily="18" charset="0"/>
                          <a:cs typeface="Times New Roman" panose="02020603050405020304" pitchFamily="18" charset="0"/>
                        </a:rPr>
                        <a:t>Paper Title</a:t>
                      </a:r>
                      <a:endParaRPr lang="en-US" sz="1600" b="0"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a:latin typeface="Times New Roman" panose="02020603050405020304" pitchFamily="18" charset="0"/>
                          <a:cs typeface="Times New Roman" panose="02020603050405020304" pitchFamily="18" charset="0"/>
                        </a:rPr>
                        <a:t>Year</a:t>
                      </a:r>
                      <a:endParaRPr lang="en-US" sz="160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a:latin typeface="Times New Roman" panose="02020603050405020304" pitchFamily="18" charset="0"/>
                          <a:cs typeface="Times New Roman" panose="02020603050405020304" pitchFamily="18" charset="0"/>
                        </a:rPr>
                        <a:t>Purpose of the work</a:t>
                      </a:r>
                      <a:endParaRPr lang="en-US" sz="1600" dirty="0">
                        <a:latin typeface="Times New Roman" panose="02020603050405020304" pitchFamily="18" charset="0"/>
                        <a:cs typeface="Times New Roman" panose="02020603050405020304" pitchFamily="18" charset="0"/>
                      </a:endParaRP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a:latin typeface="Times New Roman" panose="02020603050405020304" pitchFamily="18" charset="0"/>
                          <a:cs typeface="Times New Roman" panose="02020603050405020304" pitchFamily="18" charset="0"/>
                        </a:rPr>
                        <a:t>Algorithms</a:t>
                      </a:r>
                      <a:endParaRPr lang="en-US" sz="160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a:latin typeface="Times New Roman" panose="02020603050405020304" pitchFamily="18" charset="0"/>
                          <a:cs typeface="Times New Roman" panose="02020603050405020304" pitchFamily="18" charset="0"/>
                        </a:rPr>
                        <a:t>Limitation of paper</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a:latin typeface="Times New Roman" panose="02020603050405020304" pitchFamily="18" charset="0"/>
                          <a:cs typeface="Times New Roman" panose="02020603050405020304" pitchFamily="18" charset="0"/>
                        </a:rPr>
                        <a:t>Results</a:t>
                      </a: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67292271"/>
                  </a:ext>
                </a:extLst>
              </a:tr>
              <a:tr h="2127872">
                <a:tc>
                  <a:txBody>
                    <a:bodyPr/>
                    <a:lstStyle/>
                    <a:p>
                      <a:r>
                        <a:rPr lang="en-IN" sz="1600">
                          <a:latin typeface="Times New Roman" panose="02020603050405020304" pitchFamily="18" charset="0"/>
                          <a:cs typeface="Times New Roman" panose="02020603050405020304" pitchFamily="18" charset="0"/>
                        </a:rPr>
                        <a:t>Pavan Hasti</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a:latin typeface="Times New Roman" panose="02020603050405020304" pitchFamily="18" charset="0"/>
                          <a:cs typeface="Times New Roman" panose="02020603050405020304" pitchFamily="18" charset="0"/>
                        </a:rPr>
                        <a:t>SMS Phishing Detection Using Machine Learning and Deep Learning Techniques </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IN" sz="1600">
                          <a:latin typeface="Times New Roman" panose="02020603050405020304" pitchFamily="18" charset="0"/>
                          <a:cs typeface="Times New Roman" panose="02020603050405020304" pitchFamily="18" charset="0"/>
                        </a:rPr>
                        <a:t>2025 </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a:latin typeface="Times New Roman" panose="02020603050405020304" pitchFamily="18" charset="0"/>
                          <a:cs typeface="Times New Roman" panose="02020603050405020304" pitchFamily="18" charset="0"/>
                        </a:rPr>
                        <a:t>To construct a New Zealand domain-specific SMS phishing detection system by building effective machine learning (ML) and deep learning (DL) models to accurately detect and categorize "smishing" messages while addressing class imbalance.</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a:latin typeface="Times New Roman" panose="02020603050405020304" pitchFamily="18" charset="0"/>
                          <a:cs typeface="Times New Roman" panose="02020603050405020304" pitchFamily="18" charset="0"/>
                        </a:rPr>
                        <a:t>Random Forest, XGBoost, CNN, RNN, and LSTM.</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IN" sz="1600">
                          <a:latin typeface="Times New Roman" panose="02020603050405020304" pitchFamily="18" charset="0"/>
                          <a:cs typeface="Times New Roman" panose="02020603050405020304" pitchFamily="18" charset="0"/>
                        </a:rPr>
                        <a:t>Resource Demands, Contextual Understanding, SMOTE Artificial Noise</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kern="1200">
                          <a:solidFill>
                            <a:schemeClr val="dk1"/>
                          </a:solidFill>
                          <a:effectLst/>
                          <a:latin typeface="Times New Roman" panose="02020603050405020304" pitchFamily="18" charset="0"/>
                          <a:ea typeface="+mn-ea"/>
                          <a:cs typeface="Times New Roman" panose="02020603050405020304" pitchFamily="18" charset="0"/>
                        </a:rPr>
                        <a:t>The </a:t>
                      </a:r>
                      <a:r>
                        <a:rPr lang="en-US" sz="1600" b="1" kern="1200">
                          <a:solidFill>
                            <a:schemeClr val="dk1"/>
                          </a:solidFill>
                          <a:effectLst/>
                          <a:latin typeface="Times New Roman" panose="02020603050405020304" pitchFamily="18" charset="0"/>
                          <a:ea typeface="+mn-ea"/>
                          <a:cs typeface="Times New Roman" panose="02020603050405020304" pitchFamily="18" charset="0"/>
                        </a:rPr>
                        <a:t>XGBoost classifier</a:t>
                      </a:r>
                      <a:r>
                        <a:rPr lang="en-US" sz="1600" kern="1200">
                          <a:solidFill>
                            <a:schemeClr val="dk1"/>
                          </a:solidFill>
                          <a:effectLst/>
                          <a:latin typeface="Times New Roman" panose="02020603050405020304" pitchFamily="18" charset="0"/>
                          <a:ea typeface="+mn-ea"/>
                          <a:cs typeface="Times New Roman" panose="02020603050405020304" pitchFamily="18" charset="0"/>
                        </a:rPr>
                        <a:t> achieved highest accuracy of </a:t>
                      </a:r>
                      <a:r>
                        <a:rPr lang="en-US" sz="1600" b="1" kern="1200">
                          <a:solidFill>
                            <a:schemeClr val="dk1"/>
                          </a:solidFill>
                          <a:effectLst/>
                          <a:latin typeface="Times New Roman" panose="02020603050405020304" pitchFamily="18" charset="0"/>
                          <a:ea typeface="+mn-ea"/>
                          <a:cs typeface="Times New Roman" panose="02020603050405020304" pitchFamily="18" charset="0"/>
                        </a:rPr>
                        <a:t>97.05%</a:t>
                      </a:r>
                      <a:r>
                        <a:rPr lang="en-US" sz="1600" kern="1200">
                          <a:solidFill>
                            <a:schemeClr val="dk1"/>
                          </a:solidFill>
                          <a:effectLst/>
                          <a:latin typeface="Times New Roman" panose="02020603050405020304" pitchFamily="18" charset="0"/>
                          <a:ea typeface="+mn-ea"/>
                          <a:cs typeface="Times New Roman" panose="02020603050405020304" pitchFamily="18" charset="0"/>
                        </a:rPr>
                        <a:t>.Random Forest with </a:t>
                      </a:r>
                      <a:r>
                        <a:rPr lang="en-US" sz="1600" b="1" kern="1200">
                          <a:solidFill>
                            <a:schemeClr val="dk1"/>
                          </a:solidFill>
                          <a:effectLst/>
                          <a:latin typeface="Times New Roman" panose="02020603050405020304" pitchFamily="18" charset="0"/>
                          <a:ea typeface="+mn-ea"/>
                          <a:cs typeface="Times New Roman" panose="02020603050405020304" pitchFamily="18" charset="0"/>
                        </a:rPr>
                        <a:t>96.63%</a:t>
                      </a:r>
                      <a:r>
                        <a:rPr lang="en-US" sz="1600" kern="1200">
                          <a:solidFill>
                            <a:schemeClr val="dk1"/>
                          </a:solidFill>
                          <a:effectLst/>
                          <a:latin typeface="Times New Roman" panose="02020603050405020304" pitchFamily="18" charset="0"/>
                          <a:ea typeface="+mn-ea"/>
                          <a:cs typeface="Times New Roman" panose="02020603050405020304" pitchFamily="18" charset="0"/>
                        </a:rPr>
                        <a:t> accuracy. LSTM performed with </a:t>
                      </a:r>
                      <a:r>
                        <a:rPr lang="en-US" sz="1600" b="1" kern="1200">
                          <a:solidFill>
                            <a:schemeClr val="dk1"/>
                          </a:solidFill>
                          <a:effectLst/>
                          <a:latin typeface="Times New Roman" panose="02020603050405020304" pitchFamily="18" charset="0"/>
                          <a:ea typeface="+mn-ea"/>
                          <a:cs typeface="Times New Roman" panose="02020603050405020304" pitchFamily="18" charset="0"/>
                        </a:rPr>
                        <a:t>92.98%</a:t>
                      </a:r>
                      <a:r>
                        <a:rPr lang="en-US" sz="1600" kern="1200">
                          <a:solidFill>
                            <a:schemeClr val="dk1"/>
                          </a:solidFill>
                          <a:effectLst/>
                          <a:latin typeface="Times New Roman" panose="02020603050405020304" pitchFamily="18" charset="0"/>
                          <a:ea typeface="+mn-ea"/>
                          <a:cs typeface="Times New Roman" panose="02020603050405020304" pitchFamily="18" charset="0"/>
                        </a:rPr>
                        <a:t> accuracy, CNN reached </a:t>
                      </a:r>
                      <a:r>
                        <a:rPr lang="en-US" sz="1600" b="1" kern="1200">
                          <a:solidFill>
                            <a:schemeClr val="dk1"/>
                          </a:solidFill>
                          <a:effectLst/>
                          <a:latin typeface="Times New Roman" panose="02020603050405020304" pitchFamily="18" charset="0"/>
                          <a:ea typeface="+mn-ea"/>
                          <a:cs typeface="Times New Roman" panose="02020603050405020304" pitchFamily="18" charset="0"/>
                        </a:rPr>
                        <a:t>90.88%</a:t>
                      </a:r>
                      <a:r>
                        <a:rPr lang="en-US" sz="1600" kern="1200">
                          <a:solidFill>
                            <a:schemeClr val="dk1"/>
                          </a:solidFill>
                          <a:effectLst/>
                          <a:latin typeface="Times New Roman" panose="02020603050405020304" pitchFamily="18" charset="0"/>
                          <a:ea typeface="+mn-ea"/>
                          <a:cs typeface="Times New Roman" panose="02020603050405020304" pitchFamily="18" charset="0"/>
                        </a:rPr>
                        <a:t> and RNN reached </a:t>
                      </a:r>
                      <a:r>
                        <a:rPr lang="en-US" sz="1600" b="1" kern="1200">
                          <a:solidFill>
                            <a:schemeClr val="dk1"/>
                          </a:solidFill>
                          <a:effectLst/>
                          <a:latin typeface="Times New Roman" panose="02020603050405020304" pitchFamily="18" charset="0"/>
                          <a:ea typeface="+mn-ea"/>
                          <a:cs typeface="Times New Roman" panose="02020603050405020304" pitchFamily="18" charset="0"/>
                        </a:rPr>
                        <a:t>83.71%</a:t>
                      </a:r>
                      <a:r>
                        <a:rPr lang="en-US" sz="1600" kern="1200">
                          <a:solidFill>
                            <a:schemeClr val="dk1"/>
                          </a:solidFill>
                          <a:effectLst/>
                          <a:latin typeface="Times New Roman" panose="02020603050405020304" pitchFamily="18" charset="0"/>
                          <a:ea typeface="+mn-ea"/>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38390924"/>
                  </a:ext>
                </a:extLst>
              </a:tr>
              <a:tr h="1273058">
                <a:tc>
                  <a:txBody>
                    <a:bodyPr/>
                    <a:lstStyle/>
                    <a:p>
                      <a:r>
                        <a:rPr lang="en-IN" sz="1600">
                          <a:latin typeface="Times New Roman" panose="02020603050405020304" pitchFamily="18" charset="0"/>
                          <a:cs typeface="Times New Roman" panose="02020603050405020304" pitchFamily="18" charset="0"/>
                        </a:rPr>
                        <a:t>Ganesh S. Nayak, Balachandra Muniyal, and Manjula C. Belavagi </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a:latin typeface="Times New Roman" panose="02020603050405020304" pitchFamily="18" charset="0"/>
                          <a:cs typeface="Times New Roman" panose="02020603050405020304" pitchFamily="18" charset="0"/>
                        </a:rPr>
                        <a:t>Enhancing Phishing Detection: A Machine Learning Approach With Feature Selection and Deep Learning Models</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IN" sz="1600">
                          <a:latin typeface="Times New Roman" panose="02020603050405020304" pitchFamily="18" charset="0"/>
                          <a:cs typeface="Times New Roman" panose="02020603050405020304" pitchFamily="18" charset="0"/>
                        </a:rPr>
                        <a:t>2025</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a:latin typeface="Times New Roman" panose="02020603050405020304" pitchFamily="18" charset="0"/>
                          <a:cs typeface="Times New Roman" panose="02020603050405020304" pitchFamily="18" charset="0"/>
                        </a:rPr>
                        <a:t>To improve the accuracy and cost efficiency of phishing detection by analyzing a large dataset of URLs, employing feature selection to reduce the number of required characteristics, and utilizing multiple deep learning classifiers</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IN" sz="1600">
                          <a:latin typeface="Times New Roman" panose="02020603050405020304" pitchFamily="18" charset="0"/>
                          <a:cs typeface="Times New Roman" panose="02020603050405020304" pitchFamily="18" charset="0"/>
                        </a:rPr>
                        <a:t>Feedforward Neural Network (FNN), Deep Neural Network (DNN), Wide and Deep Model (WDM), and TabNet.</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IN" sz="1600">
                          <a:latin typeface="Times New Roman" panose="02020603050405020304" pitchFamily="18" charset="0"/>
                          <a:cs typeface="Times New Roman" panose="02020603050405020304" pitchFamily="18" charset="0"/>
                        </a:rPr>
                        <a:t>Accuracy-Recall Trade-of, Dataset Evolution</a:t>
                      </a: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kern="1200" dirty="0">
                          <a:solidFill>
                            <a:schemeClr val="dk1"/>
                          </a:solidFill>
                          <a:effectLst/>
                          <a:latin typeface="Times New Roman" panose="02020603050405020304" pitchFamily="18" charset="0"/>
                          <a:ea typeface="+mn-ea"/>
                          <a:cs typeface="Times New Roman" panose="02020603050405020304" pitchFamily="18" charset="0"/>
                        </a:rPr>
                        <a:t>The </a:t>
                      </a:r>
                      <a:r>
                        <a:rPr lang="en-US" sz="1600" b="1" kern="1200" dirty="0">
                          <a:solidFill>
                            <a:schemeClr val="dk1"/>
                          </a:solidFill>
                          <a:effectLst/>
                          <a:latin typeface="Times New Roman" panose="02020603050405020304" pitchFamily="18" charset="0"/>
                          <a:ea typeface="+mn-ea"/>
                          <a:cs typeface="Times New Roman" panose="02020603050405020304" pitchFamily="18" charset="0"/>
                        </a:rPr>
                        <a:t>Feedforward (FNN)</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model achieved a </a:t>
                      </a:r>
                      <a:r>
                        <a:rPr lang="en-US" sz="1600" b="1" kern="1200" dirty="0">
                          <a:solidFill>
                            <a:schemeClr val="dk1"/>
                          </a:solidFill>
                          <a:effectLst/>
                          <a:latin typeface="Times New Roman" panose="02020603050405020304" pitchFamily="18" charset="0"/>
                          <a:ea typeface="+mn-ea"/>
                          <a:cs typeface="Times New Roman" panose="02020603050405020304" pitchFamily="18" charset="0"/>
                        </a:rPr>
                        <a:t>94.46%</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accuracy using only 14 selected </a:t>
                      </a:r>
                      <a:r>
                        <a:rPr lang="en-US" sz="1600" kern="1200" dirty="0" err="1">
                          <a:solidFill>
                            <a:schemeClr val="dk1"/>
                          </a:solidFill>
                          <a:effectLst/>
                          <a:latin typeface="Times New Roman" panose="02020603050405020304" pitchFamily="18" charset="0"/>
                          <a:ea typeface="+mn-ea"/>
                          <a:cs typeface="Times New Roman" panose="02020603050405020304" pitchFamily="18" charset="0"/>
                        </a:rPr>
                        <a:t>features.The</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FNN model stood out with the highest "anti-phishing score" of </a:t>
                      </a:r>
                      <a:r>
                        <a:rPr lang="en-US" sz="1600" b="1" kern="1200" dirty="0">
                          <a:solidFill>
                            <a:schemeClr val="dk1"/>
                          </a:solidFill>
                          <a:effectLst/>
                          <a:latin typeface="Times New Roman" panose="02020603050405020304" pitchFamily="18" charset="0"/>
                          <a:ea typeface="+mn-ea"/>
                          <a:cs typeface="Times New Roman" panose="02020603050405020304" pitchFamily="18" charset="0"/>
                        </a:rPr>
                        <a:t>0.9521</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.Performance metrics for other models included DNN (</a:t>
                      </a:r>
                      <a:r>
                        <a:rPr lang="en-US" sz="1600" b="1" kern="1200" dirty="0">
                          <a:solidFill>
                            <a:schemeClr val="dk1"/>
                          </a:solidFill>
                          <a:effectLst/>
                          <a:latin typeface="Times New Roman" panose="02020603050405020304" pitchFamily="18" charset="0"/>
                          <a:ea typeface="+mn-ea"/>
                          <a:cs typeface="Times New Roman" panose="02020603050405020304" pitchFamily="18" charset="0"/>
                        </a:rPr>
                        <a:t>93.92%</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a:t>
                      </a:r>
                      <a:r>
                        <a:rPr lang="en-US" sz="1600" kern="1200" dirty="0" err="1">
                          <a:solidFill>
                            <a:schemeClr val="dk1"/>
                          </a:solidFill>
                          <a:effectLst/>
                          <a:latin typeface="Times New Roman" panose="02020603050405020304" pitchFamily="18" charset="0"/>
                          <a:ea typeface="+mn-ea"/>
                          <a:cs typeface="Times New Roman" panose="02020603050405020304" pitchFamily="18" charset="0"/>
                        </a:rPr>
                        <a:t>TabNet</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a:t>
                      </a:r>
                      <a:r>
                        <a:rPr lang="en-US" sz="1600" b="1" kern="1200" dirty="0">
                          <a:solidFill>
                            <a:schemeClr val="dk1"/>
                          </a:solidFill>
                          <a:effectLst/>
                          <a:latin typeface="Times New Roman" panose="02020603050405020304" pitchFamily="18" charset="0"/>
                          <a:ea typeface="+mn-ea"/>
                          <a:cs typeface="Times New Roman" panose="02020603050405020304" pitchFamily="18" charset="0"/>
                        </a:rPr>
                        <a:t>93.82%</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 and Wide &amp; Deep (</a:t>
                      </a:r>
                      <a:r>
                        <a:rPr lang="en-US" sz="1600" b="1" kern="1200" dirty="0">
                          <a:solidFill>
                            <a:schemeClr val="dk1"/>
                          </a:solidFill>
                          <a:effectLst/>
                          <a:latin typeface="Times New Roman" panose="02020603050405020304" pitchFamily="18" charset="0"/>
                          <a:ea typeface="+mn-ea"/>
                          <a:cs typeface="Times New Roman" panose="02020603050405020304" pitchFamily="18" charset="0"/>
                        </a:rPr>
                        <a:t>91.39%</a:t>
                      </a:r>
                      <a:r>
                        <a:rPr lang="en-US" sz="1600" kern="1200" dirty="0">
                          <a:solidFill>
                            <a:schemeClr val="dk1"/>
                          </a:solidFill>
                          <a:effectLst/>
                          <a:latin typeface="Times New Roman" panose="02020603050405020304" pitchFamily="18" charset="0"/>
                          <a:ea typeface="+mn-ea"/>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6809689"/>
                  </a:ext>
                </a:extLst>
              </a:tr>
            </a:tbl>
          </a:graphicData>
        </a:graphic>
      </p:graphicFrame>
    </p:spTree>
    <p:extLst>
      <p:ext uri="{BB962C8B-B14F-4D97-AF65-F5344CB8AC3E}">
        <p14:creationId xmlns:p14="http://schemas.microsoft.com/office/powerpoint/2010/main" val="28853459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B4A79-FE19-3231-CF13-7C777F582D99}"/>
              </a:ext>
            </a:extLst>
          </p:cNvPr>
          <p:cNvSpPr>
            <a:spLocks noGrp="1"/>
          </p:cNvSpPr>
          <p:nvPr>
            <p:ph type="title"/>
          </p:nvPr>
        </p:nvSpPr>
        <p:spPr/>
        <p:txBody>
          <a:bodyPr>
            <a:normAutofit fontScale="90000"/>
          </a:bodyPr>
          <a:lstStyle/>
          <a:p>
            <a:r>
              <a:rPr lang="en-IN" dirty="0">
                <a:latin typeface="Times New Roman" panose="02020603050405020304" pitchFamily="18" charset="0"/>
                <a:cs typeface="Times New Roman" panose="02020603050405020304" pitchFamily="18" charset="0"/>
              </a:rPr>
              <a:t>Literature Survey Summary</a:t>
            </a:r>
            <a:endParaRPr lang="en-IN" dirty="0"/>
          </a:p>
        </p:txBody>
      </p:sp>
      <p:sp>
        <p:nvSpPr>
          <p:cNvPr id="4" name="Date Placeholder 3">
            <a:extLst>
              <a:ext uri="{FF2B5EF4-FFF2-40B4-BE49-F238E27FC236}">
                <a16:creationId xmlns:a16="http://schemas.microsoft.com/office/drawing/2014/main" id="{36B54B53-76F4-233E-8B7C-9A4FC47C09D9}"/>
              </a:ext>
            </a:extLst>
          </p:cNvPr>
          <p:cNvSpPr>
            <a:spLocks noGrp="1"/>
          </p:cNvSpPr>
          <p:nvPr>
            <p:ph type="dt" sz="half" idx="10"/>
          </p:nvPr>
        </p:nvSpPr>
        <p:spPr/>
        <p:txBody>
          <a:bodyPr/>
          <a:lstStyle/>
          <a:p>
            <a:r>
              <a:rPr lang="en-IN"/>
              <a:t>24/04/2026</a:t>
            </a:r>
            <a:endParaRPr lang="en-US"/>
          </a:p>
        </p:txBody>
      </p:sp>
      <p:sp>
        <p:nvSpPr>
          <p:cNvPr id="5" name="Footer Placeholder 4">
            <a:extLst>
              <a:ext uri="{FF2B5EF4-FFF2-40B4-BE49-F238E27FC236}">
                <a16:creationId xmlns:a16="http://schemas.microsoft.com/office/drawing/2014/main" id="{AA19ED3F-8098-7E55-5460-F9FE057F584D}"/>
              </a:ext>
            </a:extLst>
          </p:cNvPr>
          <p:cNvSpPr>
            <a:spLocks noGrp="1"/>
          </p:cNvSpPr>
          <p:nvPr>
            <p:ph type="ftr" sz="quarter" idx="11"/>
          </p:nvPr>
        </p:nvSpPr>
        <p:spPr/>
        <p:txBody>
          <a:bodyPr/>
          <a:lstStyle/>
          <a:p>
            <a:r>
              <a:rPr lang="en-US"/>
              <a:t>BMSIT&amp;M, CSE                                 </a:t>
            </a:r>
          </a:p>
        </p:txBody>
      </p:sp>
      <p:sp>
        <p:nvSpPr>
          <p:cNvPr id="6" name="Slide Number Placeholder 5">
            <a:extLst>
              <a:ext uri="{FF2B5EF4-FFF2-40B4-BE49-F238E27FC236}">
                <a16:creationId xmlns:a16="http://schemas.microsoft.com/office/drawing/2014/main" id="{2C7EC692-075B-E01A-92F5-8A98F05D821A}"/>
              </a:ext>
            </a:extLst>
          </p:cNvPr>
          <p:cNvSpPr>
            <a:spLocks noGrp="1"/>
          </p:cNvSpPr>
          <p:nvPr>
            <p:ph type="sldNum" sz="quarter" idx="12"/>
          </p:nvPr>
        </p:nvSpPr>
        <p:spPr/>
        <p:txBody>
          <a:bodyPr/>
          <a:lstStyle/>
          <a:p>
            <a:fld id="{C1FF6DA9-008F-8B48-92A6-B652298478BF}" type="slidenum">
              <a:rPr lang="en-US" smtClean="0"/>
              <a:t>9</a:t>
            </a:fld>
            <a:endParaRPr lang="en-US"/>
          </a:p>
        </p:txBody>
      </p:sp>
      <p:sp>
        <p:nvSpPr>
          <p:cNvPr id="7" name="Title 1">
            <a:extLst>
              <a:ext uri="{FF2B5EF4-FFF2-40B4-BE49-F238E27FC236}">
                <a16:creationId xmlns:a16="http://schemas.microsoft.com/office/drawing/2014/main" id="{6A199CCB-F4F0-AC99-763C-F4FDD9B17B90}"/>
              </a:ext>
            </a:extLst>
          </p:cNvPr>
          <p:cNvSpPr txBox="1">
            <a:spLocks/>
          </p:cNvSpPr>
          <p:nvPr/>
        </p:nvSpPr>
        <p:spPr>
          <a:xfrm>
            <a:off x="1796288" y="106996"/>
            <a:ext cx="8229600" cy="124968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fontScale="70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Literature Survey</a:t>
            </a:r>
            <a:br>
              <a:rPr lang="en-IN"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Difference between Existing and proposed system</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3F4479F6-192B-0DD7-DB87-269AAB24FBC6}"/>
              </a:ext>
            </a:extLst>
          </p:cNvPr>
          <p:cNvGraphicFramePr>
            <a:graphicFrameLocks noGrp="1"/>
          </p:cNvGraphicFramePr>
          <p:nvPr>
            <p:extLst>
              <p:ext uri="{D42A27DB-BD31-4B8C-83A1-F6EECF244321}">
                <p14:modId xmlns:p14="http://schemas.microsoft.com/office/powerpoint/2010/main" val="893166257"/>
              </p:ext>
            </p:extLst>
          </p:nvPr>
        </p:nvGraphicFramePr>
        <p:xfrm>
          <a:off x="609600" y="1463040"/>
          <a:ext cx="10972800" cy="4893311"/>
        </p:xfrm>
        <a:graphic>
          <a:graphicData uri="http://schemas.openxmlformats.org/drawingml/2006/table">
            <a:tbl>
              <a:tblPr firstRow="1" bandRow="1">
                <a:tableStyleId>{5C22544A-7EE6-4342-B048-85BDC9FD1C3A}</a:tableStyleId>
              </a:tblPr>
              <a:tblGrid>
                <a:gridCol w="5486400">
                  <a:extLst>
                    <a:ext uri="{9D8B030D-6E8A-4147-A177-3AD203B41FA5}">
                      <a16:colId xmlns:a16="http://schemas.microsoft.com/office/drawing/2014/main" val="2204859527"/>
                    </a:ext>
                  </a:extLst>
                </a:gridCol>
                <a:gridCol w="5486400">
                  <a:extLst>
                    <a:ext uri="{9D8B030D-6E8A-4147-A177-3AD203B41FA5}">
                      <a16:colId xmlns:a16="http://schemas.microsoft.com/office/drawing/2014/main" val="2937345682"/>
                    </a:ext>
                  </a:extLst>
                </a:gridCol>
              </a:tblGrid>
              <a:tr h="542093">
                <a:tc>
                  <a:txBody>
                    <a:bodyPr/>
                    <a:lstStyle/>
                    <a:p>
                      <a:pPr algn="ctr"/>
                      <a:r>
                        <a:rPr lang="en-US" dirty="0">
                          <a:latin typeface="Times New Roman" panose="02020603050405020304" pitchFamily="18" charset="0"/>
                          <a:cs typeface="Times New Roman" panose="02020603050405020304" pitchFamily="18" charset="0"/>
                        </a:rPr>
                        <a:t>Existing Systems</a:t>
                      </a:r>
                      <a:endParaRPr lang="en-IN" dirty="0">
                        <a:latin typeface="Times New Roman" panose="02020603050405020304" pitchFamily="18" charset="0"/>
                        <a:cs typeface="Times New Roman" panose="02020603050405020304" pitchFamily="18" charset="0"/>
                      </a:endParaRPr>
                    </a:p>
                  </a:txBody>
                  <a:tcPr/>
                </a:tc>
                <a:tc>
                  <a:txBody>
                    <a:bodyPr/>
                    <a:lstStyle/>
                    <a:p>
                      <a:pPr algn="ctr"/>
                      <a:r>
                        <a:rPr lang="en-US" dirty="0">
                          <a:latin typeface="Times New Roman" panose="02020603050405020304" pitchFamily="18" charset="0"/>
                          <a:cs typeface="Times New Roman" panose="02020603050405020304" pitchFamily="18" charset="0"/>
                        </a:rPr>
                        <a:t>Proposed system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613116823"/>
                  </a:ext>
                </a:extLst>
              </a:tr>
              <a:tr h="4351218">
                <a:tc>
                  <a: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Focus mainly on </a:t>
                      </a:r>
                      <a:r>
                        <a:rPr lang="en-US" b="1" dirty="0">
                          <a:latin typeface="Times New Roman" panose="02020603050405020304" pitchFamily="18" charset="0"/>
                          <a:cs typeface="Times New Roman" panose="02020603050405020304" pitchFamily="18" charset="0"/>
                        </a:rPr>
                        <a:t>email and website phishing</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 Limited support for </a:t>
                      </a:r>
                      <a:r>
                        <a:rPr lang="en-US" b="1" dirty="0">
                          <a:latin typeface="Times New Roman" panose="02020603050405020304" pitchFamily="18" charset="0"/>
                          <a:cs typeface="Times New Roman" panose="02020603050405020304" pitchFamily="18" charset="0"/>
                        </a:rPr>
                        <a:t>smishing (SMS) and </a:t>
                      </a:r>
                      <a:r>
                        <a:rPr lang="en-US" b="1" dirty="0" err="1">
                          <a:latin typeface="Times New Roman" panose="02020603050405020304" pitchFamily="18" charset="0"/>
                          <a:cs typeface="Times New Roman" panose="02020603050405020304" pitchFamily="18" charset="0"/>
                        </a:rPr>
                        <a:t>quishing</a:t>
                      </a:r>
                      <a:r>
                        <a:rPr lang="en-US" b="1" dirty="0">
                          <a:latin typeface="Times New Roman" panose="02020603050405020304" pitchFamily="18" charset="0"/>
                          <a:cs typeface="Times New Roman" panose="02020603050405020304" pitchFamily="18" charset="0"/>
                        </a:rPr>
                        <a:t> (QR code)</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Mostly </a:t>
                      </a:r>
                      <a:r>
                        <a:rPr lang="en-US" b="1" dirty="0">
                          <a:latin typeface="Times New Roman" panose="02020603050405020304" pitchFamily="18" charset="0"/>
                          <a:cs typeface="Times New Roman" panose="02020603050405020304" pitchFamily="18" charset="0"/>
                        </a:rPr>
                        <a:t>offline or delayed detection</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 </a:t>
                      </a:r>
                      <a:r>
                        <a:rPr lang="en-US" b="1" dirty="0">
                          <a:latin typeface="Times New Roman" panose="02020603050405020304" pitchFamily="18" charset="0"/>
                          <a:cs typeface="Times New Roman" panose="02020603050405020304" pitchFamily="18" charset="0"/>
                        </a:rPr>
                        <a:t>ML/DL models</a:t>
                      </a:r>
                      <a:r>
                        <a:rPr lang="en-US" dirty="0">
                          <a:latin typeface="Times New Roman" panose="02020603050405020304" pitchFamily="18" charset="0"/>
                          <a:cs typeface="Times New Roman" panose="02020603050405020304" pitchFamily="18" charset="0"/>
                        </a:rPr>
                        <a:t> but depend on large datasets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Struggle with </a:t>
                      </a:r>
                      <a:r>
                        <a:rPr lang="en-US" b="1" dirty="0">
                          <a:latin typeface="Times New Roman" panose="02020603050405020304" pitchFamily="18" charset="0"/>
                          <a:cs typeface="Times New Roman" panose="02020603050405020304" pitchFamily="18" charset="0"/>
                        </a:rPr>
                        <a:t>zero-day and LLM-generated attacks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 </a:t>
                      </a:r>
                      <a:r>
                        <a:rPr lang="en-US" b="1" dirty="0">
                          <a:latin typeface="Times New Roman" panose="02020603050405020304" pitchFamily="18" charset="0"/>
                          <a:cs typeface="Times New Roman" panose="02020603050405020304" pitchFamily="18" charset="0"/>
                        </a:rPr>
                        <a:t>detection only</a:t>
                      </a:r>
                      <a:r>
                        <a:rPr lang="en-US" dirty="0">
                          <a:latin typeface="Times New Roman" panose="02020603050405020304" pitchFamily="18" charset="0"/>
                          <a:cs typeface="Times New Roman" panose="02020603050405020304" pitchFamily="18" charset="0"/>
                        </a:rPr>
                        <a:t>, not prevention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Lack </a:t>
                      </a:r>
                      <a:r>
                        <a:rPr lang="en-US" b="1" dirty="0">
                          <a:latin typeface="Times New Roman" panose="02020603050405020304" pitchFamily="18" charset="0"/>
                          <a:cs typeface="Times New Roman" panose="02020603050405020304" pitchFamily="18" charset="0"/>
                        </a:rPr>
                        <a:t>user alert mechanisms and awareness features</a:t>
                      </a:r>
                      <a:endParaRPr lang="en-IN"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Covers </a:t>
                      </a:r>
                      <a:r>
                        <a:rPr lang="en-US" b="1" dirty="0">
                          <a:latin typeface="Times New Roman" panose="02020603050405020304" pitchFamily="18" charset="0"/>
                          <a:cs typeface="Times New Roman" panose="02020603050405020304" pitchFamily="18" charset="0"/>
                        </a:rPr>
                        <a:t>Email + SMS (Smishing) + QR (</a:t>
                      </a:r>
                      <a:r>
                        <a:rPr lang="en-US" b="1" dirty="0" err="1">
                          <a:latin typeface="Times New Roman" panose="02020603050405020304" pitchFamily="18" charset="0"/>
                          <a:cs typeface="Times New Roman" panose="02020603050405020304" pitchFamily="18" charset="0"/>
                        </a:rPr>
                        <a:t>Quishing</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in one system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Provides </a:t>
                      </a:r>
                      <a:r>
                        <a:rPr lang="en-US" b="1" dirty="0">
                          <a:latin typeface="Times New Roman" panose="02020603050405020304" pitchFamily="18" charset="0"/>
                          <a:cs typeface="Times New Roman" panose="02020603050405020304" pitchFamily="18" charset="0"/>
                        </a:rPr>
                        <a:t>real-time detection and prevention</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Uses </a:t>
                      </a:r>
                      <a:r>
                        <a:rPr lang="en-US" b="1" dirty="0">
                          <a:latin typeface="Times New Roman" panose="02020603050405020304" pitchFamily="18" charset="0"/>
                          <a:cs typeface="Times New Roman" panose="02020603050405020304" pitchFamily="18" charset="0"/>
                        </a:rPr>
                        <a:t>AI/ML + NLP + URL &amp; QR code analysis</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Designed to handle </a:t>
                      </a:r>
                      <a:r>
                        <a:rPr lang="en-US" b="1" dirty="0">
                          <a:latin typeface="Times New Roman" panose="02020603050405020304" pitchFamily="18" charset="0"/>
                          <a:cs typeface="Times New Roman" panose="02020603050405020304" pitchFamily="18" charset="0"/>
                        </a:rPr>
                        <a:t>zero-day and AI-generated phishing attacks</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Includes </a:t>
                      </a:r>
                      <a:r>
                        <a:rPr lang="en-US" b="1" dirty="0">
                          <a:latin typeface="Times New Roman" panose="02020603050405020304" pitchFamily="18" charset="0"/>
                          <a:cs typeface="Times New Roman" panose="02020603050405020304" pitchFamily="18" charset="0"/>
                        </a:rPr>
                        <a:t>instant user alerts and safety recommendations</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Lightweight and suitable for </a:t>
                      </a:r>
                      <a:r>
                        <a:rPr lang="en-US" b="1" dirty="0">
                          <a:latin typeface="Times New Roman" panose="02020603050405020304" pitchFamily="18" charset="0"/>
                          <a:cs typeface="Times New Roman" panose="02020603050405020304" pitchFamily="18" charset="0"/>
                        </a:rPr>
                        <a:t>mobile-based implementation</a:t>
                      </a:r>
                      <a:r>
                        <a:rPr lang="en-US" dirty="0">
                          <a:latin typeface="Times New Roman" panose="02020603050405020304" pitchFamily="18" charset="0"/>
                          <a:cs typeface="Times New Roman" panose="02020603050405020304" pitchFamily="18" charset="0"/>
                        </a:rPr>
                        <a:t> </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Focuses on both </a:t>
                      </a:r>
                      <a:r>
                        <a:rPr lang="en-US" b="1" dirty="0">
                          <a:latin typeface="Times New Roman" panose="02020603050405020304" pitchFamily="18" charset="0"/>
                          <a:cs typeface="Times New Roman" panose="02020603050405020304" pitchFamily="18" charset="0"/>
                        </a:rPr>
                        <a:t>detection + prevention + user awareness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53931808"/>
                  </a:ext>
                </a:extLst>
              </a:tr>
            </a:tbl>
          </a:graphicData>
        </a:graphic>
      </p:graphicFrame>
    </p:spTree>
    <p:extLst>
      <p:ext uri="{BB962C8B-B14F-4D97-AF65-F5344CB8AC3E}">
        <p14:creationId xmlns:p14="http://schemas.microsoft.com/office/powerpoint/2010/main" val="3566704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2"/>
            <a:ext cx="10972800" cy="3122628"/>
          </a:xfrm>
        </p:spPr>
        <p:txBody>
          <a:bodyPr>
            <a:normAutofit lnSpcReduction="10000"/>
          </a:bodyPr>
          <a:lstStyle/>
          <a:p>
            <a:pPr lvl="0" algn="just"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Most existing systems focus on </a:t>
            </a:r>
            <a:r>
              <a:rPr lang="en-US" altLang="en-US" sz="2000" b="1" dirty="0">
                <a:latin typeface="Times New Roman" panose="02020603050405020304" pitchFamily="18" charset="0"/>
                <a:cs typeface="Times New Roman" panose="02020603050405020304" pitchFamily="18" charset="0"/>
              </a:rPr>
              <a:t>only one attack type</a:t>
            </a:r>
            <a:r>
              <a:rPr lang="en-US" altLang="en-US" sz="2000" dirty="0">
                <a:latin typeface="Times New Roman" panose="02020603050405020304" pitchFamily="18" charset="0"/>
                <a:cs typeface="Times New Roman" panose="02020603050405020304" pitchFamily="18" charset="0"/>
              </a:rPr>
              <a:t> (either smishing or QR phishing) and do not provide a </a:t>
            </a:r>
            <a:r>
              <a:rPr lang="en-US" altLang="en-US" sz="2000" b="1" dirty="0">
                <a:latin typeface="Times New Roman" panose="02020603050405020304" pitchFamily="18" charset="0"/>
                <a:cs typeface="Times New Roman" panose="02020603050405020304" pitchFamily="18" charset="0"/>
              </a:rPr>
              <a:t>unified detection system</a:t>
            </a:r>
            <a:r>
              <a:rPr lang="en-US" altLang="en-US" sz="2000" dirty="0">
                <a:latin typeface="Times New Roman" panose="02020603050405020304" pitchFamily="18" charset="0"/>
                <a:cs typeface="Times New Roman" panose="02020603050405020304" pitchFamily="18" charset="0"/>
              </a:rPr>
              <a:t> for both threats.</a:t>
            </a:r>
          </a:p>
          <a:p>
            <a:pPr lvl="0" algn="just"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Many current solutions rely on </a:t>
            </a:r>
            <a:r>
              <a:rPr lang="en-US" altLang="en-US" sz="2000" b="1" dirty="0">
                <a:latin typeface="Times New Roman" panose="02020603050405020304" pitchFamily="18" charset="0"/>
                <a:cs typeface="Times New Roman" panose="02020603050405020304" pitchFamily="18" charset="0"/>
              </a:rPr>
              <a:t>blacklists or external APIs</a:t>
            </a:r>
            <a:r>
              <a:rPr lang="en-US" altLang="en-US" sz="2000" dirty="0">
                <a:latin typeface="Times New Roman" panose="02020603050405020304" pitchFamily="18" charset="0"/>
                <a:cs typeface="Times New Roman" panose="02020603050405020304" pitchFamily="18" charset="0"/>
              </a:rPr>
              <a:t>, which are ineffective for detecting </a:t>
            </a:r>
            <a:r>
              <a:rPr lang="en-US" altLang="en-US" sz="2000" b="1" dirty="0">
                <a:latin typeface="Times New Roman" panose="02020603050405020304" pitchFamily="18" charset="0"/>
                <a:cs typeface="Times New Roman" panose="02020603050405020304" pitchFamily="18" charset="0"/>
              </a:rPr>
              <a:t>zero-day phishing attacks</a:t>
            </a:r>
            <a:r>
              <a:rPr lang="en-US" altLang="en-US" sz="2000" dirty="0">
                <a:latin typeface="Times New Roman" panose="02020603050405020304" pitchFamily="18" charset="0"/>
                <a:cs typeface="Times New Roman" panose="02020603050405020304" pitchFamily="18" charset="0"/>
              </a:rPr>
              <a:t> and newly generated malicious domains.</a:t>
            </a:r>
          </a:p>
          <a:p>
            <a:pPr lvl="0" algn="just"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Existing research mainly uses </a:t>
            </a:r>
            <a:r>
              <a:rPr lang="en-US" altLang="en-US" sz="2000" b="1" dirty="0">
                <a:latin typeface="Times New Roman" panose="02020603050405020304" pitchFamily="18" charset="0"/>
                <a:cs typeface="Times New Roman" panose="02020603050405020304" pitchFamily="18" charset="0"/>
              </a:rPr>
              <a:t>traditional machine learning models</a:t>
            </a:r>
            <a:r>
              <a:rPr lang="en-US" altLang="en-US" sz="2000" dirty="0">
                <a:latin typeface="Times New Roman" panose="02020603050405020304" pitchFamily="18" charset="0"/>
                <a:cs typeface="Times New Roman" panose="02020603050405020304" pitchFamily="18" charset="0"/>
              </a:rPr>
              <a:t>, with </a:t>
            </a:r>
            <a:r>
              <a:rPr lang="en-US" altLang="en-US" sz="2000" b="1" dirty="0">
                <a:latin typeface="Times New Roman" panose="02020603050405020304" pitchFamily="18" charset="0"/>
                <a:cs typeface="Times New Roman" panose="02020603050405020304" pitchFamily="18" charset="0"/>
              </a:rPr>
              <a:t>limited use of advanced AI models</a:t>
            </a:r>
            <a:r>
              <a:rPr lang="en-US" altLang="en-US" sz="2000" dirty="0">
                <a:latin typeface="Times New Roman" panose="02020603050405020304" pitchFamily="18" charset="0"/>
                <a:cs typeface="Times New Roman" panose="02020603050405020304" pitchFamily="18" charset="0"/>
              </a:rPr>
              <a:t> for deeper contextual analysis.</a:t>
            </a:r>
          </a:p>
          <a:p>
            <a:pPr lvl="0" algn="just"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Most studies lack </a:t>
            </a:r>
            <a:r>
              <a:rPr lang="en-US" altLang="en-US" sz="2000" b="1" dirty="0">
                <a:latin typeface="Times New Roman" panose="02020603050405020304" pitchFamily="18" charset="0"/>
                <a:cs typeface="Times New Roman" panose="02020603050405020304" pitchFamily="18" charset="0"/>
              </a:rPr>
              <a:t>contextual correlation</a:t>
            </a:r>
            <a:r>
              <a:rPr lang="en-US" altLang="en-US" sz="2000" dirty="0">
                <a:latin typeface="Times New Roman" panose="02020603050405020304" pitchFamily="18" charset="0"/>
                <a:cs typeface="Times New Roman" panose="02020603050405020304" pitchFamily="18" charset="0"/>
              </a:rPr>
              <a:t> between SMS content and QR code URLs, making it difficult to detect </a:t>
            </a:r>
            <a:r>
              <a:rPr lang="en-US" altLang="en-US" sz="2000" b="1" dirty="0">
                <a:latin typeface="Times New Roman" panose="02020603050405020304" pitchFamily="18" charset="0"/>
                <a:cs typeface="Times New Roman" panose="02020603050405020304" pitchFamily="18" charset="0"/>
              </a:rPr>
              <a:t>contextual phishing attacks</a:t>
            </a:r>
            <a:r>
              <a:rPr lang="en-US" altLang="en-US" sz="2000" dirty="0">
                <a:latin typeface="Times New Roman" panose="02020603050405020304" pitchFamily="18" charset="0"/>
                <a:cs typeface="Times New Roman" panose="02020603050405020304" pitchFamily="18" charset="0"/>
              </a:rPr>
              <a:t>.</a:t>
            </a:r>
          </a:p>
          <a:p>
            <a:pPr lvl="0" algn="just" defTabSz="914400" eaLnBrk="0" fontAlgn="base" hangingPunct="0">
              <a:spcBef>
                <a:spcPct val="0"/>
              </a:spcBef>
              <a:spcAft>
                <a:spcPct val="0"/>
              </a:spcAft>
              <a:buFont typeface="Wingdings" panose="05000000000000000000" pitchFamily="2" charset="2"/>
              <a:buChar char="§"/>
            </a:pPr>
            <a:r>
              <a:rPr lang="en-US" altLang="en-US" sz="2000" dirty="0">
                <a:latin typeface="Times New Roman" panose="02020603050405020304" pitchFamily="18" charset="0"/>
                <a:cs typeface="Times New Roman" panose="02020603050405020304" pitchFamily="18" charset="0"/>
              </a:rPr>
              <a:t>Several systems require </a:t>
            </a:r>
            <a:r>
              <a:rPr lang="en-US" altLang="en-US" sz="2000" b="1" dirty="0">
                <a:latin typeface="Times New Roman" panose="02020603050405020304" pitchFamily="18" charset="0"/>
                <a:cs typeface="Times New Roman" panose="02020603050405020304" pitchFamily="18" charset="0"/>
              </a:rPr>
              <a:t>large datasets and high computational resources</a:t>
            </a:r>
            <a:r>
              <a:rPr lang="en-US" altLang="en-US" sz="2000" dirty="0">
                <a:latin typeface="Times New Roman" panose="02020603050405020304" pitchFamily="18" charset="0"/>
                <a:cs typeface="Times New Roman" panose="02020603050405020304" pitchFamily="18" charset="0"/>
              </a:rPr>
              <a:t>, which makes deployment on </a:t>
            </a:r>
            <a:r>
              <a:rPr lang="en-US" altLang="en-US" sz="2000" b="1" dirty="0">
                <a:latin typeface="Times New Roman" panose="02020603050405020304" pitchFamily="18" charset="0"/>
                <a:cs typeface="Times New Roman" panose="02020603050405020304" pitchFamily="18" charset="0"/>
              </a:rPr>
              <a:t>mobile devices difficult</a:t>
            </a:r>
            <a:r>
              <a:rPr lang="en-US" altLang="en-US" sz="2000" dirty="0">
                <a:latin typeface="Times New Roman" panose="02020603050405020304" pitchFamily="18" charset="0"/>
                <a:cs typeface="Times New Roman" panose="02020603050405020304" pitchFamily="18" charset="0"/>
              </a:rPr>
              <a:t>.</a:t>
            </a:r>
          </a:p>
          <a:p>
            <a:pPr marL="0" indent="0">
              <a:buNone/>
            </a:pPr>
            <a:endParaRPr sz="2000" i="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83635AA9-A600-46BD-D4A4-AB57D81CADD9}"/>
              </a:ext>
            </a:extLst>
          </p:cNvPr>
          <p:cNvSpPr>
            <a:spLocks noGrp="1"/>
          </p:cNvSpPr>
          <p:nvPr>
            <p:ph type="dt" sz="half" idx="10"/>
          </p:nvPr>
        </p:nvSpPr>
        <p:spPr/>
        <p:txBody>
          <a:bodyPr/>
          <a:lstStyle/>
          <a:p>
            <a:r>
              <a:rPr lang="en-IN">
                <a:latin typeface="Times New Roman" panose="02020603050405020304" pitchFamily="18" charset="0"/>
                <a:cs typeface="Times New Roman" panose="02020603050405020304" pitchFamily="18" charset="0"/>
              </a:rPr>
              <a:t>24/04/2026</a:t>
            </a:r>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33007321-2B87-D233-97BC-CCA6E105ABE9}"/>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4F32386D-594E-12D9-53CB-F18F7803087D}"/>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648D5AFA-08F3-91D2-8CF2-0F50F37A79AC}"/>
              </a:ext>
            </a:extLst>
          </p:cNvPr>
          <p:cNvSpPr txBox="1">
            <a:spLocks/>
          </p:cNvSpPr>
          <p:nvPr/>
        </p:nvSpPr>
        <p:spPr>
          <a:xfrm>
            <a:off x="1981200" y="227013"/>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cs typeface="Times New Roman" panose="02020603050405020304" pitchFamily="18" charset="0"/>
              </a:rPr>
              <a:t>Research Gap Identified</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E051E7F5-5991-5F4D-F0B9-657793729F60}"/>
              </a:ext>
            </a:extLst>
          </p:cNvPr>
          <p:cNvSpPr txBox="1"/>
          <p:nvPr/>
        </p:nvSpPr>
        <p:spPr>
          <a:xfrm>
            <a:off x="609600" y="4702787"/>
            <a:ext cx="10489677" cy="1477328"/>
          </a:xfrm>
          <a:prstGeom prst="rect">
            <a:avLst/>
          </a:prstGeom>
          <a:noFill/>
        </p:spPr>
        <p:txBody>
          <a:bodyPr wrap="square">
            <a:spAutoFit/>
          </a:bodyPr>
          <a:lstStyle/>
          <a:p>
            <a:pPr>
              <a:buNone/>
            </a:pPr>
            <a:r>
              <a:rPr lang="en-US" sz="1800" b="1" dirty="0">
                <a:latin typeface="Times New Roman" panose="02020603050405020304" pitchFamily="18" charset="0"/>
                <a:cs typeface="Times New Roman" panose="02020603050405020304" pitchFamily="18" charset="0"/>
              </a:rPr>
              <a:t>Scope for Improvement</a:t>
            </a:r>
            <a:endParaRPr lang="en-US" sz="18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Develop a </a:t>
            </a:r>
            <a:r>
              <a:rPr lang="en-US" sz="1800" b="1" dirty="0">
                <a:latin typeface="Times New Roman" panose="02020603050405020304" pitchFamily="18" charset="0"/>
                <a:cs typeface="Times New Roman" panose="02020603050405020304" pitchFamily="18" charset="0"/>
              </a:rPr>
              <a:t>real-time unified system</a:t>
            </a:r>
            <a:r>
              <a:rPr lang="en-US" sz="1800" dirty="0">
                <a:latin typeface="Times New Roman" panose="02020603050405020304" pitchFamily="18" charset="0"/>
                <a:cs typeface="Times New Roman" panose="02020603050405020304" pitchFamily="18" charset="0"/>
              </a:rPr>
              <a:t> that detects both </a:t>
            </a:r>
            <a:r>
              <a:rPr lang="en-US" sz="1800" b="1" dirty="0">
                <a:latin typeface="Times New Roman" panose="02020603050405020304" pitchFamily="18" charset="0"/>
                <a:cs typeface="Times New Roman" panose="02020603050405020304" pitchFamily="18" charset="0"/>
              </a:rPr>
              <a:t>smishing and </a:t>
            </a:r>
            <a:r>
              <a:rPr lang="en-US" sz="1800" b="1" dirty="0" err="1">
                <a:latin typeface="Times New Roman" panose="02020603050405020304" pitchFamily="18" charset="0"/>
                <a:cs typeface="Times New Roman" panose="02020603050405020304" pitchFamily="18" charset="0"/>
              </a:rPr>
              <a:t>quishing</a:t>
            </a:r>
            <a:r>
              <a:rPr lang="en-US" sz="1800" b="1" dirty="0">
                <a:latin typeface="Times New Roman" panose="02020603050405020304" pitchFamily="18" charset="0"/>
                <a:cs typeface="Times New Roman" panose="02020603050405020304" pitchFamily="18" charset="0"/>
              </a:rPr>
              <a:t> attacks</a:t>
            </a:r>
            <a:r>
              <a:rPr lang="en-US" sz="1800"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Use </a:t>
            </a:r>
            <a:r>
              <a:rPr lang="en-US" sz="1800" b="1" dirty="0">
                <a:latin typeface="Times New Roman" panose="02020603050405020304" pitchFamily="18" charset="0"/>
                <a:cs typeface="Times New Roman" panose="02020603050405020304" pitchFamily="18" charset="0"/>
              </a:rPr>
              <a:t>advanced AI/ML models</a:t>
            </a:r>
            <a:r>
              <a:rPr lang="en-US" sz="1800" dirty="0">
                <a:latin typeface="Times New Roman" panose="02020603050405020304" pitchFamily="18" charset="0"/>
                <a:cs typeface="Times New Roman" panose="02020603050405020304" pitchFamily="18" charset="0"/>
              </a:rPr>
              <a:t> for better contextual understanding and detection accuracy.</a:t>
            </a: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Implement </a:t>
            </a:r>
            <a:r>
              <a:rPr lang="en-US" sz="1800" b="1" dirty="0">
                <a:latin typeface="Times New Roman" panose="02020603050405020304" pitchFamily="18" charset="0"/>
                <a:cs typeface="Times New Roman" panose="02020603050405020304" pitchFamily="18" charset="0"/>
              </a:rPr>
              <a:t>cross-verification between SMS content and QR URLs</a:t>
            </a:r>
            <a:r>
              <a:rPr lang="en-US" sz="1800" dirty="0">
                <a:latin typeface="Times New Roman" panose="02020603050405020304" pitchFamily="18" charset="0"/>
                <a:cs typeface="Times New Roman" panose="02020603050405020304" pitchFamily="18" charset="0"/>
              </a:rPr>
              <a:t> to detect contextual phishing.</a:t>
            </a:r>
          </a:p>
          <a:p>
            <a:pPr marL="285750" indent="-285750">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Provide </a:t>
            </a:r>
            <a:r>
              <a:rPr lang="en-US" sz="1800" b="1" dirty="0">
                <a:latin typeface="Times New Roman" panose="02020603050405020304" pitchFamily="18" charset="0"/>
                <a:cs typeface="Times New Roman" panose="02020603050405020304" pitchFamily="18" charset="0"/>
              </a:rPr>
              <a:t>real-time risk scoring, automated blocking, and user alerts</a:t>
            </a:r>
            <a:r>
              <a:rPr lang="en-US" sz="1800" dirty="0">
                <a:latin typeface="Times New Roman" panose="02020603050405020304" pitchFamily="18" charset="0"/>
                <a:cs typeface="Times New Roman" panose="02020603050405020304" pitchFamily="18" charset="0"/>
              </a:rPr>
              <a:t> for effective prevention.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latin typeface="Times New Roman" panose="02020603050405020304" pitchFamily="18" charset="0"/>
                <a:cs typeface="Times New Roman" panose="02020603050405020304" pitchFamily="18" charset="0"/>
              </a:rPr>
              <a:t>Proposed System Overview</a:t>
            </a:r>
          </a:p>
        </p:txBody>
      </p:sp>
      <p:sp>
        <p:nvSpPr>
          <p:cNvPr id="4" name="Date Placeholder 3">
            <a:extLst>
              <a:ext uri="{FF2B5EF4-FFF2-40B4-BE49-F238E27FC236}">
                <a16:creationId xmlns:a16="http://schemas.microsoft.com/office/drawing/2014/main" id="{AE8A4525-6ADD-4CCC-3CC3-98CCE52B59BB}"/>
              </a:ext>
            </a:extLst>
          </p:cNvPr>
          <p:cNvSpPr>
            <a:spLocks noGrp="1"/>
          </p:cNvSpPr>
          <p:nvPr>
            <p:ph type="dt" sz="half" idx="10"/>
          </p:nvPr>
        </p:nvSpPr>
        <p:spPr/>
        <p:txBody>
          <a:bodyPr/>
          <a:lstStyle/>
          <a:p>
            <a:r>
              <a:rPr lang="en-IN">
                <a:latin typeface="Times New Roman" panose="02020603050405020304" pitchFamily="18" charset="0"/>
                <a:cs typeface="Times New Roman" panose="02020603050405020304" pitchFamily="18" charset="0"/>
              </a:rPr>
              <a:t>24/04/2026</a:t>
            </a:r>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E223784-F010-B23F-D191-C5D2174730A7}"/>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AFFCDE1D-EE21-276E-79CD-5422756D9794}"/>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228CFCAA-0CF1-B5E8-2892-C7B9FD65F930}"/>
              </a:ext>
            </a:extLst>
          </p:cNvPr>
          <p:cNvSpPr txBox="1">
            <a:spLocks/>
          </p:cNvSpPr>
          <p:nvPr/>
        </p:nvSpPr>
        <p:spPr>
          <a:xfrm>
            <a:off x="1981200" y="227013"/>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ea typeface="Cambria" panose="02040503050406030204" pitchFamily="18" charset="0"/>
                <a:cs typeface="Times New Roman" panose="02020603050405020304" pitchFamily="18" charset="0"/>
              </a:rPr>
              <a:t>Proposed System</a:t>
            </a:r>
          </a:p>
        </p:txBody>
      </p:sp>
      <p:sp>
        <p:nvSpPr>
          <p:cNvPr id="10" name="Rectangle 2">
            <a:extLst>
              <a:ext uri="{FF2B5EF4-FFF2-40B4-BE49-F238E27FC236}">
                <a16:creationId xmlns:a16="http://schemas.microsoft.com/office/drawing/2014/main" id="{8593946A-D834-5A11-0A9F-E992D4DD7567}"/>
              </a:ext>
            </a:extLst>
          </p:cNvPr>
          <p:cNvSpPr>
            <a:spLocks noChangeArrowheads="1"/>
          </p:cNvSpPr>
          <p:nvPr/>
        </p:nvSpPr>
        <p:spPr bwMode="auto">
          <a:xfrm>
            <a:off x="706073" y="1705646"/>
            <a:ext cx="10779854"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mobile application that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continuously monitors SMS and QR code scans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detect phishing attacks in real time. </a:t>
            </a:r>
          </a:p>
          <a:p>
            <a:pPr marL="342900" marR="0" lvl="0" indent="-342900"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NLP for SMS analysis and QR Scans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(detects urgency, suspicious patterns, sender anomalies). </a:t>
            </a:r>
          </a:p>
          <a:p>
            <a:pPr marL="342900" marR="0" lvl="0" indent="-342900"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Processing Pipeline:</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Collection(QR &amp; SMS) → Data Processing → Data Filtering → AI/ML Detection → Continuous Monitoring → Feedback Loop </a:t>
            </a:r>
          </a:p>
          <a:p>
            <a:pPr marL="342900" marR="0" lvl="0" indent="-342900"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instant alerts, risk scores, and preventive actions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(block/report/ignore). </a:t>
            </a:r>
          </a:p>
          <a:p>
            <a:pPr marL="342900" marR="0" lvl="0" indent="-342900"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Computer Vision + URL analysis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identify malicious QR codes and unsafe links. </a:t>
            </a:r>
          </a:p>
          <a:p>
            <a:pPr marL="342900" marR="0" lvl="0" indent="-342900" defTabSz="914400" rtl="0" eaLnBrk="0" fontAlgn="base" latinLnBrk="0" hangingPunct="0">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Improves accuracy over time using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feedback and adaptive learning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a:latin typeface="Times New Roman" panose="02020603050405020304" pitchFamily="18" charset="0"/>
                <a:cs typeface="Times New Roman" panose="02020603050405020304" pitchFamily="18" charset="0"/>
              </a:rPr>
              <a:t>Objectives</a:t>
            </a:r>
          </a:p>
        </p:txBody>
      </p:sp>
      <p:sp>
        <p:nvSpPr>
          <p:cNvPr id="3" name="Content Placeholder 2"/>
          <p:cNvSpPr>
            <a:spLocks noGrp="1"/>
          </p:cNvSpPr>
          <p:nvPr>
            <p:ph idx="1"/>
          </p:nvPr>
        </p:nvSpPr>
        <p:spPr>
          <a:xfrm>
            <a:off x="609600" y="1600201"/>
            <a:ext cx="10972800" cy="4525963"/>
          </a:xfrm>
        </p:spPr>
        <p:txBody>
          <a:bodyPr>
            <a:normAutofit/>
          </a:bodyPr>
          <a:lstStyle/>
          <a:p>
            <a:pPr marL="457200" lvl="0" indent="-457200" algn="just" eaLnBrk="0" fontAlgn="base" hangingPunct="0">
              <a:spcBef>
                <a:spcPct val="0"/>
              </a:spcBef>
              <a:spcAft>
                <a:spcPct val="0"/>
              </a:spcAft>
              <a:buClrTx/>
              <a:buFont typeface="+mj-lt"/>
              <a:buAutoNum type="arabicPeriod"/>
            </a:pPr>
            <a:r>
              <a:rPr lang="en-US" sz="2000" dirty="0">
                <a:latin typeface="Times New Roman" panose="02020603050405020304" pitchFamily="18" charset="0"/>
                <a:cs typeface="Times New Roman" panose="02020603050405020304" pitchFamily="18" charset="0"/>
              </a:rPr>
              <a:t>To continuously monitor </a:t>
            </a:r>
            <a:r>
              <a:rPr lang="en-US" sz="2000" b="1" dirty="0">
                <a:latin typeface="Times New Roman" panose="02020603050405020304" pitchFamily="18" charset="0"/>
                <a:cs typeface="Times New Roman" panose="02020603050405020304" pitchFamily="18" charset="0"/>
              </a:rPr>
              <a:t>incoming SMS messages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scanned or embedded QR codes</a:t>
            </a:r>
            <a:r>
              <a:rPr lang="en-US" sz="2000" dirty="0">
                <a:latin typeface="Times New Roman" panose="02020603050405020304" pitchFamily="18" charset="0"/>
                <a:cs typeface="Times New Roman" panose="02020603050405020304" pitchFamily="18" charset="0"/>
              </a:rPr>
              <a:t> in real time.</a:t>
            </a:r>
          </a:p>
          <a:p>
            <a:pPr marL="457200" lvl="0" indent="-457200" algn="just" eaLnBrk="0" fontAlgn="base" hangingPunct="0">
              <a:spcBef>
                <a:spcPct val="0"/>
              </a:spcBef>
              <a:spcAft>
                <a:spcPct val="0"/>
              </a:spcAft>
              <a:buClrTx/>
              <a:buFont typeface="+mj-lt"/>
              <a:buAutoNum type="arabicPeriod"/>
            </a:pPr>
            <a:r>
              <a:rPr lang="en-US" sz="2000" dirty="0">
                <a:latin typeface="Times New Roman" panose="02020603050405020304" pitchFamily="18" charset="0"/>
                <a:cs typeface="Times New Roman" panose="02020603050405020304" pitchFamily="18" charset="0"/>
              </a:rPr>
              <a:t>To preprocess SMS text and QR code images using </a:t>
            </a:r>
            <a:r>
              <a:rPr lang="en-US" sz="2000" b="1" dirty="0">
                <a:latin typeface="Times New Roman" panose="02020603050405020304" pitchFamily="18" charset="0"/>
                <a:cs typeface="Times New Roman" panose="02020603050405020304" pitchFamily="18" charset="0"/>
              </a:rPr>
              <a:t>NLP techniques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computer vision methods</a:t>
            </a:r>
            <a:r>
              <a:rPr lang="en-US" sz="2000" dirty="0">
                <a:latin typeface="Times New Roman" panose="02020603050405020304" pitchFamily="18" charset="0"/>
                <a:cs typeface="Times New Roman" panose="02020603050405020304" pitchFamily="18" charset="0"/>
              </a:rPr>
              <a:t> for reliable feature extraction.</a:t>
            </a:r>
          </a:p>
          <a:p>
            <a:pPr marL="457200" lvl="0" indent="-457200" algn="just" eaLnBrk="0" fontAlgn="base" hangingPunct="0">
              <a:spcBef>
                <a:spcPct val="0"/>
              </a:spcBef>
              <a:spcAft>
                <a:spcPct val="0"/>
              </a:spcAft>
              <a:buClrTx/>
              <a:buFont typeface="+mj-lt"/>
              <a:buAutoNum type="arabicPeriod"/>
            </a:pPr>
            <a:r>
              <a:rPr lang="en-US" sz="2000" dirty="0">
                <a:latin typeface="Times New Roman" panose="02020603050405020304" pitchFamily="18" charset="0"/>
                <a:cs typeface="Times New Roman" panose="02020603050405020304" pitchFamily="18" charset="0"/>
              </a:rPr>
              <a:t>To analyze SMS content using </a:t>
            </a:r>
            <a:r>
              <a:rPr lang="en-US" sz="2000" b="1" dirty="0">
                <a:latin typeface="Times New Roman" panose="02020603050405020304" pitchFamily="18" charset="0"/>
                <a:cs typeface="Times New Roman" panose="02020603050405020304" pitchFamily="18" charset="0"/>
              </a:rPr>
              <a:t>AI/ML models</a:t>
            </a:r>
            <a:r>
              <a:rPr lang="en-US" sz="2000" dirty="0">
                <a:latin typeface="Times New Roman" panose="02020603050405020304" pitchFamily="18" charset="0"/>
                <a:cs typeface="Times New Roman" panose="02020603050405020304" pitchFamily="18" charset="0"/>
              </a:rPr>
              <a:t> for detecting smishing attacks based on context, urgency, and sender patterns.</a:t>
            </a:r>
          </a:p>
          <a:p>
            <a:pPr marL="457200" lvl="0" indent="-457200" algn="just" eaLnBrk="0" fontAlgn="base" hangingPunct="0">
              <a:spcBef>
                <a:spcPct val="0"/>
              </a:spcBef>
              <a:spcAft>
                <a:spcPct val="0"/>
              </a:spcAft>
              <a:buClrTx/>
              <a:buFont typeface="+mj-lt"/>
              <a:buAutoNum type="arabicPeriod"/>
            </a:pPr>
            <a:r>
              <a:rPr lang="en-US" sz="2000" dirty="0">
                <a:latin typeface="Times New Roman" panose="02020603050405020304" pitchFamily="18" charset="0"/>
                <a:cs typeface="Times New Roman" panose="02020603050405020304" pitchFamily="18" charset="0"/>
              </a:rPr>
              <a:t>To detect malicious QR codes using </a:t>
            </a:r>
            <a:r>
              <a:rPr lang="en-US" sz="2000" b="1" dirty="0">
                <a:latin typeface="Times New Roman" panose="02020603050405020304" pitchFamily="18" charset="0"/>
                <a:cs typeface="Times New Roman" panose="02020603050405020304" pitchFamily="18" charset="0"/>
              </a:rPr>
              <a:t>visual analysis</a:t>
            </a:r>
            <a:r>
              <a:rPr lang="en-US" sz="2000" dirty="0">
                <a:latin typeface="Times New Roman" panose="02020603050405020304" pitchFamily="18" charset="0"/>
                <a:cs typeface="Times New Roman" panose="02020603050405020304" pitchFamily="18" charset="0"/>
              </a:rPr>
              <a:t> and </a:t>
            </a:r>
            <a:r>
              <a:rPr lang="en-US" sz="2000" b="1" dirty="0">
                <a:latin typeface="Times New Roman" panose="02020603050405020304" pitchFamily="18" charset="0"/>
                <a:cs typeface="Times New Roman" panose="02020603050405020304" pitchFamily="18" charset="0"/>
              </a:rPr>
              <a:t>URL safety classification models.</a:t>
            </a:r>
            <a:endParaRPr lang="en-US" sz="2000" dirty="0">
              <a:latin typeface="Times New Roman" panose="02020603050405020304" pitchFamily="18" charset="0"/>
              <a:cs typeface="Times New Roman" panose="02020603050405020304" pitchFamily="18" charset="0"/>
            </a:endParaRPr>
          </a:p>
          <a:p>
            <a:pPr marL="457200" lvl="0" indent="-457200" algn="just" eaLnBrk="0" fontAlgn="base" hangingPunct="0">
              <a:spcBef>
                <a:spcPct val="0"/>
              </a:spcBef>
              <a:spcAft>
                <a:spcPct val="0"/>
              </a:spcAft>
              <a:buClrTx/>
              <a:buFont typeface="+mj-lt"/>
              <a:buAutoNum type="arabicPeriod"/>
            </a:pPr>
            <a:r>
              <a:rPr lang="en-US" sz="2000" dirty="0">
                <a:latin typeface="Times New Roman" panose="02020603050405020304" pitchFamily="18" charset="0"/>
                <a:cs typeface="Times New Roman" panose="02020603050405020304" pitchFamily="18" charset="0"/>
              </a:rPr>
              <a:t>To correlate SMS content with QR-decoded URLs to identify </a:t>
            </a:r>
            <a:r>
              <a:rPr lang="en-US" sz="2000" b="1" dirty="0">
                <a:latin typeface="Times New Roman" panose="02020603050405020304" pitchFamily="18" charset="0"/>
                <a:cs typeface="Times New Roman" panose="02020603050405020304" pitchFamily="18" charset="0"/>
              </a:rPr>
              <a:t>contextual phishing attacks</a:t>
            </a:r>
            <a:r>
              <a:rPr lang="en-US" sz="2000" dirty="0">
                <a:latin typeface="Times New Roman" panose="02020603050405020304" pitchFamily="18" charset="0"/>
                <a:cs typeface="Times New Roman" panose="02020603050405020304" pitchFamily="18" charset="0"/>
              </a:rPr>
              <a:t> and brand impersonation attempts.</a:t>
            </a:r>
            <a:endParaRPr lang="en-US" altLang="en-US" sz="2000" dirty="0">
              <a:latin typeface="Times New Roman" panose="02020603050405020304" pitchFamily="18" charset="0"/>
              <a:cs typeface="Times New Roman" panose="02020603050405020304" pitchFamily="18" charset="0"/>
            </a:endParaRPr>
          </a:p>
          <a:p>
            <a:pPr marL="457200" lvl="0" indent="-457200" algn="just" defTabSz="914400" eaLnBrk="0" fontAlgn="base" hangingPunct="0">
              <a:spcBef>
                <a:spcPct val="0"/>
              </a:spcBef>
              <a:spcAft>
                <a:spcPct val="0"/>
              </a:spcAft>
              <a:buFont typeface="+mj-lt"/>
              <a:buAutoNum type="arabicPeriod"/>
            </a:pPr>
            <a:r>
              <a:rPr lang="en-US" altLang="en-US" sz="2000" dirty="0">
                <a:latin typeface="Times New Roman" panose="02020603050405020304" pitchFamily="18" charset="0"/>
                <a:cs typeface="Times New Roman" panose="02020603050405020304" pitchFamily="18" charset="0"/>
              </a:rPr>
              <a:t>To develop a </a:t>
            </a:r>
            <a:r>
              <a:rPr lang="en-US" altLang="en-US" sz="2000" b="1" dirty="0">
                <a:latin typeface="Times New Roman" panose="02020603050405020304" pitchFamily="18" charset="0"/>
                <a:cs typeface="Times New Roman" panose="02020603050405020304" pitchFamily="18" charset="0"/>
              </a:rPr>
              <a:t>real-time AI/ML-based </a:t>
            </a:r>
            <a:r>
              <a:rPr lang="en-US" altLang="en-US" sz="2000" b="1" dirty="0" err="1">
                <a:latin typeface="Times New Roman" panose="02020603050405020304" pitchFamily="18" charset="0"/>
                <a:cs typeface="Times New Roman" panose="02020603050405020304" pitchFamily="18" charset="0"/>
              </a:rPr>
              <a:t>Quishing</a:t>
            </a:r>
            <a:r>
              <a:rPr lang="en-US" altLang="en-US" sz="2000" b="1" dirty="0">
                <a:latin typeface="Times New Roman" panose="02020603050405020304" pitchFamily="18" charset="0"/>
                <a:cs typeface="Times New Roman" panose="02020603050405020304" pitchFamily="18" charset="0"/>
              </a:rPr>
              <a:t> and Smishing detection and prevention system</a:t>
            </a:r>
            <a:r>
              <a:rPr lang="en-US" altLang="en-US" sz="2000" dirty="0">
                <a:latin typeface="Times New Roman" panose="02020603050405020304" pitchFamily="18" charset="0"/>
                <a:cs typeface="Times New Roman" panose="02020603050405020304" pitchFamily="18" charset="0"/>
              </a:rPr>
              <a:t> for malicious links and QR codes used in digital scans and Threat SMS</a:t>
            </a:r>
            <a:endParaRPr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0B6831B-487A-CE65-3097-1C4E1ED669DF}"/>
              </a:ext>
            </a:extLst>
          </p:cNvPr>
          <p:cNvSpPr>
            <a:spLocks noGrp="1"/>
          </p:cNvSpPr>
          <p:nvPr>
            <p:ph type="dt" sz="half" idx="10"/>
          </p:nvPr>
        </p:nvSpPr>
        <p:spPr/>
        <p:txBody>
          <a:bodyPr/>
          <a:lstStyle/>
          <a:p>
            <a:r>
              <a:rPr lang="en-IN">
                <a:latin typeface="Times New Roman" panose="02020603050405020304" pitchFamily="18" charset="0"/>
                <a:cs typeface="Times New Roman" panose="02020603050405020304" pitchFamily="18" charset="0"/>
              </a:rPr>
              <a:t>24/04/2026</a:t>
            </a:r>
            <a:endParaRPr lang="en-US">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EAF5BF9C-FAFF-C25A-73FC-2A841FA6D653}"/>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A18D813F-8480-C58F-90F2-B139C9BC9B80}"/>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FB3D633D-8A77-70C3-1864-5102C2FC15BA}"/>
              </a:ext>
            </a:extLst>
          </p:cNvPr>
          <p:cNvSpPr txBox="1">
            <a:spLocks/>
          </p:cNvSpPr>
          <p:nvPr/>
        </p:nvSpPr>
        <p:spPr>
          <a:xfrm>
            <a:off x="1981200" y="227013"/>
            <a:ext cx="8229600" cy="1143000"/>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ea typeface="Cambria" panose="02040503050406030204" pitchFamily="18" charset="0"/>
                <a:cs typeface="Times New Roman" panose="02020603050405020304" pitchFamily="18" charset="0"/>
              </a:rPr>
              <a:t>Objectives of the Proposed System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D18EEB7-2FD2-FE1C-CF83-A594DB32A35C}"/>
              </a:ext>
            </a:extLst>
          </p:cNvPr>
          <p:cNvSpPr txBox="1"/>
          <p:nvPr/>
        </p:nvSpPr>
        <p:spPr>
          <a:xfrm>
            <a:off x="3695725" y="45345"/>
            <a:ext cx="4645636" cy="646331"/>
          </a:xfrm>
          <a:prstGeom prst="rect">
            <a:avLst/>
          </a:prstGeom>
          <a:solidFill>
            <a:schemeClr val="accent1">
              <a:lumMod val="60000"/>
              <a:lumOff val="40000"/>
            </a:schemeClr>
          </a:solidFill>
        </p:spPr>
        <p:txBody>
          <a:bodyPr wrap="square" rtlCol="0">
            <a:spAutoFit/>
          </a:bodyPr>
          <a:lstStyle/>
          <a:p>
            <a:r>
              <a:rPr lang="en-IN" sz="3600" dirty="0">
                <a:latin typeface="Times New Roman" panose="02020603050405020304" pitchFamily="18" charset="0"/>
                <a:cs typeface="Times New Roman" panose="02020603050405020304" pitchFamily="18" charset="0"/>
              </a:rPr>
              <a:t>Proposed Methodology</a:t>
            </a:r>
            <a:endParaRPr lang="en-US" sz="36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E75F611-66B0-CCBF-B7D1-C4223193CE29}"/>
              </a:ext>
            </a:extLst>
          </p:cNvPr>
          <p:cNvSpPr>
            <a:spLocks noGrp="1"/>
          </p:cNvSpPr>
          <p:nvPr>
            <p:ph type="dt" sz="half" idx="10"/>
          </p:nvPr>
        </p:nvSpPr>
        <p:spPr/>
        <p:txBody>
          <a:bodyPr/>
          <a:lstStyle/>
          <a:p>
            <a:r>
              <a:rPr lang="en-IN"/>
              <a:t>24/04/2026</a:t>
            </a:r>
            <a:endParaRPr lang="en-US"/>
          </a:p>
        </p:txBody>
      </p:sp>
      <p:sp>
        <p:nvSpPr>
          <p:cNvPr id="6" name="Footer Placeholder 5">
            <a:extLst>
              <a:ext uri="{FF2B5EF4-FFF2-40B4-BE49-F238E27FC236}">
                <a16:creationId xmlns:a16="http://schemas.microsoft.com/office/drawing/2014/main" id="{F39FD651-F9E1-CD1E-2202-D8213DE404DD}"/>
              </a:ext>
            </a:extLst>
          </p:cNvPr>
          <p:cNvSpPr>
            <a:spLocks noGrp="1"/>
          </p:cNvSpPr>
          <p:nvPr>
            <p:ph type="ftr" sz="quarter" idx="11"/>
          </p:nvPr>
        </p:nvSpPr>
        <p:spPr/>
        <p:txBody>
          <a:bodyPr/>
          <a:lstStyle/>
          <a:p>
            <a:r>
              <a:rPr lang="en-US"/>
              <a:t>BMSIT&amp;M, CSE                                 </a:t>
            </a:r>
          </a:p>
        </p:txBody>
      </p:sp>
      <p:sp>
        <p:nvSpPr>
          <p:cNvPr id="7" name="Slide Number Placeholder 6">
            <a:extLst>
              <a:ext uri="{FF2B5EF4-FFF2-40B4-BE49-F238E27FC236}">
                <a16:creationId xmlns:a16="http://schemas.microsoft.com/office/drawing/2014/main" id="{2019028E-C8A1-024E-87E9-48CCC52B62CD}"/>
              </a:ext>
            </a:extLst>
          </p:cNvPr>
          <p:cNvSpPr>
            <a:spLocks noGrp="1"/>
          </p:cNvSpPr>
          <p:nvPr>
            <p:ph type="sldNum" sz="quarter" idx="12"/>
          </p:nvPr>
        </p:nvSpPr>
        <p:spPr/>
        <p:txBody>
          <a:bodyPr/>
          <a:lstStyle/>
          <a:p>
            <a:fld id="{C1FF6DA9-008F-8B48-92A6-B652298478BF}" type="slidenum">
              <a:rPr lang="en-US" smtClean="0"/>
              <a:t>13</a:t>
            </a:fld>
            <a:endParaRPr lang="en-US"/>
          </a:p>
        </p:txBody>
      </p:sp>
      <p:pic>
        <p:nvPicPr>
          <p:cNvPr id="14" name="Picture 13">
            <a:extLst>
              <a:ext uri="{FF2B5EF4-FFF2-40B4-BE49-F238E27FC236}">
                <a16:creationId xmlns:a16="http://schemas.microsoft.com/office/drawing/2014/main" id="{7C5B0D51-1717-AB45-34A7-6DF054309258}"/>
              </a:ext>
            </a:extLst>
          </p:cNvPr>
          <p:cNvPicPr>
            <a:picLocks noChangeAspect="1"/>
          </p:cNvPicPr>
          <p:nvPr/>
        </p:nvPicPr>
        <p:blipFill>
          <a:blip r:embed="rId2"/>
          <a:srcRect l="3992" t="5334" r="1791"/>
          <a:stretch>
            <a:fillRect/>
          </a:stretch>
        </p:blipFill>
        <p:spPr>
          <a:xfrm>
            <a:off x="1524000" y="691676"/>
            <a:ext cx="9621520" cy="6166324"/>
          </a:xfrm>
          <a:prstGeom prst="rect">
            <a:avLst/>
          </a:prstGeom>
        </p:spPr>
      </p:pic>
      <p:sp>
        <p:nvSpPr>
          <p:cNvPr id="2" name="Rectangle 1">
            <a:extLst>
              <a:ext uri="{FF2B5EF4-FFF2-40B4-BE49-F238E27FC236}">
                <a16:creationId xmlns:a16="http://schemas.microsoft.com/office/drawing/2014/main" id="{4285C1FF-3F44-93F7-D455-5CCEAAFB1F98}"/>
              </a:ext>
            </a:extLst>
          </p:cNvPr>
          <p:cNvSpPr/>
          <p:nvPr/>
        </p:nvSpPr>
        <p:spPr>
          <a:xfrm>
            <a:off x="3886200" y="3647661"/>
            <a:ext cx="2295939" cy="268356"/>
          </a:xfrm>
          <a:prstGeom prst="rect">
            <a:avLst/>
          </a:prstGeom>
          <a:solidFill>
            <a:srgbClr val="F8EDEC"/>
          </a:solidFill>
          <a:ln>
            <a:solidFill>
              <a:srgbClr val="F8EDE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9" name="Rectangle 8">
            <a:extLst>
              <a:ext uri="{FF2B5EF4-FFF2-40B4-BE49-F238E27FC236}">
                <a16:creationId xmlns:a16="http://schemas.microsoft.com/office/drawing/2014/main" id="{CD0F3020-444D-880E-41D3-D5F99C9E8AA1}"/>
              </a:ext>
            </a:extLst>
          </p:cNvPr>
          <p:cNvSpPr/>
          <p:nvPr/>
        </p:nvSpPr>
        <p:spPr>
          <a:xfrm>
            <a:off x="7193391" y="3640660"/>
            <a:ext cx="2295939" cy="268356"/>
          </a:xfrm>
          <a:prstGeom prst="rect">
            <a:avLst/>
          </a:prstGeom>
          <a:solidFill>
            <a:srgbClr val="F8EDEC"/>
          </a:solidFill>
          <a:ln>
            <a:solidFill>
              <a:srgbClr val="F8EDE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F5DD8-26E4-D95E-1CC3-65A837E38A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DAB2A-0C05-0C6D-0C72-349D78125EFA}"/>
              </a:ext>
            </a:extLst>
          </p:cNvPr>
          <p:cNvSpPr>
            <a:spLocks noGrp="1"/>
          </p:cNvSpPr>
          <p:nvPr>
            <p:ph type="title"/>
          </p:nvPr>
        </p:nvSpPr>
        <p:spPr/>
        <p:txBody>
          <a:bodyPr>
            <a:normAutofit fontScale="90000"/>
          </a:bodyPr>
          <a:lstStyle/>
          <a:p>
            <a:r>
              <a:rPr dirty="0"/>
              <a:t>Proposed Methodology</a:t>
            </a:r>
          </a:p>
        </p:txBody>
      </p:sp>
      <p:sp>
        <p:nvSpPr>
          <p:cNvPr id="3" name="Content Placeholder 2">
            <a:extLst>
              <a:ext uri="{FF2B5EF4-FFF2-40B4-BE49-F238E27FC236}">
                <a16:creationId xmlns:a16="http://schemas.microsoft.com/office/drawing/2014/main" id="{08AFB6FF-E1A5-DC91-1FFA-53A9B9C67340}"/>
              </a:ext>
            </a:extLst>
          </p:cNvPr>
          <p:cNvSpPr>
            <a:spLocks noGrp="1"/>
          </p:cNvSpPr>
          <p:nvPr>
            <p:ph idx="1"/>
          </p:nvPr>
        </p:nvSpPr>
        <p:spPr>
          <a:xfrm>
            <a:off x="975360" y="960757"/>
            <a:ext cx="11348720" cy="5760719"/>
          </a:xfrm>
        </p:spPr>
        <p:txBody>
          <a:bodyPr>
            <a:noAutofit/>
          </a:bodyPr>
          <a:lstStyle/>
          <a:p>
            <a:r>
              <a:rPr lang="en-IN" sz="2000" b="1" dirty="0">
                <a:latin typeface="Times New Roman" panose="02020603050405020304" pitchFamily="18" charset="0"/>
                <a:cs typeface="Times New Roman" panose="02020603050405020304" pitchFamily="18" charset="0"/>
              </a:rPr>
              <a:t>Data Acquisition (Input Layer)</a:t>
            </a:r>
            <a:r>
              <a:rPr lang="en-IN" sz="20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The system captures </a:t>
            </a:r>
            <a:r>
              <a:rPr lang="en-IN" sz="2000" b="1" dirty="0">
                <a:latin typeface="Times New Roman" panose="02020603050405020304" pitchFamily="18" charset="0"/>
                <a:cs typeface="Times New Roman" panose="02020603050405020304" pitchFamily="18" charset="0"/>
              </a:rPr>
              <a:t>incoming SMS messages</a:t>
            </a:r>
            <a:r>
              <a:rPr lang="en-IN" sz="2000" dirty="0">
                <a:latin typeface="Times New Roman" panose="02020603050405020304" pitchFamily="18" charset="0"/>
                <a:cs typeface="Times New Roman" panose="02020603050405020304" pitchFamily="18" charset="0"/>
              </a:rPr>
              <a:t> and </a:t>
            </a:r>
            <a:r>
              <a:rPr lang="en-IN" sz="2000" b="1" dirty="0">
                <a:latin typeface="Times New Roman" panose="02020603050405020304" pitchFamily="18" charset="0"/>
                <a:cs typeface="Times New Roman" panose="02020603050405020304" pitchFamily="18" charset="0"/>
              </a:rPr>
              <a:t>QR codes</a:t>
            </a:r>
            <a:r>
              <a:rPr lang="en-IN" sz="2000" dirty="0">
                <a:latin typeface="Times New Roman" panose="02020603050405020304" pitchFamily="18" charset="0"/>
                <a:cs typeface="Times New Roman" panose="02020603050405020304" pitchFamily="18" charset="0"/>
              </a:rPr>
              <a:t> (via camera or image scan). </a:t>
            </a:r>
          </a:p>
          <a:p>
            <a:pPr lvl="1"/>
            <a:r>
              <a:rPr lang="en-IN" sz="2000" dirty="0">
                <a:latin typeface="Times New Roman" panose="02020603050405020304" pitchFamily="18" charset="0"/>
                <a:cs typeface="Times New Roman" panose="02020603050405020304" pitchFamily="18" charset="0"/>
              </a:rPr>
              <a:t>Extracts basic metadata such as sender ID, timestamp, and raw QR content. </a:t>
            </a:r>
          </a:p>
          <a:p>
            <a:r>
              <a:rPr lang="en-IN" sz="2000" b="1" dirty="0">
                <a:latin typeface="Times New Roman" panose="02020603050405020304" pitchFamily="18" charset="0"/>
                <a:cs typeface="Times New Roman" panose="02020603050405020304" pitchFamily="18" charset="0"/>
              </a:rPr>
              <a:t>Preprocessing Stage</a:t>
            </a:r>
            <a:r>
              <a:rPr lang="en-IN" sz="20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SMS text is cleaned using NLP (lowercasing, tokenization, </a:t>
            </a:r>
            <a:r>
              <a:rPr lang="en-IN" sz="2000" dirty="0" err="1">
                <a:latin typeface="Times New Roman" panose="02020603050405020304" pitchFamily="18" charset="0"/>
                <a:cs typeface="Times New Roman" panose="02020603050405020304" pitchFamily="18" charset="0"/>
              </a:rPr>
              <a:t>stopword</a:t>
            </a:r>
            <a:r>
              <a:rPr lang="en-IN" sz="2000" dirty="0">
                <a:latin typeface="Times New Roman" panose="02020603050405020304" pitchFamily="18" charset="0"/>
                <a:cs typeface="Times New Roman" panose="02020603050405020304" pitchFamily="18" charset="0"/>
              </a:rPr>
              <a:t> removal). </a:t>
            </a:r>
          </a:p>
          <a:p>
            <a:pPr lvl="1"/>
            <a:r>
              <a:rPr lang="en-IN" sz="2000" dirty="0">
                <a:latin typeface="Times New Roman" panose="02020603050405020304" pitchFamily="18" charset="0"/>
                <a:cs typeface="Times New Roman" panose="02020603050405020304" pitchFamily="18" charset="0"/>
              </a:rPr>
              <a:t>QR codes are decoded to extract embedded </a:t>
            </a:r>
            <a:r>
              <a:rPr lang="en-IN" sz="2000" b="1" dirty="0">
                <a:latin typeface="Times New Roman" panose="02020603050405020304" pitchFamily="18" charset="0"/>
                <a:cs typeface="Times New Roman" panose="02020603050405020304" pitchFamily="18" charset="0"/>
              </a:rPr>
              <a:t>URLs or text data</a:t>
            </a:r>
            <a:r>
              <a:rPr lang="en-IN" sz="2000" dirty="0">
                <a:latin typeface="Times New Roman" panose="02020603050405020304" pitchFamily="18" charset="0"/>
                <a:cs typeface="Times New Roman" panose="02020603050405020304" pitchFamily="18" charset="0"/>
              </a:rPr>
              <a:t>. </a:t>
            </a:r>
          </a:p>
          <a:p>
            <a:r>
              <a:rPr lang="en-IN" sz="2000" b="1" dirty="0">
                <a:latin typeface="Times New Roman" panose="02020603050405020304" pitchFamily="18" charset="0"/>
                <a:cs typeface="Times New Roman" panose="02020603050405020304" pitchFamily="18" charset="0"/>
              </a:rPr>
              <a:t>Feature Extraction</a:t>
            </a:r>
            <a:r>
              <a:rPr lang="en-IN" sz="20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From SMS: keywords, urgency indicators, suspicious phrases, sender patterns. </a:t>
            </a:r>
          </a:p>
          <a:p>
            <a:pPr lvl="1"/>
            <a:r>
              <a:rPr lang="en-IN" sz="2000" dirty="0">
                <a:latin typeface="Times New Roman" panose="02020603050405020304" pitchFamily="18" charset="0"/>
                <a:cs typeface="Times New Roman" panose="02020603050405020304" pitchFamily="18" charset="0"/>
              </a:rPr>
              <a:t>From QR/URL: domain details, URL length, special characters, visual anomalies. </a:t>
            </a:r>
          </a:p>
          <a:p>
            <a:r>
              <a:rPr lang="en-IN" sz="2000" b="1" dirty="0">
                <a:latin typeface="Times New Roman" panose="02020603050405020304" pitchFamily="18" charset="0"/>
                <a:cs typeface="Times New Roman" panose="02020603050405020304" pitchFamily="18" charset="0"/>
              </a:rPr>
              <a:t>Data Filtering</a:t>
            </a:r>
            <a:r>
              <a:rPr lang="en-IN" sz="20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Removes noise, duplicate entries, and irrelevant data. </a:t>
            </a:r>
          </a:p>
          <a:p>
            <a:pPr lvl="1"/>
            <a:r>
              <a:rPr lang="en-IN" sz="2000" dirty="0">
                <a:latin typeface="Times New Roman" panose="02020603050405020304" pitchFamily="18" charset="0"/>
                <a:cs typeface="Times New Roman" panose="02020603050405020304" pitchFamily="18" charset="0"/>
              </a:rPr>
              <a:t>Filters trusted sources using whitelist/known safe databases. </a:t>
            </a:r>
          </a:p>
          <a:p>
            <a:r>
              <a:rPr lang="en-IN" sz="2000" b="1" dirty="0">
                <a:latin typeface="Times New Roman" panose="02020603050405020304" pitchFamily="18" charset="0"/>
                <a:cs typeface="Times New Roman" panose="02020603050405020304" pitchFamily="18" charset="0"/>
              </a:rPr>
              <a:t>Detection Engine (AI/ML Analysis)</a:t>
            </a:r>
            <a:r>
              <a:rPr lang="en-IN" sz="2000" dirty="0">
                <a:latin typeface="Times New Roman" panose="02020603050405020304" pitchFamily="18" charset="0"/>
                <a:cs typeface="Times New Roman" panose="02020603050405020304" pitchFamily="18" charset="0"/>
              </a:rPr>
              <a:t> </a:t>
            </a:r>
          </a:p>
          <a:p>
            <a:pPr lvl="1"/>
            <a:r>
              <a:rPr lang="en-IN" sz="2000" b="1" dirty="0">
                <a:latin typeface="Times New Roman" panose="02020603050405020304" pitchFamily="18" charset="0"/>
                <a:cs typeface="Times New Roman" panose="02020603050405020304" pitchFamily="18" charset="0"/>
              </a:rPr>
              <a:t>Smishing Model:</a:t>
            </a:r>
            <a:r>
              <a:rPr lang="en-IN" sz="2000" dirty="0">
                <a:latin typeface="Times New Roman" panose="02020603050405020304" pitchFamily="18" charset="0"/>
                <a:cs typeface="Times New Roman" panose="02020603050405020304" pitchFamily="18" charset="0"/>
              </a:rPr>
              <a:t> Classifies SMS using NLP-based ML algorithms. </a:t>
            </a:r>
          </a:p>
          <a:p>
            <a:pPr lvl="1"/>
            <a:r>
              <a:rPr lang="en-IN" sz="2000" b="1" dirty="0" err="1">
                <a:latin typeface="Times New Roman" panose="02020603050405020304" pitchFamily="18" charset="0"/>
                <a:cs typeface="Times New Roman" panose="02020603050405020304" pitchFamily="18" charset="0"/>
              </a:rPr>
              <a:t>Quishing</a:t>
            </a:r>
            <a:r>
              <a:rPr lang="en-IN" sz="2000" b="1" dirty="0">
                <a:latin typeface="Times New Roman" panose="02020603050405020304" pitchFamily="18" charset="0"/>
                <a:cs typeface="Times New Roman" panose="02020603050405020304" pitchFamily="18" charset="0"/>
              </a:rPr>
              <a:t> Model:</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Analyzes</a:t>
            </a:r>
            <a:r>
              <a:rPr lang="en-IN" sz="2000" dirty="0">
                <a:latin typeface="Times New Roman" panose="02020603050405020304" pitchFamily="18" charset="0"/>
                <a:cs typeface="Times New Roman" panose="02020603050405020304" pitchFamily="18" charset="0"/>
              </a:rPr>
              <a:t> QR/URL using ML + heuristic rules. </a:t>
            </a:r>
          </a:p>
        </p:txBody>
      </p:sp>
      <p:sp>
        <p:nvSpPr>
          <p:cNvPr id="4" name="TextBox 3">
            <a:extLst>
              <a:ext uri="{FF2B5EF4-FFF2-40B4-BE49-F238E27FC236}">
                <a16:creationId xmlns:a16="http://schemas.microsoft.com/office/drawing/2014/main" id="{4B1D5631-1EE1-227F-7DAA-EA0711D38DE0}"/>
              </a:ext>
            </a:extLst>
          </p:cNvPr>
          <p:cNvSpPr txBox="1"/>
          <p:nvPr/>
        </p:nvSpPr>
        <p:spPr>
          <a:xfrm>
            <a:off x="2245360" y="279501"/>
            <a:ext cx="6918960" cy="646331"/>
          </a:xfrm>
          <a:prstGeom prst="rect">
            <a:avLst/>
          </a:prstGeom>
          <a:solidFill>
            <a:schemeClr val="accent1">
              <a:lumMod val="60000"/>
              <a:lumOff val="40000"/>
            </a:schemeClr>
          </a:solidFill>
        </p:spPr>
        <p:txBody>
          <a:bodyPr wrap="square" rtlCol="0">
            <a:spAutoFit/>
          </a:bodyPr>
          <a:lstStyle/>
          <a:p>
            <a:pPr algn="ctr"/>
            <a:r>
              <a:rPr lang="en-IN" sz="3600" dirty="0">
                <a:latin typeface="Times New Roman" panose="02020603050405020304" pitchFamily="18" charset="0"/>
                <a:cs typeface="Times New Roman" panose="02020603050405020304" pitchFamily="18" charset="0"/>
              </a:rPr>
              <a:t>Proposed Methodology</a:t>
            </a:r>
            <a:endParaRPr lang="en-US" sz="36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3EC5C5B-F905-A840-76F9-FACABEBBFAC4}"/>
              </a:ext>
            </a:extLst>
          </p:cNvPr>
          <p:cNvSpPr>
            <a:spLocks noGrp="1"/>
          </p:cNvSpPr>
          <p:nvPr>
            <p:ph type="dt" sz="half" idx="10"/>
          </p:nvPr>
        </p:nvSpPr>
        <p:spPr/>
        <p:txBody>
          <a:bodyPr/>
          <a:lstStyle/>
          <a:p>
            <a:r>
              <a:rPr lang="en-IN"/>
              <a:t>24/04/2026</a:t>
            </a:r>
            <a:endParaRPr lang="en-US"/>
          </a:p>
        </p:txBody>
      </p:sp>
      <p:sp>
        <p:nvSpPr>
          <p:cNvPr id="6" name="Footer Placeholder 5">
            <a:extLst>
              <a:ext uri="{FF2B5EF4-FFF2-40B4-BE49-F238E27FC236}">
                <a16:creationId xmlns:a16="http://schemas.microsoft.com/office/drawing/2014/main" id="{C408FE70-628A-C5A0-2830-F7C731375687}"/>
              </a:ext>
            </a:extLst>
          </p:cNvPr>
          <p:cNvSpPr>
            <a:spLocks noGrp="1"/>
          </p:cNvSpPr>
          <p:nvPr>
            <p:ph type="ftr" sz="quarter" idx="11"/>
          </p:nvPr>
        </p:nvSpPr>
        <p:spPr/>
        <p:txBody>
          <a:bodyPr/>
          <a:lstStyle/>
          <a:p>
            <a:r>
              <a:rPr lang="en-US"/>
              <a:t>BMSIT&amp;M, CSE                                 </a:t>
            </a:r>
          </a:p>
        </p:txBody>
      </p:sp>
      <p:sp>
        <p:nvSpPr>
          <p:cNvPr id="7" name="Slide Number Placeholder 6">
            <a:extLst>
              <a:ext uri="{FF2B5EF4-FFF2-40B4-BE49-F238E27FC236}">
                <a16:creationId xmlns:a16="http://schemas.microsoft.com/office/drawing/2014/main" id="{360349FE-E028-59F4-5EB1-1A07EBBA16EC}"/>
              </a:ext>
            </a:extLst>
          </p:cNvPr>
          <p:cNvSpPr>
            <a:spLocks noGrp="1"/>
          </p:cNvSpPr>
          <p:nvPr>
            <p:ph type="sldNum" sz="quarter" idx="12"/>
          </p:nvPr>
        </p:nvSpPr>
        <p:spPr/>
        <p:txBody>
          <a:bodyPr/>
          <a:lstStyle/>
          <a:p>
            <a:fld id="{C1FF6DA9-008F-8B48-92A6-B652298478BF}" type="slidenum">
              <a:rPr lang="en-US" smtClean="0"/>
              <a:t>14</a:t>
            </a:fld>
            <a:endParaRPr lang="en-US"/>
          </a:p>
        </p:txBody>
      </p:sp>
    </p:spTree>
    <p:extLst>
      <p:ext uri="{BB962C8B-B14F-4D97-AF65-F5344CB8AC3E}">
        <p14:creationId xmlns:p14="http://schemas.microsoft.com/office/powerpoint/2010/main" val="36806386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4E3E4-580C-34AB-6273-EB63472B3C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C940EC-CA3D-2CE6-3F91-B277C0046EA9}"/>
              </a:ext>
            </a:extLst>
          </p:cNvPr>
          <p:cNvSpPr>
            <a:spLocks noGrp="1"/>
          </p:cNvSpPr>
          <p:nvPr>
            <p:ph type="title"/>
          </p:nvPr>
        </p:nvSpPr>
        <p:spPr/>
        <p:txBody>
          <a:bodyPr>
            <a:normAutofit fontScale="90000"/>
          </a:bodyPr>
          <a:lstStyle/>
          <a:p>
            <a:r>
              <a:rPr dirty="0"/>
              <a:t>Proposed Methodology</a:t>
            </a:r>
          </a:p>
        </p:txBody>
      </p:sp>
      <p:sp>
        <p:nvSpPr>
          <p:cNvPr id="3" name="Content Placeholder 2">
            <a:extLst>
              <a:ext uri="{FF2B5EF4-FFF2-40B4-BE49-F238E27FC236}">
                <a16:creationId xmlns:a16="http://schemas.microsoft.com/office/drawing/2014/main" id="{736019DB-10AC-BFAA-E353-742DAD6CE4A9}"/>
              </a:ext>
            </a:extLst>
          </p:cNvPr>
          <p:cNvSpPr>
            <a:spLocks noGrp="1"/>
          </p:cNvSpPr>
          <p:nvPr>
            <p:ph idx="1"/>
          </p:nvPr>
        </p:nvSpPr>
        <p:spPr>
          <a:xfrm>
            <a:off x="731520" y="1126916"/>
            <a:ext cx="11348720" cy="5028884"/>
          </a:xfrm>
        </p:spPr>
        <p:txBody>
          <a:bodyPr>
            <a:noAutofit/>
          </a:bodyPr>
          <a:lstStyle/>
          <a:p>
            <a:r>
              <a:rPr lang="en-IN" sz="2000" b="1" dirty="0">
                <a:latin typeface="Times New Roman" panose="02020603050405020304" pitchFamily="18" charset="0"/>
                <a:cs typeface="Times New Roman" panose="02020603050405020304" pitchFamily="18" charset="0"/>
              </a:rPr>
              <a:t>Correlation Module</a:t>
            </a:r>
            <a:r>
              <a:rPr lang="en-IN" sz="20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Links SMS content with extracted QR/URL data. </a:t>
            </a:r>
          </a:p>
          <a:p>
            <a:pPr lvl="1"/>
            <a:r>
              <a:rPr lang="en-IN" sz="2000" dirty="0">
                <a:latin typeface="Times New Roman" panose="02020603050405020304" pitchFamily="18" charset="0"/>
                <a:cs typeface="Times New Roman" panose="02020603050405020304" pitchFamily="18" charset="0"/>
              </a:rPr>
              <a:t>Detects </a:t>
            </a:r>
            <a:r>
              <a:rPr lang="en-IN" sz="2000" b="1" dirty="0">
                <a:latin typeface="Times New Roman" panose="02020603050405020304" pitchFamily="18" charset="0"/>
                <a:cs typeface="Times New Roman" panose="02020603050405020304" pitchFamily="18" charset="0"/>
              </a:rPr>
              <a:t>contextual phishing</a:t>
            </a:r>
            <a:r>
              <a:rPr lang="en-IN" sz="2000" dirty="0">
                <a:latin typeface="Times New Roman" panose="02020603050405020304" pitchFamily="18" charset="0"/>
                <a:cs typeface="Times New Roman" panose="02020603050405020304" pitchFamily="18" charset="0"/>
              </a:rPr>
              <a:t>, brand impersonation, and combined attacks. </a:t>
            </a:r>
          </a:p>
          <a:p>
            <a:r>
              <a:rPr lang="en-IN" sz="2000" b="1" dirty="0">
                <a:latin typeface="Times New Roman" panose="02020603050405020304" pitchFamily="18" charset="0"/>
                <a:cs typeface="Times New Roman" panose="02020603050405020304" pitchFamily="18" charset="0"/>
              </a:rPr>
              <a:t>Decision Engine</a:t>
            </a:r>
            <a:r>
              <a:rPr lang="en-IN" sz="20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Generates a </a:t>
            </a:r>
            <a:r>
              <a:rPr lang="en-IN" sz="2000" b="1" dirty="0">
                <a:latin typeface="Times New Roman" panose="02020603050405020304" pitchFamily="18" charset="0"/>
                <a:cs typeface="Times New Roman" panose="02020603050405020304" pitchFamily="18" charset="0"/>
              </a:rPr>
              <a:t>risk score</a:t>
            </a:r>
            <a:r>
              <a:rPr lang="en-IN" sz="2000" dirty="0">
                <a:latin typeface="Times New Roman" panose="02020603050405020304" pitchFamily="18" charset="0"/>
                <a:cs typeface="Times New Roman" panose="02020603050405020304" pitchFamily="18" charset="0"/>
              </a:rPr>
              <a:t> (Safe / Suspicious / Malicious). </a:t>
            </a:r>
          </a:p>
          <a:p>
            <a:pPr lvl="1"/>
            <a:r>
              <a:rPr lang="en-IN" sz="2000" dirty="0">
                <a:latin typeface="Times New Roman" panose="02020603050405020304" pitchFamily="18" charset="0"/>
                <a:cs typeface="Times New Roman" panose="02020603050405020304" pitchFamily="18" charset="0"/>
              </a:rPr>
              <a:t>Final classification based on combined model outputs. </a:t>
            </a:r>
          </a:p>
          <a:p>
            <a:r>
              <a:rPr lang="en-IN" sz="2000" b="1" dirty="0">
                <a:latin typeface="Times New Roman" panose="02020603050405020304" pitchFamily="18" charset="0"/>
                <a:cs typeface="Times New Roman" panose="02020603050405020304" pitchFamily="18" charset="0"/>
              </a:rPr>
              <a:t>User Notification (Interface Layer)</a:t>
            </a:r>
            <a:r>
              <a:rPr lang="en-IN" sz="20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Displays alerts and warnings to the user. </a:t>
            </a:r>
          </a:p>
          <a:p>
            <a:pPr lvl="1"/>
            <a:r>
              <a:rPr lang="en-IN" sz="2000" dirty="0">
                <a:latin typeface="Times New Roman" panose="02020603050405020304" pitchFamily="18" charset="0"/>
                <a:cs typeface="Times New Roman" panose="02020603050405020304" pitchFamily="18" charset="0"/>
              </a:rPr>
              <a:t>Suggests actions: </a:t>
            </a:r>
            <a:r>
              <a:rPr lang="en-IN" sz="2000" b="1" dirty="0">
                <a:latin typeface="Times New Roman" panose="02020603050405020304" pitchFamily="18" charset="0"/>
                <a:cs typeface="Times New Roman" panose="02020603050405020304" pitchFamily="18" charset="0"/>
              </a:rPr>
              <a:t>Block / Report / Ignore</a:t>
            </a:r>
            <a:r>
              <a:rPr lang="en-IN" sz="2000" dirty="0">
                <a:latin typeface="Times New Roman" panose="02020603050405020304" pitchFamily="18" charset="0"/>
                <a:cs typeface="Times New Roman" panose="02020603050405020304" pitchFamily="18" charset="0"/>
              </a:rPr>
              <a:t>. </a:t>
            </a:r>
          </a:p>
          <a:p>
            <a:r>
              <a:rPr lang="en-IN" sz="2000" b="1" dirty="0">
                <a:latin typeface="Times New Roman" panose="02020603050405020304" pitchFamily="18" charset="0"/>
                <a:cs typeface="Times New Roman" panose="02020603050405020304" pitchFamily="18" charset="0"/>
              </a:rPr>
              <a:t>Continuous Monitoring</a:t>
            </a:r>
            <a:r>
              <a:rPr lang="en-IN" sz="20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Runs as a background service to monitor new SMS and QR scans in real time. </a:t>
            </a:r>
          </a:p>
          <a:p>
            <a:r>
              <a:rPr lang="en-IN" sz="2000" b="1" dirty="0">
                <a:latin typeface="Times New Roman" panose="02020603050405020304" pitchFamily="18" charset="0"/>
                <a:cs typeface="Times New Roman" panose="02020603050405020304" pitchFamily="18" charset="0"/>
              </a:rPr>
              <a:t>Feedback Loop</a:t>
            </a:r>
            <a:r>
              <a:rPr lang="en-IN" sz="2000" dirty="0">
                <a:latin typeface="Times New Roman" panose="02020603050405020304" pitchFamily="18" charset="0"/>
                <a:cs typeface="Times New Roman" panose="02020603050405020304" pitchFamily="18" charset="0"/>
              </a:rPr>
              <a:t> </a:t>
            </a:r>
          </a:p>
          <a:p>
            <a:pPr lvl="1"/>
            <a:r>
              <a:rPr lang="en-IN" sz="2000" dirty="0">
                <a:latin typeface="Times New Roman" panose="02020603050405020304" pitchFamily="18" charset="0"/>
                <a:cs typeface="Times New Roman" panose="02020603050405020304" pitchFamily="18" charset="0"/>
              </a:rPr>
              <a:t>User feedback is collected (mark safe/malicious). </a:t>
            </a:r>
          </a:p>
          <a:p>
            <a:pPr lvl="1"/>
            <a:r>
              <a:rPr lang="en-IN" sz="2000" dirty="0">
                <a:latin typeface="Times New Roman" panose="02020603050405020304" pitchFamily="18" charset="0"/>
                <a:cs typeface="Times New Roman" panose="02020603050405020304" pitchFamily="18" charset="0"/>
              </a:rPr>
              <a:t>Data is used for </a:t>
            </a:r>
            <a:r>
              <a:rPr lang="en-IN" sz="2000" b="1" dirty="0">
                <a:latin typeface="Times New Roman" panose="02020603050405020304" pitchFamily="18" charset="0"/>
                <a:cs typeface="Times New Roman" panose="02020603050405020304" pitchFamily="18" charset="0"/>
              </a:rPr>
              <a:t>model retraining and performance improvement</a:t>
            </a:r>
            <a:r>
              <a:rPr lang="en-IN" sz="2000" dirty="0">
                <a:latin typeface="Times New Roman" panose="02020603050405020304" pitchFamily="18" charset="0"/>
                <a:cs typeface="Times New Roman" panose="02020603050405020304" pitchFamily="18" charset="0"/>
              </a:rPr>
              <a:t>.</a:t>
            </a:r>
          </a:p>
        </p:txBody>
      </p:sp>
      <p:sp>
        <p:nvSpPr>
          <p:cNvPr id="4" name="TextBox 3">
            <a:extLst>
              <a:ext uri="{FF2B5EF4-FFF2-40B4-BE49-F238E27FC236}">
                <a16:creationId xmlns:a16="http://schemas.microsoft.com/office/drawing/2014/main" id="{E1E3E037-0682-F229-CF34-E16C93318B6D}"/>
              </a:ext>
            </a:extLst>
          </p:cNvPr>
          <p:cNvSpPr txBox="1"/>
          <p:nvPr/>
        </p:nvSpPr>
        <p:spPr>
          <a:xfrm>
            <a:off x="2496844" y="295910"/>
            <a:ext cx="6758916" cy="646331"/>
          </a:xfrm>
          <a:prstGeom prst="rect">
            <a:avLst/>
          </a:prstGeom>
          <a:solidFill>
            <a:schemeClr val="accent1">
              <a:lumMod val="60000"/>
              <a:lumOff val="40000"/>
            </a:schemeClr>
          </a:solidFill>
        </p:spPr>
        <p:txBody>
          <a:bodyPr wrap="square" rtlCol="0">
            <a:spAutoFit/>
          </a:bodyPr>
          <a:lstStyle/>
          <a:p>
            <a:pPr algn="ctr"/>
            <a:r>
              <a:rPr lang="en-IN" sz="3600" dirty="0">
                <a:latin typeface="Times New Roman" panose="02020603050405020304" pitchFamily="18" charset="0"/>
                <a:cs typeface="Times New Roman" panose="02020603050405020304" pitchFamily="18" charset="0"/>
              </a:rPr>
              <a:t>Proposed Methodology</a:t>
            </a:r>
            <a:endParaRPr lang="en-US" sz="36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4B65C06-DCFB-C17C-754A-17D49535D42B}"/>
              </a:ext>
            </a:extLst>
          </p:cNvPr>
          <p:cNvSpPr>
            <a:spLocks noGrp="1"/>
          </p:cNvSpPr>
          <p:nvPr>
            <p:ph type="dt" sz="half" idx="10"/>
          </p:nvPr>
        </p:nvSpPr>
        <p:spPr/>
        <p:txBody>
          <a:bodyPr/>
          <a:lstStyle/>
          <a:p>
            <a:r>
              <a:rPr lang="en-IN"/>
              <a:t>24/04/2026</a:t>
            </a:r>
            <a:endParaRPr lang="en-US"/>
          </a:p>
        </p:txBody>
      </p:sp>
      <p:sp>
        <p:nvSpPr>
          <p:cNvPr id="6" name="Footer Placeholder 5">
            <a:extLst>
              <a:ext uri="{FF2B5EF4-FFF2-40B4-BE49-F238E27FC236}">
                <a16:creationId xmlns:a16="http://schemas.microsoft.com/office/drawing/2014/main" id="{03407B37-C5D8-9765-B7BA-C7675DFB5881}"/>
              </a:ext>
            </a:extLst>
          </p:cNvPr>
          <p:cNvSpPr>
            <a:spLocks noGrp="1"/>
          </p:cNvSpPr>
          <p:nvPr>
            <p:ph type="ftr" sz="quarter" idx="11"/>
          </p:nvPr>
        </p:nvSpPr>
        <p:spPr/>
        <p:txBody>
          <a:bodyPr/>
          <a:lstStyle/>
          <a:p>
            <a:r>
              <a:rPr lang="en-US"/>
              <a:t>BMSIT&amp;M, CSE                                 </a:t>
            </a:r>
          </a:p>
        </p:txBody>
      </p:sp>
      <p:sp>
        <p:nvSpPr>
          <p:cNvPr id="7" name="Slide Number Placeholder 6">
            <a:extLst>
              <a:ext uri="{FF2B5EF4-FFF2-40B4-BE49-F238E27FC236}">
                <a16:creationId xmlns:a16="http://schemas.microsoft.com/office/drawing/2014/main" id="{2DCDDF18-1010-06C2-2B2B-7E5954CA1D11}"/>
              </a:ext>
            </a:extLst>
          </p:cNvPr>
          <p:cNvSpPr>
            <a:spLocks noGrp="1"/>
          </p:cNvSpPr>
          <p:nvPr>
            <p:ph type="sldNum" sz="quarter" idx="12"/>
          </p:nvPr>
        </p:nvSpPr>
        <p:spPr/>
        <p:txBody>
          <a:bodyPr/>
          <a:lstStyle/>
          <a:p>
            <a:fld id="{C1FF6DA9-008F-8B48-92A6-B652298478BF}" type="slidenum">
              <a:rPr lang="en-US" smtClean="0"/>
              <a:t>15</a:t>
            </a:fld>
            <a:endParaRPr lang="en-US"/>
          </a:p>
        </p:txBody>
      </p:sp>
    </p:spTree>
    <p:extLst>
      <p:ext uri="{BB962C8B-B14F-4D97-AF65-F5344CB8AC3E}">
        <p14:creationId xmlns:p14="http://schemas.microsoft.com/office/powerpoint/2010/main" val="1768679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A29CBF5-CE39-CD4F-3052-CFFEA809C963}"/>
              </a:ext>
            </a:extLst>
          </p:cNvPr>
          <p:cNvSpPr txBox="1">
            <a:spLocks/>
          </p:cNvSpPr>
          <p:nvPr/>
        </p:nvSpPr>
        <p:spPr>
          <a:xfrm>
            <a:off x="1623060" y="160336"/>
            <a:ext cx="8229600" cy="1143000"/>
          </a:xfrm>
          <a:prstGeom prst="rect">
            <a:avLst/>
          </a:prstGeom>
          <a:solidFill>
            <a:schemeClr val="accent1">
              <a:lumMod val="60000"/>
              <a:lumOff val="40000"/>
            </a:schemeClr>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t>Methodology Explanation</a:t>
            </a:r>
          </a:p>
        </p:txBody>
      </p:sp>
      <p:sp>
        <p:nvSpPr>
          <p:cNvPr id="5" name="Date Placeholder 4">
            <a:extLst>
              <a:ext uri="{FF2B5EF4-FFF2-40B4-BE49-F238E27FC236}">
                <a16:creationId xmlns:a16="http://schemas.microsoft.com/office/drawing/2014/main" id="{CCBCEDE5-07BC-1132-DF1C-3CB290FE2A29}"/>
              </a:ext>
            </a:extLst>
          </p:cNvPr>
          <p:cNvSpPr>
            <a:spLocks noGrp="1"/>
          </p:cNvSpPr>
          <p:nvPr>
            <p:ph type="dt" sz="half" idx="10"/>
          </p:nvPr>
        </p:nvSpPr>
        <p:spPr/>
        <p:txBody>
          <a:bodyPr/>
          <a:lstStyle/>
          <a:p>
            <a:r>
              <a:rPr lang="en-IN"/>
              <a:t>24/04/2026</a:t>
            </a:r>
            <a:endParaRPr lang="en-US"/>
          </a:p>
        </p:txBody>
      </p:sp>
      <p:sp>
        <p:nvSpPr>
          <p:cNvPr id="6" name="Footer Placeholder 5">
            <a:extLst>
              <a:ext uri="{FF2B5EF4-FFF2-40B4-BE49-F238E27FC236}">
                <a16:creationId xmlns:a16="http://schemas.microsoft.com/office/drawing/2014/main" id="{6F8C6BD6-F1FC-1425-21C8-717D25311D4A}"/>
              </a:ext>
            </a:extLst>
          </p:cNvPr>
          <p:cNvSpPr>
            <a:spLocks noGrp="1"/>
          </p:cNvSpPr>
          <p:nvPr>
            <p:ph type="ftr" sz="quarter" idx="11"/>
          </p:nvPr>
        </p:nvSpPr>
        <p:spPr/>
        <p:txBody>
          <a:bodyPr/>
          <a:lstStyle/>
          <a:p>
            <a:r>
              <a:rPr lang="en-US"/>
              <a:t>BMSIT&amp;M, CSE                                 </a:t>
            </a:r>
          </a:p>
        </p:txBody>
      </p:sp>
      <p:sp>
        <p:nvSpPr>
          <p:cNvPr id="7" name="Slide Number Placeholder 6">
            <a:extLst>
              <a:ext uri="{FF2B5EF4-FFF2-40B4-BE49-F238E27FC236}">
                <a16:creationId xmlns:a16="http://schemas.microsoft.com/office/drawing/2014/main" id="{220862E6-CA29-F930-88B5-17DB806EF3CA}"/>
              </a:ext>
            </a:extLst>
          </p:cNvPr>
          <p:cNvSpPr>
            <a:spLocks noGrp="1"/>
          </p:cNvSpPr>
          <p:nvPr>
            <p:ph type="sldNum" sz="quarter" idx="12"/>
          </p:nvPr>
        </p:nvSpPr>
        <p:spPr/>
        <p:txBody>
          <a:bodyPr/>
          <a:lstStyle/>
          <a:p>
            <a:fld id="{C1FF6DA9-008F-8B48-92A6-B652298478BF}" type="slidenum">
              <a:rPr lang="en-US" smtClean="0"/>
              <a:t>16</a:t>
            </a:fld>
            <a:endParaRPr lang="en-US"/>
          </a:p>
        </p:txBody>
      </p:sp>
      <p:sp>
        <p:nvSpPr>
          <p:cNvPr id="10" name="Rectangle 2">
            <a:extLst>
              <a:ext uri="{FF2B5EF4-FFF2-40B4-BE49-F238E27FC236}">
                <a16:creationId xmlns:a16="http://schemas.microsoft.com/office/drawing/2014/main" id="{BAD0F391-C31D-3444-7B18-F45E2C302797}"/>
              </a:ext>
            </a:extLst>
          </p:cNvPr>
          <p:cNvSpPr>
            <a:spLocks noChangeArrowheads="1"/>
          </p:cNvSpPr>
          <p:nvPr/>
        </p:nvSpPr>
        <p:spPr bwMode="auto">
          <a:xfrm>
            <a:off x="858348" y="1488583"/>
            <a:ext cx="10475304" cy="4094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Collection: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Capture incoming SMS messages and scan QR codes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Preprocessing: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Clean and normalize SMS text (NLP) &amp; decode QR data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AI/ML Detection: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Classify threats using Smishing and </a:t>
            </a: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Quishing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models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Correlation Analysis: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Link SMS content with QR/URL for contextual attack detection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Decision Making:</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Generate risk score (Safe / Suspicious / Malicious)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Alert System:</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 warnings with actions (Block / Report / Ignore)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Feedback Loop:</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 user input to retrain models and improve accuracy </a:t>
            </a:r>
          </a:p>
          <a:p>
            <a:pPr marL="342900" marR="0" lvl="0"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 Extraction: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Extract keywords, URLs, and sender behavior patterns </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a:latin typeface="Times New Roman" panose="02020603050405020304" pitchFamily="18" charset="0"/>
                <a:cs typeface="Times New Roman" panose="02020603050405020304" pitchFamily="18" charset="0"/>
              </a:rPr>
              <a:t>Tools &amp; Technologies</a:t>
            </a:r>
          </a:p>
        </p:txBody>
      </p:sp>
      <p:sp>
        <p:nvSpPr>
          <p:cNvPr id="4" name="Date Placeholder 3">
            <a:extLst>
              <a:ext uri="{FF2B5EF4-FFF2-40B4-BE49-F238E27FC236}">
                <a16:creationId xmlns:a16="http://schemas.microsoft.com/office/drawing/2014/main" id="{F6F4D0EF-5B97-37A9-0EA2-C106230D6D5A}"/>
              </a:ext>
            </a:extLst>
          </p:cNvPr>
          <p:cNvSpPr>
            <a:spLocks noGrp="1"/>
          </p:cNvSpPr>
          <p:nvPr>
            <p:ph type="dt" sz="half" idx="10"/>
          </p:nvPr>
        </p:nvSpPr>
        <p:spPr/>
        <p:txBody>
          <a:bodyPr/>
          <a:lstStyle/>
          <a:p>
            <a:r>
              <a:rPr lang="en-IN" dirty="0"/>
              <a:t>24/04/2026</a:t>
            </a:r>
            <a:endParaRPr lang="en-US" dirty="0"/>
          </a:p>
        </p:txBody>
      </p:sp>
      <p:sp>
        <p:nvSpPr>
          <p:cNvPr id="5" name="Footer Placeholder 4">
            <a:extLst>
              <a:ext uri="{FF2B5EF4-FFF2-40B4-BE49-F238E27FC236}">
                <a16:creationId xmlns:a16="http://schemas.microsoft.com/office/drawing/2014/main" id="{0B3E5799-1F57-972F-8A72-DACBBC067475}"/>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EAD85966-DD57-EDF5-AE8D-7A53279462AC}"/>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17</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62C97B3A-51BD-A408-13C1-F4877BCDCA72}"/>
              </a:ext>
            </a:extLst>
          </p:cNvPr>
          <p:cNvSpPr txBox="1">
            <a:spLocks/>
          </p:cNvSpPr>
          <p:nvPr/>
        </p:nvSpPr>
        <p:spPr>
          <a:xfrm>
            <a:off x="1981200" y="227013"/>
            <a:ext cx="8229600" cy="1143000"/>
          </a:xfrm>
          <a:prstGeom prst="rect">
            <a:avLst/>
          </a:prstGeom>
          <a:solidFill>
            <a:schemeClr val="accent1">
              <a:lumMod val="60000"/>
              <a:lumOff val="40000"/>
            </a:schemeClr>
          </a:solidFill>
          <a:ln w="19050">
            <a:solidFill>
              <a:schemeClr val="bg1"/>
            </a:solidFill>
          </a:ln>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ea typeface="Cambria" panose="02040503050406030204" pitchFamily="18" charset="0"/>
                <a:cs typeface="Times New Roman" panose="02020603050405020304" pitchFamily="18" charset="0"/>
              </a:rPr>
              <a:t>Tools and Technologies</a:t>
            </a:r>
          </a:p>
        </p:txBody>
      </p:sp>
      <p:graphicFrame>
        <p:nvGraphicFramePr>
          <p:cNvPr id="3" name="Table 2">
            <a:extLst>
              <a:ext uri="{FF2B5EF4-FFF2-40B4-BE49-F238E27FC236}">
                <a16:creationId xmlns:a16="http://schemas.microsoft.com/office/drawing/2014/main" id="{9964FF91-3E8D-1894-8B4A-3E38EA512B32}"/>
              </a:ext>
            </a:extLst>
          </p:cNvPr>
          <p:cNvGraphicFramePr>
            <a:graphicFrameLocks noGrp="1"/>
          </p:cNvGraphicFramePr>
          <p:nvPr>
            <p:extLst>
              <p:ext uri="{D42A27DB-BD31-4B8C-83A1-F6EECF244321}">
                <p14:modId xmlns:p14="http://schemas.microsoft.com/office/powerpoint/2010/main" val="1011879170"/>
              </p:ext>
            </p:extLst>
          </p:nvPr>
        </p:nvGraphicFramePr>
        <p:xfrm>
          <a:off x="871467" y="1387732"/>
          <a:ext cx="10172452" cy="4968619"/>
        </p:xfrm>
        <a:graphic>
          <a:graphicData uri="http://schemas.openxmlformats.org/drawingml/2006/table">
            <a:tbl>
              <a:tblPr firstRow="1">
                <a:tableStyleId>{5C22544A-7EE6-4342-B048-85BDC9FD1C3A}</a:tableStyleId>
              </a:tblPr>
              <a:tblGrid>
                <a:gridCol w="3194370">
                  <a:extLst>
                    <a:ext uri="{9D8B030D-6E8A-4147-A177-3AD203B41FA5}">
                      <a16:colId xmlns:a16="http://schemas.microsoft.com/office/drawing/2014/main" val="850931511"/>
                    </a:ext>
                  </a:extLst>
                </a:gridCol>
                <a:gridCol w="3489041">
                  <a:extLst>
                    <a:ext uri="{9D8B030D-6E8A-4147-A177-3AD203B41FA5}">
                      <a16:colId xmlns:a16="http://schemas.microsoft.com/office/drawing/2014/main" val="2508454464"/>
                    </a:ext>
                  </a:extLst>
                </a:gridCol>
                <a:gridCol w="3489041">
                  <a:extLst>
                    <a:ext uri="{9D8B030D-6E8A-4147-A177-3AD203B41FA5}">
                      <a16:colId xmlns:a16="http://schemas.microsoft.com/office/drawing/2014/main" val="10911205"/>
                    </a:ext>
                  </a:extLst>
                </a:gridCol>
              </a:tblGrid>
              <a:tr h="385301">
                <a:tc>
                  <a:txBody>
                    <a:bodyPr/>
                    <a:lstStyle/>
                    <a:p>
                      <a:pPr>
                        <a:buNone/>
                      </a:pPr>
                      <a:r>
                        <a:rPr lang="en-IN" sz="2000" b="1" dirty="0">
                          <a:latin typeface="Times New Roman" panose="02020603050405020304" pitchFamily="18" charset="0"/>
                          <a:cs typeface="Times New Roman" panose="02020603050405020304" pitchFamily="18" charset="0"/>
                        </a:rPr>
                        <a:t>Layer</a:t>
                      </a:r>
                      <a:endParaRPr lang="en-IN" sz="20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2000" b="1">
                          <a:latin typeface="Times New Roman" panose="02020603050405020304" pitchFamily="18" charset="0"/>
                          <a:cs typeface="Times New Roman" panose="02020603050405020304" pitchFamily="18" charset="0"/>
                        </a:rPr>
                        <a:t>Tools &amp; Technologies</a:t>
                      </a:r>
                      <a:endParaRPr lang="en-IN" sz="200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2000" b="1">
                          <a:latin typeface="Times New Roman" panose="02020603050405020304" pitchFamily="18" charset="0"/>
                          <a:cs typeface="Times New Roman" panose="02020603050405020304" pitchFamily="18" charset="0"/>
                        </a:rPr>
                        <a:t>Purpose</a:t>
                      </a:r>
                      <a:endParaRPr lang="en-IN" sz="2000">
                        <a:latin typeface="Times New Roman" panose="02020603050405020304" pitchFamily="18" charset="0"/>
                        <a:cs typeface="Times New Roman" panose="02020603050405020304" pitchFamily="18" charset="0"/>
                      </a:endParaRPr>
                    </a:p>
                  </a:txBody>
                  <a:tcPr marL="62861" marR="62861" marT="31430" marB="31430" anchor="ctr"/>
                </a:tc>
                <a:extLst>
                  <a:ext uri="{0D108BD9-81ED-4DB2-BD59-A6C34878D82A}">
                    <a16:rowId xmlns:a16="http://schemas.microsoft.com/office/drawing/2014/main" val="1600826708"/>
                  </a:ext>
                </a:extLst>
              </a:tr>
              <a:tr h="674278">
                <a:tc>
                  <a:txBody>
                    <a:bodyPr/>
                    <a:lstStyle/>
                    <a:p>
                      <a:pPr>
                        <a:buNone/>
                      </a:pPr>
                      <a:r>
                        <a:rPr lang="en-IN" sz="2000" b="1">
                          <a:latin typeface="Times New Roman" panose="02020603050405020304" pitchFamily="18" charset="0"/>
                          <a:cs typeface="Times New Roman" panose="02020603050405020304" pitchFamily="18" charset="0"/>
                        </a:rPr>
                        <a:t>Mobile App Development</a:t>
                      </a:r>
                      <a:endParaRPr lang="en-IN" sz="200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2000">
                          <a:latin typeface="Times New Roman" panose="02020603050405020304" pitchFamily="18" charset="0"/>
                          <a:cs typeface="Times New Roman" panose="02020603050405020304" pitchFamily="18" charset="0"/>
                        </a:rPr>
                        <a:t>Android Studio, Kotlin / Java</a:t>
                      </a:r>
                    </a:p>
                  </a:txBody>
                  <a:tcPr marL="62861" marR="62861" marT="31430" marB="31430" anchor="ctr"/>
                </a:tc>
                <a:tc>
                  <a:txBody>
                    <a:bodyPr/>
                    <a:lstStyle/>
                    <a:p>
                      <a:pPr>
                        <a:buNone/>
                      </a:pPr>
                      <a:r>
                        <a:rPr lang="en-US" sz="2000">
                          <a:latin typeface="Times New Roman" panose="02020603050405020304" pitchFamily="18" charset="0"/>
                          <a:cs typeface="Times New Roman" panose="02020603050405020304" pitchFamily="18" charset="0"/>
                        </a:rPr>
                        <a:t>Development of the Android mobile application</a:t>
                      </a:r>
                    </a:p>
                  </a:txBody>
                  <a:tcPr marL="62861" marR="62861" marT="31430" marB="31430" anchor="ctr"/>
                </a:tc>
                <a:extLst>
                  <a:ext uri="{0D108BD9-81ED-4DB2-BD59-A6C34878D82A}">
                    <a16:rowId xmlns:a16="http://schemas.microsoft.com/office/drawing/2014/main" val="2683960694"/>
                  </a:ext>
                </a:extLst>
              </a:tr>
              <a:tr h="674278">
                <a:tc>
                  <a:txBody>
                    <a:bodyPr/>
                    <a:lstStyle/>
                    <a:p>
                      <a:pPr>
                        <a:buNone/>
                      </a:pPr>
                      <a:r>
                        <a:rPr lang="en-IN" sz="2000" b="1" dirty="0">
                          <a:latin typeface="Times New Roman" panose="02020603050405020304" pitchFamily="18" charset="0"/>
                          <a:cs typeface="Times New Roman" panose="02020603050405020304" pitchFamily="18" charset="0"/>
                        </a:rPr>
                        <a:t>Data Acquisition</a:t>
                      </a:r>
                      <a:endParaRPr lang="en-IN" sz="20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2000" dirty="0">
                          <a:latin typeface="Times New Roman" panose="02020603050405020304" pitchFamily="18" charset="0"/>
                          <a:cs typeface="Times New Roman" panose="02020603050405020304" pitchFamily="18" charset="0"/>
                        </a:rPr>
                        <a:t>Android SMS API, </a:t>
                      </a:r>
                      <a:r>
                        <a:rPr lang="en-IN" sz="2000" dirty="0" err="1">
                          <a:latin typeface="Times New Roman" panose="02020603050405020304" pitchFamily="18" charset="0"/>
                          <a:cs typeface="Times New Roman" panose="02020603050405020304" pitchFamily="18" charset="0"/>
                        </a:rPr>
                        <a:t>ZXing</a:t>
                      </a:r>
                      <a:endParaRPr lang="en-IN" sz="20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US" sz="2000">
                          <a:latin typeface="Times New Roman" panose="02020603050405020304" pitchFamily="18" charset="0"/>
                          <a:cs typeface="Times New Roman" panose="02020603050405020304" pitchFamily="18" charset="0"/>
                        </a:rPr>
                        <a:t>Capturing incoming SMS messages and scanning/decoding QR codes</a:t>
                      </a:r>
                    </a:p>
                  </a:txBody>
                  <a:tcPr marL="62861" marR="62861" marT="31430" marB="31430" anchor="ctr"/>
                </a:tc>
                <a:extLst>
                  <a:ext uri="{0D108BD9-81ED-4DB2-BD59-A6C34878D82A}">
                    <a16:rowId xmlns:a16="http://schemas.microsoft.com/office/drawing/2014/main" val="3091906198"/>
                  </a:ext>
                </a:extLst>
              </a:tr>
              <a:tr h="963254">
                <a:tc>
                  <a:txBody>
                    <a:bodyPr/>
                    <a:lstStyle/>
                    <a:p>
                      <a:pPr>
                        <a:buNone/>
                      </a:pPr>
                      <a:r>
                        <a:rPr lang="en-IN" sz="2000" b="1" dirty="0">
                          <a:latin typeface="Times New Roman" panose="02020603050405020304" pitchFamily="18" charset="0"/>
                          <a:cs typeface="Times New Roman" panose="02020603050405020304" pitchFamily="18" charset="0"/>
                        </a:rPr>
                        <a:t>AI/ML Models</a:t>
                      </a:r>
                      <a:endParaRPr lang="en-IN" sz="20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2000" dirty="0" err="1">
                          <a:latin typeface="Times New Roman" panose="02020603050405020304" pitchFamily="18" charset="0"/>
                          <a:cs typeface="Times New Roman" panose="02020603050405020304" pitchFamily="18" charset="0"/>
                        </a:rPr>
                        <a:t>TinyBERT</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XGBoost</a:t>
                      </a:r>
                      <a:endParaRPr lang="en-IN" sz="20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US" sz="2000" dirty="0">
                          <a:latin typeface="Times New Roman" panose="02020603050405020304" pitchFamily="18" charset="0"/>
                          <a:cs typeface="Times New Roman" panose="02020603050405020304" pitchFamily="18" charset="0"/>
                        </a:rPr>
                        <a:t>Detecting smishing attacks from SMS and evaluating phishing URLs from QR codes</a:t>
                      </a:r>
                    </a:p>
                  </a:txBody>
                  <a:tcPr marL="62861" marR="62861" marT="31430" marB="31430" anchor="ctr"/>
                </a:tc>
                <a:extLst>
                  <a:ext uri="{0D108BD9-81ED-4DB2-BD59-A6C34878D82A}">
                    <a16:rowId xmlns:a16="http://schemas.microsoft.com/office/drawing/2014/main" val="3999384308"/>
                  </a:ext>
                </a:extLst>
              </a:tr>
              <a:tr h="963254">
                <a:tc>
                  <a:txBody>
                    <a:bodyPr/>
                    <a:lstStyle/>
                    <a:p>
                      <a:pPr>
                        <a:buNone/>
                      </a:pPr>
                      <a:r>
                        <a:rPr lang="en-IN" sz="2000" b="1" dirty="0">
                          <a:latin typeface="Times New Roman" panose="02020603050405020304" pitchFamily="18" charset="0"/>
                          <a:cs typeface="Times New Roman" panose="02020603050405020304" pitchFamily="18" charset="0"/>
                        </a:rPr>
                        <a:t>Backend Integration</a:t>
                      </a:r>
                      <a:endParaRPr lang="en-IN" sz="20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2000" dirty="0">
                          <a:latin typeface="Times New Roman" panose="02020603050405020304" pitchFamily="18" charset="0"/>
                          <a:cs typeface="Times New Roman" panose="02020603050405020304" pitchFamily="18" charset="0"/>
                        </a:rPr>
                        <a:t>Python, </a:t>
                      </a:r>
                      <a:r>
                        <a:rPr lang="en-IN" sz="2000" dirty="0" err="1">
                          <a:latin typeface="Times New Roman" panose="02020603050405020304" pitchFamily="18" charset="0"/>
                          <a:cs typeface="Times New Roman" panose="02020603050405020304" pitchFamily="18" charset="0"/>
                        </a:rPr>
                        <a:t>FastAPI</a:t>
                      </a:r>
                      <a:endParaRPr lang="en-IN" sz="20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US" sz="2000" dirty="0">
                          <a:latin typeface="Times New Roman" panose="02020603050405020304" pitchFamily="18" charset="0"/>
                          <a:cs typeface="Times New Roman" panose="02020603050405020304" pitchFamily="18" charset="0"/>
                        </a:rPr>
                        <a:t>Connecting AI models with the mobile application for processing and communication</a:t>
                      </a:r>
                    </a:p>
                  </a:txBody>
                  <a:tcPr marL="62861" marR="62861" marT="31430" marB="31430" anchor="ctr"/>
                </a:tc>
                <a:extLst>
                  <a:ext uri="{0D108BD9-81ED-4DB2-BD59-A6C34878D82A}">
                    <a16:rowId xmlns:a16="http://schemas.microsoft.com/office/drawing/2014/main" val="2770031603"/>
                  </a:ext>
                </a:extLst>
              </a:tr>
              <a:tr h="963254">
                <a:tc>
                  <a:txBody>
                    <a:bodyPr/>
                    <a:lstStyle/>
                    <a:p>
                      <a:pPr>
                        <a:buNone/>
                      </a:pPr>
                      <a:r>
                        <a:rPr lang="en-IN" sz="2000" b="1" dirty="0">
                          <a:latin typeface="Times New Roman" panose="02020603050405020304" pitchFamily="18" charset="0"/>
                          <a:cs typeface="Times New Roman" panose="02020603050405020304" pitchFamily="18" charset="0"/>
                        </a:rPr>
                        <a:t>Mobile Dashboard &amp; Alerts</a:t>
                      </a:r>
                      <a:endParaRPr lang="en-IN" sz="2000" dirty="0">
                        <a:latin typeface="Times New Roman" panose="02020603050405020304" pitchFamily="18" charset="0"/>
                        <a:cs typeface="Times New Roman" panose="02020603050405020304" pitchFamily="18" charset="0"/>
                      </a:endParaRPr>
                    </a:p>
                  </a:txBody>
                  <a:tcPr marL="62861" marR="62861" marT="31430" marB="31430" anchor="ctr"/>
                </a:tc>
                <a:tc>
                  <a:txBody>
                    <a:bodyPr/>
                    <a:lstStyle/>
                    <a:p>
                      <a:pPr>
                        <a:buNone/>
                      </a:pPr>
                      <a:r>
                        <a:rPr lang="en-IN" sz="2000">
                          <a:latin typeface="Times New Roman" panose="02020603050405020304" pitchFamily="18" charset="0"/>
                          <a:cs typeface="Times New Roman" panose="02020603050405020304" pitchFamily="18" charset="0"/>
                        </a:rPr>
                        <a:t>Android UI (XML / Jetpack Components)</a:t>
                      </a:r>
                    </a:p>
                  </a:txBody>
                  <a:tcPr marL="62861" marR="62861" marT="31430" marB="31430" anchor="ctr"/>
                </a:tc>
                <a:tc>
                  <a:txBody>
                    <a:bodyPr/>
                    <a:lstStyle/>
                    <a:p>
                      <a:pPr>
                        <a:buNone/>
                      </a:pPr>
                      <a:r>
                        <a:rPr lang="en-US" sz="2000" dirty="0">
                          <a:latin typeface="Times New Roman" panose="02020603050405020304" pitchFamily="18" charset="0"/>
                          <a:cs typeface="Times New Roman" panose="02020603050405020304" pitchFamily="18" charset="0"/>
                        </a:rPr>
                        <a:t>Displaying risk scores, phishing alerts, and security notifications within the mobile app</a:t>
                      </a:r>
                    </a:p>
                  </a:txBody>
                  <a:tcPr marL="62861" marR="62861" marT="31430" marB="31430" anchor="ctr"/>
                </a:tc>
                <a:extLst>
                  <a:ext uri="{0D108BD9-81ED-4DB2-BD59-A6C34878D82A}">
                    <a16:rowId xmlns:a16="http://schemas.microsoft.com/office/drawing/2014/main" val="84974237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51B88A7-CA63-B864-FA9F-9FCC1C9682DE}"/>
              </a:ext>
            </a:extLst>
          </p:cNvPr>
          <p:cNvSpPr>
            <a:spLocks noGrp="1"/>
          </p:cNvSpPr>
          <p:nvPr>
            <p:ph idx="1"/>
          </p:nvPr>
        </p:nvSpPr>
        <p:spPr>
          <a:xfrm>
            <a:off x="609600" y="1321905"/>
            <a:ext cx="10972800" cy="4804260"/>
          </a:xfrm>
        </p:spPr>
        <p:txBody>
          <a:bodyPr/>
          <a:lstStyle/>
          <a:p>
            <a:r>
              <a:rPr lang="en-US" dirty="0">
                <a:latin typeface="Times New Roman" panose="02020603050405020304" pitchFamily="18" charset="0"/>
                <a:cs typeface="Times New Roman" panose="02020603050405020304" pitchFamily="18" charset="0"/>
              </a:rPr>
              <a:t>Advised to study existing survey and patents in 2024 &amp; 2025.</a:t>
            </a:r>
          </a:p>
          <a:p>
            <a:pPr lvl="1"/>
            <a:r>
              <a:rPr lang="en-US" dirty="0">
                <a:latin typeface="Times New Roman" panose="02020603050405020304" pitchFamily="18" charset="0"/>
                <a:cs typeface="Times New Roman" panose="02020603050405020304" pitchFamily="18" charset="0"/>
              </a:rPr>
              <a:t>There are Patent searches on the Project on phishing</a:t>
            </a:r>
          </a:p>
          <a:p>
            <a:r>
              <a:rPr lang="en-US" dirty="0">
                <a:latin typeface="Times New Roman" panose="02020603050405020304" pitchFamily="18" charset="0"/>
                <a:cs typeface="Times New Roman" panose="02020603050405020304" pitchFamily="18" charset="0"/>
              </a:rPr>
              <a:t>Study of relevant Phishing detection Models.</a:t>
            </a:r>
          </a:p>
          <a:p>
            <a:r>
              <a:rPr lang="en-US" dirty="0">
                <a:latin typeface="Times New Roman" panose="02020603050405020304" pitchFamily="18" charset="0"/>
                <a:cs typeface="Times New Roman" panose="02020603050405020304" pitchFamily="18" charset="0"/>
              </a:rPr>
              <a:t>Redesign of the System Architecture.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Study of Journals rather than conference papers</a:t>
            </a:r>
          </a:p>
        </p:txBody>
      </p:sp>
      <p:sp>
        <p:nvSpPr>
          <p:cNvPr id="4" name="Date Placeholder 3">
            <a:extLst>
              <a:ext uri="{FF2B5EF4-FFF2-40B4-BE49-F238E27FC236}">
                <a16:creationId xmlns:a16="http://schemas.microsoft.com/office/drawing/2014/main" id="{13505E6A-CED1-09EA-20AA-7AD8C4524AFB}"/>
              </a:ext>
            </a:extLst>
          </p:cNvPr>
          <p:cNvSpPr>
            <a:spLocks noGrp="1"/>
          </p:cNvSpPr>
          <p:nvPr>
            <p:ph type="dt" sz="half" idx="10"/>
          </p:nvPr>
        </p:nvSpPr>
        <p:spPr/>
        <p:txBody>
          <a:bodyPr/>
          <a:lstStyle/>
          <a:p>
            <a:r>
              <a:rPr lang="en-IN" dirty="0"/>
              <a:t>24/04/2026</a:t>
            </a:r>
            <a:endParaRPr lang="en-US" dirty="0"/>
          </a:p>
        </p:txBody>
      </p:sp>
      <p:sp>
        <p:nvSpPr>
          <p:cNvPr id="5" name="Footer Placeholder 4">
            <a:extLst>
              <a:ext uri="{FF2B5EF4-FFF2-40B4-BE49-F238E27FC236}">
                <a16:creationId xmlns:a16="http://schemas.microsoft.com/office/drawing/2014/main" id="{4E935C5B-9F51-36CB-3A45-30E91169D19C}"/>
              </a:ext>
            </a:extLst>
          </p:cNvPr>
          <p:cNvSpPr>
            <a:spLocks noGrp="1"/>
          </p:cNvSpPr>
          <p:nvPr>
            <p:ph type="ftr" sz="quarter" idx="11"/>
          </p:nvPr>
        </p:nvSpPr>
        <p:spPr/>
        <p:txBody>
          <a:bodyPr/>
          <a:lstStyle/>
          <a:p>
            <a:r>
              <a:rPr lang="en-US"/>
              <a:t>BMSIT&amp;M, CSE                                 </a:t>
            </a:r>
          </a:p>
        </p:txBody>
      </p:sp>
      <p:sp>
        <p:nvSpPr>
          <p:cNvPr id="6" name="Slide Number Placeholder 5">
            <a:extLst>
              <a:ext uri="{FF2B5EF4-FFF2-40B4-BE49-F238E27FC236}">
                <a16:creationId xmlns:a16="http://schemas.microsoft.com/office/drawing/2014/main" id="{6E856515-AA05-97AE-54DF-38D174A8CEEE}"/>
              </a:ext>
            </a:extLst>
          </p:cNvPr>
          <p:cNvSpPr>
            <a:spLocks noGrp="1"/>
          </p:cNvSpPr>
          <p:nvPr>
            <p:ph type="sldNum" sz="quarter" idx="12"/>
          </p:nvPr>
        </p:nvSpPr>
        <p:spPr/>
        <p:txBody>
          <a:bodyPr/>
          <a:lstStyle/>
          <a:p>
            <a:fld id="{C1FF6DA9-008F-8B48-92A6-B652298478BF}" type="slidenum">
              <a:rPr lang="en-US" smtClean="0"/>
              <a:t>18</a:t>
            </a:fld>
            <a:endParaRPr lang="en-US"/>
          </a:p>
        </p:txBody>
      </p:sp>
      <p:sp>
        <p:nvSpPr>
          <p:cNvPr id="2" name="TextBox 1">
            <a:extLst>
              <a:ext uri="{FF2B5EF4-FFF2-40B4-BE49-F238E27FC236}">
                <a16:creationId xmlns:a16="http://schemas.microsoft.com/office/drawing/2014/main" id="{A6D34467-110B-43F3-412A-64BC53B3C006}"/>
              </a:ext>
            </a:extLst>
          </p:cNvPr>
          <p:cNvSpPr txBox="1"/>
          <p:nvPr/>
        </p:nvSpPr>
        <p:spPr>
          <a:xfrm>
            <a:off x="1521792" y="383833"/>
            <a:ext cx="6947452" cy="707886"/>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Highlights from Review-1</a:t>
            </a:r>
            <a:endParaRPr lang="en-IN"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202937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Expected Outcomes</a:t>
            </a:r>
          </a:p>
        </p:txBody>
      </p:sp>
      <p:sp>
        <p:nvSpPr>
          <p:cNvPr id="3" name="Content Placeholder 2"/>
          <p:cNvSpPr>
            <a:spLocks noGrp="1"/>
          </p:cNvSpPr>
          <p:nvPr>
            <p:ph idx="1"/>
          </p:nvPr>
        </p:nvSpPr>
        <p:spPr>
          <a:xfrm>
            <a:off x="484980" y="1188959"/>
            <a:ext cx="10972800" cy="6583441"/>
          </a:xfrm>
        </p:spPr>
        <p:txBody>
          <a:bodyPr>
            <a:noAutofit/>
          </a:bodyPr>
          <a:lstStyle/>
          <a:p>
            <a:pPr>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Expected Results</a:t>
            </a:r>
          </a:p>
          <a:p>
            <a:pPr marL="857250" lvl="1" indent="-4572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Accurate detection of </a:t>
            </a:r>
            <a:r>
              <a:rPr lang="en-US" sz="1800" b="1" dirty="0">
                <a:latin typeface="Times New Roman" panose="02020603050405020304" pitchFamily="18" charset="0"/>
                <a:cs typeface="Times New Roman" panose="02020603050405020304" pitchFamily="18" charset="0"/>
              </a:rPr>
              <a:t>smishing and </a:t>
            </a:r>
            <a:r>
              <a:rPr lang="en-US" sz="1800" b="1" dirty="0" err="1">
                <a:latin typeface="Times New Roman" panose="02020603050405020304" pitchFamily="18" charset="0"/>
                <a:cs typeface="Times New Roman" panose="02020603050405020304" pitchFamily="18" charset="0"/>
              </a:rPr>
              <a:t>quishing</a:t>
            </a:r>
            <a:r>
              <a:rPr lang="en-US" sz="1800" b="1" dirty="0">
                <a:latin typeface="Times New Roman" panose="02020603050405020304" pitchFamily="18" charset="0"/>
                <a:cs typeface="Times New Roman" panose="02020603050405020304" pitchFamily="18" charset="0"/>
              </a:rPr>
              <a:t> attacks</a:t>
            </a:r>
            <a:r>
              <a:rPr lang="en-US" sz="1800" dirty="0">
                <a:latin typeface="Times New Roman" panose="02020603050405020304" pitchFamily="18" charset="0"/>
                <a:cs typeface="Times New Roman" panose="02020603050405020304" pitchFamily="18" charset="0"/>
              </a:rPr>
              <a:t> </a:t>
            </a:r>
          </a:p>
          <a:p>
            <a:pPr marL="857250" lvl="1" indent="-457200">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Real-time alerts</a:t>
            </a:r>
            <a:r>
              <a:rPr lang="en-US" sz="1800" dirty="0">
                <a:latin typeface="Times New Roman" panose="02020603050405020304" pitchFamily="18" charset="0"/>
                <a:cs typeface="Times New Roman" panose="02020603050405020304" pitchFamily="18" charset="0"/>
              </a:rPr>
              <a:t> before user interaction with malicious links </a:t>
            </a:r>
          </a:p>
          <a:p>
            <a:pPr marL="857250" lvl="1" indent="-4572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Effective identification of </a:t>
            </a:r>
            <a:r>
              <a:rPr lang="en-US" sz="1800" b="1" dirty="0">
                <a:latin typeface="Times New Roman" panose="02020603050405020304" pitchFamily="18" charset="0"/>
                <a:cs typeface="Times New Roman" panose="02020603050405020304" pitchFamily="18" charset="0"/>
              </a:rPr>
              <a:t>suspicious URLs, QR codes, and sender patterns</a:t>
            </a:r>
            <a:r>
              <a:rPr lang="en-US" sz="1800" dirty="0">
                <a:latin typeface="Times New Roman" panose="02020603050405020304" pitchFamily="18" charset="0"/>
                <a:cs typeface="Times New Roman" panose="02020603050405020304" pitchFamily="18" charset="0"/>
              </a:rPr>
              <a:t> </a:t>
            </a:r>
          </a:p>
          <a:p>
            <a:pPr marL="857250" lvl="1" indent="-457200">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Improved </a:t>
            </a:r>
            <a:r>
              <a:rPr lang="en-US" sz="1800" b="1" dirty="0">
                <a:latin typeface="Times New Roman" panose="02020603050405020304" pitchFamily="18" charset="0"/>
                <a:cs typeface="Times New Roman" panose="02020603050405020304" pitchFamily="18" charset="0"/>
              </a:rPr>
              <a:t>user awareness and security</a:t>
            </a:r>
            <a:r>
              <a:rPr lang="en-US" sz="1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Performance Improvements</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High </a:t>
            </a:r>
            <a:r>
              <a:rPr lang="en-US" sz="1800" b="1" dirty="0">
                <a:latin typeface="Times New Roman" panose="02020603050405020304" pitchFamily="18" charset="0"/>
                <a:cs typeface="Times New Roman" panose="02020603050405020304" pitchFamily="18" charset="0"/>
              </a:rPr>
              <a:t>detection accuracy</a:t>
            </a:r>
            <a:r>
              <a:rPr lang="en-US" sz="1800" dirty="0">
                <a:latin typeface="Times New Roman" panose="02020603050405020304" pitchFamily="18" charset="0"/>
                <a:cs typeface="Times New Roman" panose="02020603050405020304" pitchFamily="18" charset="0"/>
              </a:rPr>
              <a:t> with reduced false positives </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Faster </a:t>
            </a:r>
            <a:r>
              <a:rPr lang="en-US" sz="1800" b="1" dirty="0">
                <a:latin typeface="Times New Roman" panose="02020603050405020304" pitchFamily="18" charset="0"/>
                <a:cs typeface="Times New Roman" panose="02020603050405020304" pitchFamily="18" charset="0"/>
              </a:rPr>
              <a:t>real-time processing and response</a:t>
            </a:r>
            <a:r>
              <a:rPr lang="en-US" sz="1800" dirty="0">
                <a:latin typeface="Times New Roman" panose="02020603050405020304" pitchFamily="18" charset="0"/>
                <a:cs typeface="Times New Roman" panose="02020603050405020304" pitchFamily="18" charset="0"/>
              </a:rPr>
              <a:t> </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Efficient handling of </a:t>
            </a:r>
            <a:r>
              <a:rPr lang="en-US" sz="1800" b="1" dirty="0">
                <a:latin typeface="Times New Roman" panose="02020603050405020304" pitchFamily="18" charset="0"/>
                <a:cs typeface="Times New Roman" panose="02020603050405020304" pitchFamily="18" charset="0"/>
              </a:rPr>
              <a:t>large volumes of SMS and QR data</a:t>
            </a:r>
            <a:r>
              <a:rPr lang="en-US" sz="1800" dirty="0">
                <a:latin typeface="Times New Roman" panose="02020603050405020304" pitchFamily="18" charset="0"/>
                <a:cs typeface="Times New Roman" panose="02020603050405020304" pitchFamily="18" charset="0"/>
              </a:rPr>
              <a:t> </a:t>
            </a:r>
          </a:p>
          <a:p>
            <a:pPr lvl="1">
              <a:buFont typeface="Arial" panose="020B0604020202020204" pitchFamily="34" charset="0"/>
              <a:buChar char="•"/>
            </a:pPr>
            <a:r>
              <a:rPr lang="en-US" sz="1800" dirty="0">
                <a:latin typeface="Times New Roman" panose="02020603050405020304" pitchFamily="18" charset="0"/>
                <a:cs typeface="Times New Roman" panose="02020603050405020304" pitchFamily="18" charset="0"/>
              </a:rPr>
              <a:t>Continuous </a:t>
            </a:r>
            <a:r>
              <a:rPr lang="en-US" sz="1800" b="1" dirty="0">
                <a:latin typeface="Times New Roman" panose="02020603050405020304" pitchFamily="18" charset="0"/>
                <a:cs typeface="Times New Roman" panose="02020603050405020304" pitchFamily="18" charset="0"/>
              </a:rPr>
              <a:t>model improvement through feedback loop</a:t>
            </a:r>
            <a:r>
              <a:rPr lang="en-US" sz="1800" dirty="0">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sz="1800" b="1" dirty="0">
                <a:latin typeface="Times New Roman" panose="02020603050405020304" pitchFamily="18" charset="0"/>
                <a:cs typeface="Times New Roman" panose="02020603050405020304" pitchFamily="18" charset="0"/>
              </a:rPr>
              <a:t>Innovation</a:t>
            </a:r>
          </a:p>
          <a:p>
            <a:pPr lvl="1">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Hybrid detection system</a:t>
            </a:r>
            <a:r>
              <a:rPr lang="en-US" sz="1800" dirty="0">
                <a:latin typeface="Times New Roman" panose="02020603050405020304" pitchFamily="18" charset="0"/>
                <a:cs typeface="Times New Roman" panose="02020603050405020304" pitchFamily="18" charset="0"/>
              </a:rPr>
              <a:t> combining SMS (NLP) + QR (Computer Vision) </a:t>
            </a:r>
          </a:p>
          <a:p>
            <a:pPr lvl="1">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Correlation-based analysis</a:t>
            </a:r>
            <a:r>
              <a:rPr lang="en-US" sz="1800" dirty="0">
                <a:latin typeface="Times New Roman" panose="02020603050405020304" pitchFamily="18" charset="0"/>
                <a:cs typeface="Times New Roman" panose="02020603050405020304" pitchFamily="18" charset="0"/>
              </a:rPr>
              <a:t> (SMS ↔ URL/QR) for advanced phishing detection </a:t>
            </a:r>
          </a:p>
          <a:p>
            <a:pPr lvl="1">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Context-aware AI models</a:t>
            </a:r>
            <a:r>
              <a:rPr lang="en-US" sz="1800" dirty="0">
                <a:latin typeface="Times New Roman" panose="02020603050405020304" pitchFamily="18" charset="0"/>
                <a:cs typeface="Times New Roman" panose="02020603050405020304" pitchFamily="18" charset="0"/>
              </a:rPr>
              <a:t> detecting urgency and social engineering patterns </a:t>
            </a:r>
          </a:p>
          <a:p>
            <a:pPr lvl="1">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Adaptive learning system</a:t>
            </a:r>
            <a:r>
              <a:rPr lang="en-US" sz="1800" dirty="0">
                <a:latin typeface="Times New Roman" panose="02020603050405020304" pitchFamily="18" charset="0"/>
                <a:cs typeface="Times New Roman" panose="02020603050405020304" pitchFamily="18" charset="0"/>
              </a:rPr>
              <a:t> that evolves with new attack techniques </a:t>
            </a:r>
          </a:p>
          <a:p>
            <a:endParaRPr sz="18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70847829-BD64-2C2C-C0AE-4F7D00DF9620}"/>
              </a:ext>
            </a:extLst>
          </p:cNvPr>
          <p:cNvSpPr>
            <a:spLocks noGrp="1"/>
          </p:cNvSpPr>
          <p:nvPr>
            <p:ph type="dt" sz="half" idx="10"/>
          </p:nvPr>
        </p:nvSpPr>
        <p:spPr/>
        <p:txBody>
          <a:bodyPr/>
          <a:lstStyle/>
          <a:p>
            <a:r>
              <a:rPr lang="en-IN"/>
              <a:t>24/04/2026</a:t>
            </a:r>
            <a:endParaRPr lang="en-US"/>
          </a:p>
        </p:txBody>
      </p:sp>
      <p:sp>
        <p:nvSpPr>
          <p:cNvPr id="6" name="Footer Placeholder 5">
            <a:extLst>
              <a:ext uri="{FF2B5EF4-FFF2-40B4-BE49-F238E27FC236}">
                <a16:creationId xmlns:a16="http://schemas.microsoft.com/office/drawing/2014/main" id="{1F3129E7-B499-1B8E-2995-FD2A671029C2}"/>
              </a:ext>
            </a:extLst>
          </p:cNvPr>
          <p:cNvSpPr>
            <a:spLocks noGrp="1"/>
          </p:cNvSpPr>
          <p:nvPr>
            <p:ph type="ftr" sz="quarter" idx="11"/>
          </p:nvPr>
        </p:nvSpPr>
        <p:spPr/>
        <p:txBody>
          <a:bodyPr/>
          <a:lstStyle/>
          <a:p>
            <a:r>
              <a:rPr lang="en-US"/>
              <a:t>BMSIT&amp;M, CSE                                 </a:t>
            </a:r>
          </a:p>
        </p:txBody>
      </p:sp>
      <p:sp>
        <p:nvSpPr>
          <p:cNvPr id="7" name="Slide Number Placeholder 6">
            <a:extLst>
              <a:ext uri="{FF2B5EF4-FFF2-40B4-BE49-F238E27FC236}">
                <a16:creationId xmlns:a16="http://schemas.microsoft.com/office/drawing/2014/main" id="{01806868-7651-DE0D-82E7-521A1A50C5C1}"/>
              </a:ext>
            </a:extLst>
          </p:cNvPr>
          <p:cNvSpPr>
            <a:spLocks noGrp="1"/>
          </p:cNvSpPr>
          <p:nvPr>
            <p:ph type="sldNum" sz="quarter" idx="12"/>
          </p:nvPr>
        </p:nvSpPr>
        <p:spPr/>
        <p:txBody>
          <a:bodyPr/>
          <a:lstStyle/>
          <a:p>
            <a:fld id="{C1FF6DA9-008F-8B48-92A6-B652298478BF}" type="slidenum">
              <a:rPr lang="en-US" smtClean="0"/>
              <a:t>19</a:t>
            </a:fld>
            <a:endParaRPr lang="en-US"/>
          </a:p>
        </p:txBody>
      </p:sp>
      <p:sp>
        <p:nvSpPr>
          <p:cNvPr id="8" name="Title 1">
            <a:extLst>
              <a:ext uri="{FF2B5EF4-FFF2-40B4-BE49-F238E27FC236}">
                <a16:creationId xmlns:a16="http://schemas.microsoft.com/office/drawing/2014/main" id="{C54ED730-ECFB-EC2B-DD5A-6ED368D4E434}"/>
              </a:ext>
            </a:extLst>
          </p:cNvPr>
          <p:cNvSpPr txBox="1">
            <a:spLocks/>
          </p:cNvSpPr>
          <p:nvPr/>
        </p:nvSpPr>
        <p:spPr>
          <a:xfrm>
            <a:off x="3162534" y="217803"/>
            <a:ext cx="5955749" cy="669735"/>
          </a:xfrm>
          <a:prstGeom prst="rect">
            <a:avLst/>
          </a:prstGeom>
          <a:solidFill>
            <a:schemeClr val="accent1">
              <a:lumMod val="60000"/>
              <a:lumOff val="40000"/>
            </a:schemeClr>
          </a:solidFill>
          <a:ln w="19050">
            <a:solidFill>
              <a:schemeClr val="accent2">
                <a:lumMod val="50000"/>
              </a:schemeClr>
            </a:solidFill>
          </a:ln>
        </p:spPr>
        <p:txBody>
          <a:bodyPr vert="horz" lIns="91440" tIns="45720" rIns="91440" bIns="45720" rtlCol="0" anchor="ctr">
            <a:normAutofit fontScale="92500" lnSpcReduction="1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latin typeface="Times New Roman" panose="02020603050405020304" pitchFamily="18" charset="0"/>
                <a:ea typeface="Cambria" panose="02040503050406030204" pitchFamily="18" charset="0"/>
                <a:cs typeface="Times New Roman" panose="02020603050405020304" pitchFamily="18" charset="0"/>
              </a:rPr>
              <a:t>Expected Outcome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457200"/>
            <a:ext cx="8229600" cy="1143000"/>
          </a:xfrm>
          <a:solidFill>
            <a:schemeClr val="accent1">
              <a:lumMod val="60000"/>
              <a:lumOff val="40000"/>
            </a:schemeClr>
          </a:solidFill>
        </p:spPr>
        <p:txBody>
          <a:bodyPr/>
          <a:lstStyle/>
          <a:p>
            <a:r>
              <a:rPr dirty="0"/>
              <a:t>Societal &amp; Environmental Impact</a:t>
            </a:r>
          </a:p>
        </p:txBody>
      </p:sp>
      <p:sp>
        <p:nvSpPr>
          <p:cNvPr id="4" name="Date Placeholder 3">
            <a:extLst>
              <a:ext uri="{FF2B5EF4-FFF2-40B4-BE49-F238E27FC236}">
                <a16:creationId xmlns:a16="http://schemas.microsoft.com/office/drawing/2014/main" id="{C46CB09D-3707-3A1C-8747-731838201ECF}"/>
              </a:ext>
            </a:extLst>
          </p:cNvPr>
          <p:cNvSpPr>
            <a:spLocks noGrp="1"/>
          </p:cNvSpPr>
          <p:nvPr>
            <p:ph type="dt" sz="half" idx="10"/>
          </p:nvPr>
        </p:nvSpPr>
        <p:spPr/>
        <p:txBody>
          <a:bodyPr/>
          <a:lstStyle/>
          <a:p>
            <a:r>
              <a:rPr lang="en-IN"/>
              <a:t>24/04/2026</a:t>
            </a:r>
            <a:endParaRPr lang="en-US"/>
          </a:p>
        </p:txBody>
      </p:sp>
      <p:sp>
        <p:nvSpPr>
          <p:cNvPr id="5" name="Footer Placeholder 4">
            <a:extLst>
              <a:ext uri="{FF2B5EF4-FFF2-40B4-BE49-F238E27FC236}">
                <a16:creationId xmlns:a16="http://schemas.microsoft.com/office/drawing/2014/main" id="{3808012B-A6EA-9901-2CEF-76CD2804CE66}"/>
              </a:ext>
            </a:extLst>
          </p:cNvPr>
          <p:cNvSpPr>
            <a:spLocks noGrp="1"/>
          </p:cNvSpPr>
          <p:nvPr>
            <p:ph type="ftr" sz="quarter" idx="11"/>
          </p:nvPr>
        </p:nvSpPr>
        <p:spPr/>
        <p:txBody>
          <a:bodyPr/>
          <a:lstStyle/>
          <a:p>
            <a:r>
              <a:rPr lang="en-US"/>
              <a:t>BMSIT&amp;M, CSE                                 </a:t>
            </a:r>
          </a:p>
        </p:txBody>
      </p:sp>
      <p:sp>
        <p:nvSpPr>
          <p:cNvPr id="6" name="Slide Number Placeholder 5">
            <a:extLst>
              <a:ext uri="{FF2B5EF4-FFF2-40B4-BE49-F238E27FC236}">
                <a16:creationId xmlns:a16="http://schemas.microsoft.com/office/drawing/2014/main" id="{8B6665AF-E2DD-3B5A-B6AD-09BA8BED42D9}"/>
              </a:ext>
            </a:extLst>
          </p:cNvPr>
          <p:cNvSpPr>
            <a:spLocks noGrp="1"/>
          </p:cNvSpPr>
          <p:nvPr>
            <p:ph type="sldNum" sz="quarter" idx="12"/>
          </p:nvPr>
        </p:nvSpPr>
        <p:spPr/>
        <p:txBody>
          <a:bodyPr/>
          <a:lstStyle/>
          <a:p>
            <a:fld id="{C1FF6DA9-008F-8B48-92A6-B652298478BF}" type="slidenum">
              <a:rPr lang="en-US" smtClean="0"/>
              <a:t>20</a:t>
            </a:fld>
            <a:endParaRPr lang="en-US"/>
          </a:p>
        </p:txBody>
      </p:sp>
      <p:sp>
        <p:nvSpPr>
          <p:cNvPr id="9" name="Rectangle 2">
            <a:extLst>
              <a:ext uri="{FF2B5EF4-FFF2-40B4-BE49-F238E27FC236}">
                <a16:creationId xmlns:a16="http://schemas.microsoft.com/office/drawing/2014/main" id="{BA2DB0DD-E48C-8528-AF06-4D192EA0CD41}"/>
              </a:ext>
            </a:extLst>
          </p:cNvPr>
          <p:cNvSpPr>
            <a:spLocks noChangeArrowheads="1"/>
          </p:cNvSpPr>
          <p:nvPr/>
        </p:nvSpPr>
        <p:spPr bwMode="auto">
          <a:xfrm rot="10800000" flipV="1">
            <a:off x="386080" y="1997839"/>
            <a:ext cx="1108456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Social Benefits: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Protects users from financial fraud, identity theft, and phishing attacks while improving digital awareness and trust in mobile communication. Provides easy-to-use security for both technical and non-technical users. </a:t>
            </a: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Environmental Considerations: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Software-based solution with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additional hardware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reducing e-waste. Supports paperless digital security and is optimized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 power and resource consumption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R="0" lvl="0" algn="just"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Safety Factors: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Enables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threat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instant alerts (Block / Report / Ignore), reduces risk of data breaches, and ensures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privacy and secure data handling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Ethics</a:t>
            </a:r>
          </a:p>
        </p:txBody>
      </p:sp>
      <p:sp>
        <p:nvSpPr>
          <p:cNvPr id="3" name="Content Placeholder 2"/>
          <p:cNvSpPr>
            <a:spLocks noGrp="1"/>
          </p:cNvSpPr>
          <p:nvPr>
            <p:ph idx="1"/>
          </p:nvPr>
        </p:nvSpPr>
        <p:spPr>
          <a:xfrm>
            <a:off x="436880" y="1715294"/>
            <a:ext cx="10972800" cy="4525963"/>
          </a:xfrm>
        </p:spPr>
        <p:txBody>
          <a:bodyPr>
            <a:normAutofit/>
          </a:bodyPr>
          <a:lstStyle/>
          <a:p>
            <a:r>
              <a:rPr lang="en-US" sz="2600" dirty="0">
                <a:latin typeface="Times New Roman" panose="02020603050405020304" pitchFamily="18" charset="0"/>
                <a:cs typeface="Times New Roman" panose="02020603050405020304" pitchFamily="18" charset="0"/>
              </a:rPr>
              <a:t>Ensures secure handling of user data with proper permissions. SMS and QR data are processed with </a:t>
            </a:r>
            <a:r>
              <a:rPr lang="en-US" sz="2600" b="1" dirty="0">
                <a:latin typeface="Times New Roman" panose="02020603050405020304" pitchFamily="18" charset="0"/>
                <a:cs typeface="Times New Roman" panose="02020603050405020304" pitchFamily="18" charset="0"/>
              </a:rPr>
              <a:t>privacy protection</a:t>
            </a:r>
            <a:r>
              <a:rPr lang="en-US" sz="2600" dirty="0">
                <a:latin typeface="Times New Roman" panose="02020603050405020304" pitchFamily="18" charset="0"/>
                <a:cs typeface="Times New Roman" panose="02020603050405020304" pitchFamily="18" charset="0"/>
              </a:rPr>
              <a:t>, avoiding unnecessary storage and supporting encryption and anonymization.</a:t>
            </a:r>
          </a:p>
          <a:p>
            <a:r>
              <a:rPr lang="en-US" sz="2600" dirty="0">
                <a:latin typeface="Times New Roman" panose="02020603050405020304" pitchFamily="18" charset="0"/>
                <a:cs typeface="Times New Roman" panose="02020603050405020304" pitchFamily="18" charset="0"/>
              </a:rPr>
              <a:t>All datasets, research papers, and tools used are </a:t>
            </a:r>
            <a:r>
              <a:rPr lang="en-US" sz="2600" b="1" dirty="0">
                <a:latin typeface="Times New Roman" panose="02020603050405020304" pitchFamily="18" charset="0"/>
                <a:cs typeface="Times New Roman" panose="02020603050405020304" pitchFamily="18" charset="0"/>
              </a:rPr>
              <a:t>properly acknowledged</a:t>
            </a:r>
            <a:r>
              <a:rPr lang="en-US" sz="2600" dirty="0">
                <a:latin typeface="Times New Roman" panose="02020603050405020304" pitchFamily="18" charset="0"/>
                <a:cs typeface="Times New Roman" panose="02020603050405020304" pitchFamily="18" charset="0"/>
              </a:rPr>
              <a:t> to maintain academic integrity and transparency.</a:t>
            </a:r>
          </a:p>
          <a:p>
            <a:r>
              <a:rPr lang="en-US" sz="2600" dirty="0">
                <a:latin typeface="Times New Roman" panose="02020603050405020304" pitchFamily="18" charset="0"/>
                <a:cs typeface="Times New Roman" panose="02020603050405020304" pitchFamily="18" charset="0"/>
              </a:rPr>
              <a:t>The system is designed strictly for </a:t>
            </a:r>
            <a:r>
              <a:rPr lang="en-US" sz="2600" b="1" dirty="0">
                <a:latin typeface="Times New Roman" panose="02020603050405020304" pitchFamily="18" charset="0"/>
                <a:cs typeface="Times New Roman" panose="02020603050405020304" pitchFamily="18" charset="0"/>
              </a:rPr>
              <a:t>security and protection purposes</a:t>
            </a:r>
            <a:r>
              <a:rPr lang="en-US" sz="2600" dirty="0">
                <a:latin typeface="Times New Roman" panose="02020603050405020304" pitchFamily="18" charset="0"/>
                <a:cs typeface="Times New Roman" panose="02020603050405020304" pitchFamily="18" charset="0"/>
              </a:rPr>
              <a:t>. It prevents misuse by avoiding unauthorized access, ensuring ethical deployment, and promoting safe digital practices.</a:t>
            </a:r>
            <a:endParaRPr sz="26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B95AB1E0-34E6-12A8-7389-5F48B6F45615}"/>
              </a:ext>
            </a:extLst>
          </p:cNvPr>
          <p:cNvSpPr txBox="1">
            <a:spLocks/>
          </p:cNvSpPr>
          <p:nvPr/>
        </p:nvSpPr>
        <p:spPr>
          <a:xfrm>
            <a:off x="2714625" y="457201"/>
            <a:ext cx="8229600" cy="1143000"/>
          </a:xfrm>
          <a:prstGeom prst="rect">
            <a:avLst/>
          </a:prstGeom>
          <a:solidFill>
            <a:schemeClr val="accent1">
              <a:lumMod val="60000"/>
              <a:lumOff val="40000"/>
            </a:schemeClr>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t>Standards &amp; Sustainability</a:t>
            </a:r>
          </a:p>
        </p:txBody>
      </p:sp>
      <p:sp>
        <p:nvSpPr>
          <p:cNvPr id="5" name="Date Placeholder 4">
            <a:extLst>
              <a:ext uri="{FF2B5EF4-FFF2-40B4-BE49-F238E27FC236}">
                <a16:creationId xmlns:a16="http://schemas.microsoft.com/office/drawing/2014/main" id="{A28378A3-9646-2B03-DC09-148A00AAACCE}"/>
              </a:ext>
            </a:extLst>
          </p:cNvPr>
          <p:cNvSpPr>
            <a:spLocks noGrp="1"/>
          </p:cNvSpPr>
          <p:nvPr>
            <p:ph type="dt" sz="half" idx="10"/>
          </p:nvPr>
        </p:nvSpPr>
        <p:spPr/>
        <p:txBody>
          <a:bodyPr/>
          <a:lstStyle/>
          <a:p>
            <a:r>
              <a:rPr lang="en-IN"/>
              <a:t>24/04/2026</a:t>
            </a:r>
            <a:endParaRPr lang="en-US"/>
          </a:p>
        </p:txBody>
      </p:sp>
      <p:sp>
        <p:nvSpPr>
          <p:cNvPr id="6" name="Footer Placeholder 5">
            <a:extLst>
              <a:ext uri="{FF2B5EF4-FFF2-40B4-BE49-F238E27FC236}">
                <a16:creationId xmlns:a16="http://schemas.microsoft.com/office/drawing/2014/main" id="{DE2F3A0C-077A-0157-5573-2EFA10DD6939}"/>
              </a:ext>
            </a:extLst>
          </p:cNvPr>
          <p:cNvSpPr>
            <a:spLocks noGrp="1"/>
          </p:cNvSpPr>
          <p:nvPr>
            <p:ph type="ftr" sz="quarter" idx="11"/>
          </p:nvPr>
        </p:nvSpPr>
        <p:spPr/>
        <p:txBody>
          <a:bodyPr/>
          <a:lstStyle/>
          <a:p>
            <a:r>
              <a:rPr lang="en-US"/>
              <a:t>BMSIT&amp;M, CSE                                 </a:t>
            </a:r>
          </a:p>
        </p:txBody>
      </p:sp>
      <p:sp>
        <p:nvSpPr>
          <p:cNvPr id="7" name="Slide Number Placeholder 6">
            <a:extLst>
              <a:ext uri="{FF2B5EF4-FFF2-40B4-BE49-F238E27FC236}">
                <a16:creationId xmlns:a16="http://schemas.microsoft.com/office/drawing/2014/main" id="{9058053F-439E-69F8-F7FC-D48894340715}"/>
              </a:ext>
            </a:extLst>
          </p:cNvPr>
          <p:cNvSpPr>
            <a:spLocks noGrp="1"/>
          </p:cNvSpPr>
          <p:nvPr>
            <p:ph type="sldNum" sz="quarter" idx="12"/>
          </p:nvPr>
        </p:nvSpPr>
        <p:spPr/>
        <p:txBody>
          <a:bodyPr/>
          <a:lstStyle/>
          <a:p>
            <a:fld id="{C1FF6DA9-008F-8B48-92A6-B652298478BF}" type="slidenum">
              <a:rPr lang="en-US" smtClean="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This Project Majorly depends upon non-commercial platforms rather than commercial platforms</a:t>
            </a:r>
            <a:endParaRPr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34083270-1427-1B15-62A0-9F03597BF5C0}"/>
              </a:ext>
            </a:extLst>
          </p:cNvPr>
          <p:cNvSpPr txBox="1">
            <a:spLocks/>
          </p:cNvSpPr>
          <p:nvPr/>
        </p:nvSpPr>
        <p:spPr>
          <a:xfrm>
            <a:off x="1691640" y="136524"/>
            <a:ext cx="8229600" cy="1143000"/>
          </a:xfrm>
          <a:prstGeom prst="rect">
            <a:avLst/>
          </a:prstGeom>
          <a:solidFill>
            <a:schemeClr val="accent1">
              <a:lumMod val="60000"/>
              <a:lumOff val="40000"/>
            </a:schemeClr>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t>Cost Analysis</a:t>
            </a:r>
          </a:p>
        </p:txBody>
      </p:sp>
      <p:sp>
        <p:nvSpPr>
          <p:cNvPr id="5" name="Date Placeholder 4">
            <a:extLst>
              <a:ext uri="{FF2B5EF4-FFF2-40B4-BE49-F238E27FC236}">
                <a16:creationId xmlns:a16="http://schemas.microsoft.com/office/drawing/2014/main" id="{AEEAC07E-B07A-16E2-72D7-FC752DFD2370}"/>
              </a:ext>
            </a:extLst>
          </p:cNvPr>
          <p:cNvSpPr>
            <a:spLocks noGrp="1"/>
          </p:cNvSpPr>
          <p:nvPr>
            <p:ph type="dt" sz="half" idx="10"/>
          </p:nvPr>
        </p:nvSpPr>
        <p:spPr/>
        <p:txBody>
          <a:bodyPr/>
          <a:lstStyle/>
          <a:p>
            <a:r>
              <a:rPr lang="en-IN"/>
              <a:t>24/04/2026</a:t>
            </a:r>
            <a:endParaRPr lang="en-US"/>
          </a:p>
        </p:txBody>
      </p:sp>
      <p:sp>
        <p:nvSpPr>
          <p:cNvPr id="6" name="Footer Placeholder 5">
            <a:extLst>
              <a:ext uri="{FF2B5EF4-FFF2-40B4-BE49-F238E27FC236}">
                <a16:creationId xmlns:a16="http://schemas.microsoft.com/office/drawing/2014/main" id="{DCF40CFF-8524-0B16-0D6A-2EE344597A15}"/>
              </a:ext>
            </a:extLst>
          </p:cNvPr>
          <p:cNvSpPr>
            <a:spLocks noGrp="1"/>
          </p:cNvSpPr>
          <p:nvPr>
            <p:ph type="ftr" sz="quarter" idx="11"/>
          </p:nvPr>
        </p:nvSpPr>
        <p:spPr/>
        <p:txBody>
          <a:bodyPr/>
          <a:lstStyle/>
          <a:p>
            <a:r>
              <a:rPr lang="en-US"/>
              <a:t>BMSIT&amp;M, CSE                                 </a:t>
            </a:r>
          </a:p>
        </p:txBody>
      </p:sp>
      <p:sp>
        <p:nvSpPr>
          <p:cNvPr id="7" name="Slide Number Placeholder 6">
            <a:extLst>
              <a:ext uri="{FF2B5EF4-FFF2-40B4-BE49-F238E27FC236}">
                <a16:creationId xmlns:a16="http://schemas.microsoft.com/office/drawing/2014/main" id="{FF78E636-2278-0C04-3266-2B50B22B3447}"/>
              </a:ext>
            </a:extLst>
          </p:cNvPr>
          <p:cNvSpPr>
            <a:spLocks noGrp="1"/>
          </p:cNvSpPr>
          <p:nvPr>
            <p:ph type="sldNum" sz="quarter" idx="12"/>
          </p:nvPr>
        </p:nvSpPr>
        <p:spPr/>
        <p:txBody>
          <a:bodyPr/>
          <a:lstStyle/>
          <a:p>
            <a:fld id="{C1FF6DA9-008F-8B48-92A6-B652298478BF}"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Project Management</a:t>
            </a:r>
          </a:p>
        </p:txBody>
      </p:sp>
      <p:sp>
        <p:nvSpPr>
          <p:cNvPr id="4" name="Title 1">
            <a:extLst>
              <a:ext uri="{FF2B5EF4-FFF2-40B4-BE49-F238E27FC236}">
                <a16:creationId xmlns:a16="http://schemas.microsoft.com/office/drawing/2014/main" id="{D858F20A-9646-C840-F4BF-CACEEBF0D199}"/>
              </a:ext>
            </a:extLst>
          </p:cNvPr>
          <p:cNvSpPr txBox="1">
            <a:spLocks/>
          </p:cNvSpPr>
          <p:nvPr/>
        </p:nvSpPr>
        <p:spPr>
          <a:xfrm>
            <a:off x="1930400" y="227014"/>
            <a:ext cx="8229600" cy="1143000"/>
          </a:xfrm>
          <a:prstGeom prst="rect">
            <a:avLst/>
          </a:prstGeom>
          <a:solidFill>
            <a:schemeClr val="accent1">
              <a:lumMod val="60000"/>
              <a:lumOff val="40000"/>
            </a:schemeClr>
          </a:solidFill>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IN" dirty="0"/>
              <a:t>Project Management</a:t>
            </a:r>
          </a:p>
        </p:txBody>
      </p:sp>
      <p:sp>
        <p:nvSpPr>
          <p:cNvPr id="5" name="Date Placeholder 4">
            <a:extLst>
              <a:ext uri="{FF2B5EF4-FFF2-40B4-BE49-F238E27FC236}">
                <a16:creationId xmlns:a16="http://schemas.microsoft.com/office/drawing/2014/main" id="{A5980C01-4D07-9362-A6D6-A3BE9C0CCEFD}"/>
              </a:ext>
            </a:extLst>
          </p:cNvPr>
          <p:cNvSpPr>
            <a:spLocks noGrp="1"/>
          </p:cNvSpPr>
          <p:nvPr>
            <p:ph type="dt" sz="half" idx="10"/>
          </p:nvPr>
        </p:nvSpPr>
        <p:spPr/>
        <p:txBody>
          <a:bodyPr/>
          <a:lstStyle/>
          <a:p>
            <a:r>
              <a:rPr lang="en-IN" dirty="0"/>
              <a:t>24/04/2026</a:t>
            </a:r>
            <a:endParaRPr lang="en-US" dirty="0"/>
          </a:p>
        </p:txBody>
      </p:sp>
      <p:sp>
        <p:nvSpPr>
          <p:cNvPr id="6" name="Footer Placeholder 5">
            <a:extLst>
              <a:ext uri="{FF2B5EF4-FFF2-40B4-BE49-F238E27FC236}">
                <a16:creationId xmlns:a16="http://schemas.microsoft.com/office/drawing/2014/main" id="{A6B8F34F-60C3-E770-ABB0-941CE67DA31F}"/>
              </a:ext>
            </a:extLst>
          </p:cNvPr>
          <p:cNvSpPr>
            <a:spLocks noGrp="1"/>
          </p:cNvSpPr>
          <p:nvPr>
            <p:ph type="ftr" sz="quarter" idx="11"/>
          </p:nvPr>
        </p:nvSpPr>
        <p:spPr/>
        <p:txBody>
          <a:bodyPr/>
          <a:lstStyle/>
          <a:p>
            <a:r>
              <a:rPr lang="en-US"/>
              <a:t>BMSIT&amp;M, CSE                                 </a:t>
            </a:r>
          </a:p>
        </p:txBody>
      </p:sp>
      <p:sp>
        <p:nvSpPr>
          <p:cNvPr id="7" name="Slide Number Placeholder 6">
            <a:extLst>
              <a:ext uri="{FF2B5EF4-FFF2-40B4-BE49-F238E27FC236}">
                <a16:creationId xmlns:a16="http://schemas.microsoft.com/office/drawing/2014/main" id="{21DBC15E-801D-83A6-6720-92E11B601BAF}"/>
              </a:ext>
            </a:extLst>
          </p:cNvPr>
          <p:cNvSpPr>
            <a:spLocks noGrp="1"/>
          </p:cNvSpPr>
          <p:nvPr>
            <p:ph type="sldNum" sz="quarter" idx="12"/>
          </p:nvPr>
        </p:nvSpPr>
        <p:spPr/>
        <p:txBody>
          <a:bodyPr/>
          <a:lstStyle/>
          <a:p>
            <a:fld id="{C1FF6DA9-008F-8B48-92A6-B652298478BF}" type="slidenum">
              <a:rPr lang="en-US" smtClean="0"/>
              <a:t>23</a:t>
            </a:fld>
            <a:endParaRPr lang="en-US"/>
          </a:p>
        </p:txBody>
      </p:sp>
      <p:sp>
        <p:nvSpPr>
          <p:cNvPr id="8" name="Rectangle 1">
            <a:extLst>
              <a:ext uri="{FF2B5EF4-FFF2-40B4-BE49-F238E27FC236}">
                <a16:creationId xmlns:a16="http://schemas.microsoft.com/office/drawing/2014/main" id="{C5771E29-7D73-CC57-D390-0D489C526377}"/>
              </a:ext>
            </a:extLst>
          </p:cNvPr>
          <p:cNvSpPr>
            <a:spLocks noChangeArrowheads="1"/>
          </p:cNvSpPr>
          <p:nvPr/>
        </p:nvSpPr>
        <p:spPr bwMode="auto">
          <a:xfrm rot="10800000" flipV="1">
            <a:off x="609600" y="1632388"/>
            <a:ext cx="112268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Month 1:</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Problem Identification, Research, literature survey</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Month 2:</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Dataset collection (SMS + QR) and initial preprocessing setup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Month 3:</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AI/ML models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(Smishing +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Quishing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detection)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Month 4:</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Mobile app development (UI + SMS monitoring + QR scanner)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Month 5:</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Integration of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AI models with mobile application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testing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Month 6:</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Final testing, optimization, documentation, and presentation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3489" y="1027706"/>
            <a:ext cx="10972800" cy="5830294"/>
          </a:xfrm>
        </p:spPr>
        <p:txBody>
          <a:bodyPr>
            <a:noAutofit/>
          </a:bodyPr>
          <a:lstStyle/>
          <a:p>
            <a:pPr marL="0" indent="0">
              <a:buNone/>
            </a:pPr>
            <a:r>
              <a:rPr lang="en-IN" sz="1200" dirty="0">
                <a:latin typeface="Times New Roman" panose="02020603050405020304" pitchFamily="18" charset="0"/>
                <a:cs typeface="Times New Roman" panose="02020603050405020304" pitchFamily="18" charset="0"/>
              </a:rPr>
              <a:t>[1] N. Y. </a:t>
            </a:r>
            <a:r>
              <a:rPr lang="en-IN" sz="1200" dirty="0" err="1">
                <a:latin typeface="Times New Roman" panose="02020603050405020304" pitchFamily="18" charset="0"/>
                <a:cs typeface="Times New Roman" panose="02020603050405020304" pitchFamily="18" charset="0"/>
              </a:rPr>
              <a:t>Nagdeve</a:t>
            </a:r>
            <a:r>
              <a:rPr lang="en-IN" sz="1200" dirty="0">
                <a:latin typeface="Times New Roman" panose="02020603050405020304" pitchFamily="18" charset="0"/>
                <a:cs typeface="Times New Roman" panose="02020603050405020304" pitchFamily="18" charset="0"/>
              </a:rPr>
              <a:t>, G. V. </a:t>
            </a:r>
            <a:r>
              <a:rPr lang="en-IN" sz="1200" dirty="0" err="1">
                <a:latin typeface="Times New Roman" panose="02020603050405020304" pitchFamily="18" charset="0"/>
                <a:cs typeface="Times New Roman" panose="02020603050405020304" pitchFamily="18" charset="0"/>
              </a:rPr>
              <a:t>Naktode</a:t>
            </a:r>
            <a:r>
              <a:rPr lang="en-IN" sz="1200" dirty="0">
                <a:latin typeface="Times New Roman" panose="02020603050405020304" pitchFamily="18" charset="0"/>
                <a:cs typeface="Times New Roman" panose="02020603050405020304" pitchFamily="18" charset="0"/>
              </a:rPr>
              <a:t>, R. Rokade, and K. Kamdi, “Real-Time AI/ML-Based Phishing Detection and Prevention System,” </a:t>
            </a:r>
            <a:r>
              <a:rPr lang="en-IN" sz="1200" i="1" dirty="0">
                <a:latin typeface="Times New Roman" panose="02020603050405020304" pitchFamily="18" charset="0"/>
                <a:cs typeface="Times New Roman" panose="02020603050405020304" pitchFamily="18" charset="0"/>
              </a:rPr>
              <a:t>International Journal on Advanced Computer Engineering and Communication Technology</a:t>
            </a:r>
            <a:r>
              <a:rPr lang="en-IN" sz="1200" dirty="0">
                <a:latin typeface="Times New Roman" panose="02020603050405020304" pitchFamily="18" charset="0"/>
                <a:cs typeface="Times New Roman" panose="02020603050405020304" pitchFamily="18" charset="0"/>
              </a:rPr>
              <a:t>, vol. 14, no. 03s, 2025. </a:t>
            </a:r>
          </a:p>
          <a:p>
            <a:pPr marL="0" indent="0">
              <a:buNone/>
            </a:pPr>
            <a:r>
              <a:rPr lang="en-IN" sz="1200" dirty="0">
                <a:latin typeface="Times New Roman" panose="02020603050405020304" pitchFamily="18" charset="0"/>
                <a:cs typeface="Times New Roman" panose="02020603050405020304" pitchFamily="18" charset="0"/>
              </a:rPr>
              <a:t>[2] B. B. Musa, A. A. </a:t>
            </a:r>
            <a:r>
              <a:rPr lang="en-IN" sz="1200" dirty="0" err="1">
                <a:latin typeface="Times New Roman" panose="02020603050405020304" pitchFamily="18" charset="0"/>
                <a:cs typeface="Times New Roman" panose="02020603050405020304" pitchFamily="18" charset="0"/>
              </a:rPr>
              <a:t>Bahago</a:t>
            </a:r>
            <a:r>
              <a:rPr lang="en-IN" sz="1200" dirty="0">
                <a:latin typeface="Times New Roman" panose="02020603050405020304" pitchFamily="18" charset="0"/>
                <a:cs typeface="Times New Roman" panose="02020603050405020304" pitchFamily="18" charset="0"/>
              </a:rPr>
              <a:t>, N. A. Muhammad, and F. Jamal, “Emerging Trends in Phishing: A Look at Smishing, Vishing, </a:t>
            </a:r>
            <a:r>
              <a:rPr lang="en-IN" sz="1200" dirty="0" err="1">
                <a:latin typeface="Times New Roman" panose="02020603050405020304" pitchFamily="18" charset="0"/>
                <a:cs typeface="Times New Roman" panose="02020603050405020304" pitchFamily="18" charset="0"/>
              </a:rPr>
              <a:t>Quishing</a:t>
            </a:r>
            <a:r>
              <a:rPr lang="en-IN" sz="1200" dirty="0">
                <a:latin typeface="Times New Roman" panose="02020603050405020304" pitchFamily="18" charset="0"/>
                <a:cs typeface="Times New Roman" panose="02020603050405020304" pitchFamily="18" charset="0"/>
              </a:rPr>
              <a:t>,” </a:t>
            </a:r>
            <a:r>
              <a:rPr lang="en-IN" sz="1200" i="1" dirty="0">
                <a:latin typeface="Times New Roman" panose="02020603050405020304" pitchFamily="18" charset="0"/>
                <a:cs typeface="Times New Roman" panose="02020603050405020304" pitchFamily="18" charset="0"/>
              </a:rPr>
              <a:t>International Journal of Technology &amp; Emerging Research (IJTER)</a:t>
            </a:r>
            <a:r>
              <a:rPr lang="en-IN" sz="1200" dirty="0">
                <a:latin typeface="Times New Roman" panose="02020603050405020304" pitchFamily="18" charset="0"/>
                <a:cs typeface="Times New Roman" panose="02020603050405020304" pitchFamily="18" charset="0"/>
              </a:rPr>
              <a:t>, vol. 1, no. 1, 2025. </a:t>
            </a:r>
          </a:p>
          <a:p>
            <a:pPr marL="0" indent="0">
              <a:buNone/>
            </a:pPr>
            <a:r>
              <a:rPr lang="en-IN" sz="1200" dirty="0">
                <a:latin typeface="Times New Roman" panose="02020603050405020304" pitchFamily="18" charset="0"/>
                <a:cs typeface="Times New Roman" panose="02020603050405020304" pitchFamily="18" charset="0"/>
              </a:rPr>
              <a:t>[3] M. </a:t>
            </a:r>
            <a:r>
              <a:rPr lang="en-IN" sz="1200" dirty="0" err="1">
                <a:latin typeface="Times New Roman" panose="02020603050405020304" pitchFamily="18" charset="0"/>
                <a:cs typeface="Times New Roman" panose="02020603050405020304" pitchFamily="18" charset="0"/>
              </a:rPr>
              <a:t>Weinz</a:t>
            </a:r>
            <a:r>
              <a:rPr lang="en-IN" sz="1200" dirty="0">
                <a:latin typeface="Times New Roman" panose="02020603050405020304" pitchFamily="18" charset="0"/>
                <a:cs typeface="Times New Roman" panose="02020603050405020304" pitchFamily="18" charset="0"/>
              </a:rPr>
              <a:t>, N. Zannone, L. </a:t>
            </a:r>
            <a:r>
              <a:rPr lang="en-IN" sz="1200" dirty="0" err="1">
                <a:latin typeface="Times New Roman" panose="02020603050405020304" pitchFamily="18" charset="0"/>
                <a:cs typeface="Times New Roman" panose="02020603050405020304" pitchFamily="18" charset="0"/>
              </a:rPr>
              <a:t>Allodi</a:t>
            </a:r>
            <a:r>
              <a:rPr lang="en-IN" sz="1200" dirty="0">
                <a:latin typeface="Times New Roman" panose="02020603050405020304" pitchFamily="18" charset="0"/>
                <a:cs typeface="Times New Roman" panose="02020603050405020304" pitchFamily="18" charset="0"/>
              </a:rPr>
              <a:t>, and G. </a:t>
            </a:r>
            <a:r>
              <a:rPr lang="en-IN" sz="1200" dirty="0" err="1">
                <a:latin typeface="Times New Roman" panose="02020603050405020304" pitchFamily="18" charset="0"/>
                <a:cs typeface="Times New Roman" panose="02020603050405020304" pitchFamily="18" charset="0"/>
              </a:rPr>
              <a:t>Apruzzese,“The</a:t>
            </a:r>
            <a:r>
              <a:rPr lang="en-IN" sz="1200" dirty="0">
                <a:latin typeface="Times New Roman" panose="02020603050405020304" pitchFamily="18" charset="0"/>
                <a:cs typeface="Times New Roman" panose="02020603050405020304" pitchFamily="18" charset="0"/>
              </a:rPr>
              <a:t> Impact of Emerging Phishing Threats: Assessing </a:t>
            </a:r>
            <a:r>
              <a:rPr lang="en-IN" sz="1200" dirty="0" err="1">
                <a:latin typeface="Times New Roman" panose="02020603050405020304" pitchFamily="18" charset="0"/>
                <a:cs typeface="Times New Roman" panose="02020603050405020304" pitchFamily="18" charset="0"/>
              </a:rPr>
              <a:t>Quishing</a:t>
            </a:r>
            <a:r>
              <a:rPr lang="en-IN" sz="1200" dirty="0">
                <a:latin typeface="Times New Roman" panose="02020603050405020304" pitchFamily="18" charset="0"/>
                <a:cs typeface="Times New Roman" panose="02020603050405020304" pitchFamily="18" charset="0"/>
              </a:rPr>
              <a:t> and LLM-Generated Phishing Emails against Organizations,” in </a:t>
            </a:r>
            <a:r>
              <a:rPr lang="en-IN" sz="1200" i="1" dirty="0">
                <a:latin typeface="Times New Roman" panose="02020603050405020304" pitchFamily="18" charset="0"/>
                <a:cs typeface="Times New Roman" panose="02020603050405020304" pitchFamily="18" charset="0"/>
              </a:rPr>
              <a:t>Proc. ACM Asia Conference on Computer and Communications Security (Asia CCS)</a:t>
            </a:r>
            <a:r>
              <a:rPr lang="en-IN" sz="1200" dirty="0">
                <a:latin typeface="Times New Roman" panose="02020603050405020304" pitchFamily="18" charset="0"/>
                <a:cs typeface="Times New Roman" panose="02020603050405020304" pitchFamily="18" charset="0"/>
              </a:rPr>
              <a:t>, Hanoi, Vietnam, 2025. </a:t>
            </a:r>
          </a:p>
          <a:p>
            <a:pPr marL="0" indent="0">
              <a:buNone/>
            </a:pPr>
            <a:r>
              <a:rPr lang="en-IN" sz="1200" dirty="0">
                <a:latin typeface="Times New Roman" panose="02020603050405020304" pitchFamily="18" charset="0"/>
                <a:cs typeface="Times New Roman" panose="02020603050405020304" pitchFamily="18" charset="0"/>
              </a:rPr>
              <a:t>[4] A. Safi and S. </a:t>
            </a:r>
            <a:r>
              <a:rPr lang="en-IN" sz="1200" dirty="0" err="1">
                <a:latin typeface="Times New Roman" panose="02020603050405020304" pitchFamily="18" charset="0"/>
                <a:cs typeface="Times New Roman" panose="02020603050405020304" pitchFamily="18" charset="0"/>
              </a:rPr>
              <a:t>Singh,“A</a:t>
            </a:r>
            <a:r>
              <a:rPr lang="en-IN" sz="1200" dirty="0">
                <a:latin typeface="Times New Roman" panose="02020603050405020304" pitchFamily="18" charset="0"/>
                <a:cs typeface="Times New Roman" panose="02020603050405020304" pitchFamily="18" charset="0"/>
              </a:rPr>
              <a:t> Systematic Literature Review on Phishing Website Detection Techniques,” </a:t>
            </a:r>
            <a:r>
              <a:rPr lang="en-IN" sz="1200" i="1" dirty="0">
                <a:latin typeface="Times New Roman" panose="02020603050405020304" pitchFamily="18" charset="0"/>
                <a:cs typeface="Times New Roman" panose="02020603050405020304" pitchFamily="18" charset="0"/>
              </a:rPr>
              <a:t>Journal of King Saud University – Computer and Information Sciences</a:t>
            </a:r>
            <a:r>
              <a:rPr lang="en-IN" sz="1200" dirty="0">
                <a:latin typeface="Times New Roman" panose="02020603050405020304" pitchFamily="18" charset="0"/>
                <a:cs typeface="Times New Roman" panose="02020603050405020304" pitchFamily="18" charset="0"/>
              </a:rPr>
              <a:t>, vol. 35, pp. 590–611, 2023. </a:t>
            </a:r>
          </a:p>
          <a:p>
            <a:pPr marL="0" indent="0">
              <a:buNone/>
            </a:pPr>
            <a:r>
              <a:rPr lang="en-IN" sz="1200" dirty="0">
                <a:latin typeface="Times New Roman" panose="02020603050405020304" pitchFamily="18" charset="0"/>
                <a:cs typeface="Times New Roman" panose="02020603050405020304" pitchFamily="18" charset="0"/>
              </a:rPr>
              <a:t>[5] G. S. Nayak, B. </a:t>
            </a:r>
            <a:r>
              <a:rPr lang="en-IN" sz="1200" dirty="0" err="1">
                <a:latin typeface="Times New Roman" panose="02020603050405020304" pitchFamily="18" charset="0"/>
                <a:cs typeface="Times New Roman" panose="02020603050405020304" pitchFamily="18" charset="0"/>
              </a:rPr>
              <a:t>Muniyal</a:t>
            </a:r>
            <a:r>
              <a:rPr lang="en-IN" sz="1200" dirty="0">
                <a:latin typeface="Times New Roman" panose="02020603050405020304" pitchFamily="18" charset="0"/>
                <a:cs typeface="Times New Roman" panose="02020603050405020304" pitchFamily="18" charset="0"/>
              </a:rPr>
              <a:t>, and M. C. </a:t>
            </a:r>
            <a:r>
              <a:rPr lang="en-IN" sz="1200" dirty="0" err="1">
                <a:latin typeface="Times New Roman" panose="02020603050405020304" pitchFamily="18" charset="0"/>
                <a:cs typeface="Times New Roman" panose="02020603050405020304" pitchFamily="18" charset="0"/>
              </a:rPr>
              <a:t>Belavagi</a:t>
            </a:r>
            <a:r>
              <a:rPr lang="en-IN" sz="1200" dirty="0">
                <a:latin typeface="Times New Roman" panose="02020603050405020304" pitchFamily="18" charset="0"/>
                <a:cs typeface="Times New Roman" panose="02020603050405020304" pitchFamily="18" charset="0"/>
              </a:rPr>
              <a:t>,“Enhancing Phishing Detection: A Machine Learning Approach With Feature Selection and Deep Learning Models,” </a:t>
            </a:r>
            <a:r>
              <a:rPr lang="en-IN" sz="1200" i="1" dirty="0">
                <a:latin typeface="Times New Roman" panose="02020603050405020304" pitchFamily="18" charset="0"/>
                <a:cs typeface="Times New Roman" panose="02020603050405020304" pitchFamily="18" charset="0"/>
              </a:rPr>
              <a:t>IEEE Access</a:t>
            </a:r>
            <a:r>
              <a:rPr lang="en-IN" sz="1200" dirty="0">
                <a:latin typeface="Times New Roman" panose="02020603050405020304" pitchFamily="18" charset="0"/>
                <a:cs typeface="Times New Roman" panose="02020603050405020304" pitchFamily="18" charset="0"/>
              </a:rPr>
              <a:t>, vol. 13, 2025, </a:t>
            </a:r>
            <a:r>
              <a:rPr lang="en-IN" sz="1200" dirty="0" err="1">
                <a:latin typeface="Times New Roman" panose="02020603050405020304" pitchFamily="18" charset="0"/>
                <a:cs typeface="Times New Roman" panose="02020603050405020304" pitchFamily="18" charset="0"/>
              </a:rPr>
              <a:t>doi</a:t>
            </a:r>
            <a:r>
              <a:rPr lang="en-IN" sz="1200" dirty="0">
                <a:latin typeface="Times New Roman" panose="02020603050405020304" pitchFamily="18" charset="0"/>
                <a:cs typeface="Times New Roman" panose="02020603050405020304" pitchFamily="18" charset="0"/>
              </a:rPr>
              <a:t>: 10.1109/ACCESS.2025.3543738. </a:t>
            </a:r>
          </a:p>
          <a:p>
            <a:pPr marL="0" indent="0">
              <a:buNone/>
            </a:pPr>
            <a:r>
              <a:rPr lang="en-IN" sz="1200" dirty="0">
                <a:latin typeface="Times New Roman" panose="02020603050405020304" pitchFamily="18" charset="0"/>
                <a:cs typeface="Times New Roman" panose="02020603050405020304" pitchFamily="18" charset="0"/>
              </a:rPr>
              <a:t>[6] A. Arif, M. Z. H. Ali, S. Z. Q. Haider, and Q. </a:t>
            </a:r>
            <a:r>
              <a:rPr lang="en-IN" sz="1200" dirty="0" err="1">
                <a:latin typeface="Times New Roman" panose="02020603050405020304" pitchFamily="18" charset="0"/>
                <a:cs typeface="Times New Roman" panose="02020603050405020304" pitchFamily="18" charset="0"/>
              </a:rPr>
              <a:t>Niaz,“AI</a:t>
            </a:r>
            <a:r>
              <a:rPr lang="en-IN" sz="1200" dirty="0">
                <a:latin typeface="Times New Roman" panose="02020603050405020304" pitchFamily="18" charset="0"/>
                <a:cs typeface="Times New Roman" panose="02020603050405020304" pitchFamily="18" charset="0"/>
              </a:rPr>
              <a:t>-Driven Edge Computing for IoT: Revolutionizing Phishing Detection and Mitigation,” </a:t>
            </a:r>
            <a:r>
              <a:rPr lang="en-IN" sz="1200" i="1" dirty="0">
                <a:latin typeface="Times New Roman" panose="02020603050405020304" pitchFamily="18" charset="0"/>
                <a:cs typeface="Times New Roman" panose="02020603050405020304" pitchFamily="18" charset="0"/>
              </a:rPr>
              <a:t>Journal of Computing &amp; Biomedical Informatics</a:t>
            </a:r>
            <a:r>
              <a:rPr lang="en-IN" sz="1200" dirty="0">
                <a:latin typeface="Times New Roman" panose="02020603050405020304" pitchFamily="18" charset="0"/>
                <a:cs typeface="Times New Roman" panose="02020603050405020304" pitchFamily="18" charset="0"/>
              </a:rPr>
              <a:t>, vol. 9, no. 1, 2025. </a:t>
            </a:r>
          </a:p>
          <a:p>
            <a:pPr marL="0" indent="0">
              <a:buNone/>
            </a:pPr>
            <a:r>
              <a:rPr lang="en-IN" sz="1200" dirty="0">
                <a:latin typeface="Times New Roman" panose="02020603050405020304" pitchFamily="18" charset="0"/>
                <a:cs typeface="Times New Roman" panose="02020603050405020304" pitchFamily="18" charset="0"/>
              </a:rPr>
              <a:t>[7] P. </a:t>
            </a:r>
            <a:r>
              <a:rPr lang="en-IN" sz="1200" dirty="0" err="1">
                <a:latin typeface="Times New Roman" panose="02020603050405020304" pitchFamily="18" charset="0"/>
                <a:cs typeface="Times New Roman" panose="02020603050405020304" pitchFamily="18" charset="0"/>
              </a:rPr>
              <a:t>Hasti,“SMS</a:t>
            </a:r>
            <a:r>
              <a:rPr lang="en-IN" sz="1200" dirty="0">
                <a:latin typeface="Times New Roman" panose="02020603050405020304" pitchFamily="18" charset="0"/>
                <a:cs typeface="Times New Roman" panose="02020603050405020304" pitchFamily="18" charset="0"/>
              </a:rPr>
              <a:t> Phishing Detection Using Machine Learning and Deep Learning Techniques,” Master’s thesis, Unitec Institute of Technology, 2025. </a:t>
            </a:r>
          </a:p>
          <a:p>
            <a:pPr marL="0" indent="0">
              <a:buNone/>
            </a:pPr>
            <a:r>
              <a:rPr lang="en-IN" sz="1200" dirty="0">
                <a:latin typeface="Times New Roman" panose="02020603050405020304" pitchFamily="18" charset="0"/>
                <a:cs typeface="Times New Roman" panose="02020603050405020304" pitchFamily="18" charset="0"/>
              </a:rPr>
              <a:t>[8] Luis Rivas, Varun Kumar Singh, Vinayak Khabdelwal, Lanier Watkins, “</a:t>
            </a:r>
            <a:r>
              <a:rPr lang="en-US" sz="1200" dirty="0">
                <a:latin typeface="Times New Roman" panose="02020603050405020304" pitchFamily="18" charset="0"/>
                <a:cs typeface="Times New Roman" panose="02020603050405020304" pitchFamily="18" charset="0"/>
              </a:rPr>
              <a:t>Securing QR Codes Infrastructure Using AI to Detect Malicious Activity</a:t>
            </a:r>
            <a:r>
              <a:rPr lang="en-IN"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2025 IEEE 15th Annual Computing and Communication Workshop and Conference (CCWC).</a:t>
            </a:r>
            <a:endParaRPr lang="en-IN" sz="1200" dirty="0">
              <a:latin typeface="Times New Roman" panose="02020603050405020304" pitchFamily="18" charset="0"/>
              <a:cs typeface="Times New Roman" panose="02020603050405020304" pitchFamily="18" charset="0"/>
            </a:endParaRPr>
          </a:p>
          <a:p>
            <a:pPr marL="0" indent="0">
              <a:buNone/>
            </a:pPr>
            <a:r>
              <a:rPr lang="en-IN" sz="1200" dirty="0">
                <a:latin typeface="Times New Roman" panose="02020603050405020304" pitchFamily="18" charset="0"/>
                <a:cs typeface="Times New Roman" panose="02020603050405020304" pitchFamily="18" charset="0"/>
              </a:rPr>
              <a:t>[9] </a:t>
            </a:r>
            <a:r>
              <a:rPr lang="en-IN" sz="1200" dirty="0" err="1">
                <a:latin typeface="Times New Roman" panose="02020603050405020304" pitchFamily="18" charset="0"/>
                <a:cs typeface="Times New Roman" panose="02020603050405020304" pitchFamily="18" charset="0"/>
              </a:rPr>
              <a:t>Zhursinbek</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Mukhammedali</a:t>
            </a:r>
            <a:r>
              <a:rPr lang="en-IN" sz="1200" dirty="0">
                <a:latin typeface="Times New Roman" panose="02020603050405020304" pitchFamily="18" charset="0"/>
                <a:cs typeface="Times New Roman" panose="02020603050405020304" pitchFamily="18" charset="0"/>
              </a:rPr>
              <a:t>, Khan Vyacheslav, Abdul Razaque, M. Ajmal Khan, Zhuldyz Kalpeyeva,“</a:t>
            </a:r>
            <a:r>
              <a:rPr lang="en-US" sz="1200" dirty="0">
                <a:latin typeface="Times New Roman" panose="02020603050405020304" pitchFamily="18" charset="0"/>
                <a:cs typeface="Times New Roman" panose="02020603050405020304" pitchFamily="18" charset="0"/>
              </a:rPr>
              <a:t>AI-Enhanced Security Framework for QR Codes</a:t>
            </a:r>
            <a:r>
              <a:rPr lang="en-IN"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2025 1st International Conference on Secure IoT, Assured and Trusted Computing(SATC)</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[10] Akshat Gaurav, Brij B. Gupta, Kwok Tai Chui, “</a:t>
            </a:r>
            <a:r>
              <a:rPr lang="en-US" sz="1200" dirty="0">
                <a:latin typeface="Times New Roman" panose="02020603050405020304" pitchFamily="18" charset="0"/>
                <a:cs typeface="Times New Roman" panose="02020603050405020304" pitchFamily="18" charset="0"/>
              </a:rPr>
              <a:t>AI-Driven Smishing Detection in Android Devices Using </a:t>
            </a:r>
            <a:r>
              <a:rPr lang="en-US" sz="1200" dirty="0" err="1">
                <a:latin typeface="Times New Roman" panose="02020603050405020304" pitchFamily="18" charset="0"/>
                <a:cs typeface="Times New Roman" panose="02020603050405020304" pitchFamily="18" charset="0"/>
              </a:rPr>
              <a:t>TinyBERT</a:t>
            </a:r>
            <a:r>
              <a:rPr lang="en-US" sz="1200" dirty="0">
                <a:latin typeface="Times New Roman" panose="02020603050405020304" pitchFamily="18" charset="0"/>
                <a:cs typeface="Times New Roman" panose="02020603050405020304" pitchFamily="18" charset="0"/>
              </a:rPr>
              <a:t> and Aquila Optimization</a:t>
            </a:r>
            <a:r>
              <a:rPr lang="en-IN" sz="1200" dirty="0">
                <a:latin typeface="Times New Roman" panose="02020603050405020304" pitchFamily="18" charset="0"/>
                <a:cs typeface="Times New Roman" panose="02020603050405020304" pitchFamily="18" charset="0"/>
              </a:rPr>
              <a:t>”, </a:t>
            </a:r>
            <a:r>
              <a:rPr lang="en-IN" sz="1200" i="1" dirty="0">
                <a:latin typeface="Times New Roman" panose="02020603050405020304" pitchFamily="18" charset="0"/>
                <a:cs typeface="Times New Roman" panose="02020603050405020304" pitchFamily="18" charset="0"/>
              </a:rPr>
              <a:t>The 27</a:t>
            </a:r>
            <a:r>
              <a:rPr lang="en-IN" sz="1200" i="1" baseline="30000" dirty="0">
                <a:latin typeface="Times New Roman" panose="02020603050405020304" pitchFamily="18" charset="0"/>
                <a:cs typeface="Times New Roman" panose="02020603050405020304" pitchFamily="18" charset="0"/>
              </a:rPr>
              <a:t>th</a:t>
            </a:r>
            <a:r>
              <a:rPr lang="en-IN" sz="1200" i="1" dirty="0">
                <a:latin typeface="Times New Roman" panose="02020603050405020304" pitchFamily="18" charset="0"/>
                <a:cs typeface="Times New Roman" panose="02020603050405020304" pitchFamily="18" charset="0"/>
              </a:rPr>
              <a:t> International Conference on Advanced Communications Technology(ICACT 2025)</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[11] Saleem Raja Abdul Samad, Pradeepa Ganesan, Thangam </a:t>
            </a:r>
            <a:r>
              <a:rPr lang="en-IN" sz="1200" dirty="0" err="1">
                <a:latin typeface="Times New Roman" panose="02020603050405020304" pitchFamily="18" charset="0"/>
                <a:cs typeface="Times New Roman" panose="02020603050405020304" pitchFamily="18" charset="0"/>
              </a:rPr>
              <a:t>S,Sundaravadivazhagan</a:t>
            </a:r>
            <a:r>
              <a:rPr lang="en-IN" sz="1200" dirty="0">
                <a:latin typeface="Times New Roman" panose="02020603050405020304" pitchFamily="18" charset="0"/>
                <a:cs typeface="Times New Roman" panose="02020603050405020304" pitchFamily="18" charset="0"/>
              </a:rPr>
              <a:t>, Saranya Rajiakodi, Amna Salim Rashid Al Kaabi ,“</a:t>
            </a:r>
            <a:r>
              <a:rPr lang="en-US" sz="1200" dirty="0">
                <a:latin typeface="Times New Roman" panose="02020603050405020304" pitchFamily="18" charset="0"/>
                <a:cs typeface="Times New Roman" panose="02020603050405020304" pitchFamily="18" charset="0"/>
              </a:rPr>
              <a:t>SMS-Shield: A Lightweight Approach for Smishing Detection using Machine Learning</a:t>
            </a:r>
            <a:r>
              <a:rPr lang="en-IN"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2024 1st International Conference on Innovative Engineering Sciences and Technological Research (ICIESTR).</a:t>
            </a:r>
            <a:endParaRPr lang="en-IN" sz="1200" dirty="0">
              <a:latin typeface="Times New Roman" panose="02020603050405020304" pitchFamily="18" charset="0"/>
              <a:cs typeface="Times New Roman" panose="02020603050405020304" pitchFamily="18" charset="0"/>
            </a:endParaRPr>
          </a:p>
          <a:p>
            <a:pPr marL="0" indent="0">
              <a:buNone/>
            </a:pPr>
            <a:r>
              <a:rPr lang="en-IN" sz="1200" dirty="0">
                <a:latin typeface="Times New Roman" panose="02020603050405020304" pitchFamily="18" charset="0"/>
                <a:cs typeface="Times New Roman" panose="02020603050405020304" pitchFamily="18" charset="0"/>
              </a:rPr>
              <a:t>[12] Gangisetty Raj Charan, Dr. K Deepa Thilak, “</a:t>
            </a:r>
            <a:r>
              <a:rPr lang="en-US" sz="1200" dirty="0">
                <a:latin typeface="Times New Roman" panose="02020603050405020304" pitchFamily="18" charset="0"/>
                <a:cs typeface="Times New Roman" panose="02020603050405020304" pitchFamily="18" charset="0"/>
              </a:rPr>
              <a:t>Detection of Phishing Link and QR Code of UPI Transaction using Machine Learning</a:t>
            </a:r>
            <a:r>
              <a:rPr lang="en-IN" sz="1200" dirty="0">
                <a:latin typeface="Times New Roman" panose="02020603050405020304" pitchFamily="18" charset="0"/>
                <a:cs typeface="Times New Roman" panose="02020603050405020304" pitchFamily="18" charset="0"/>
              </a:rPr>
              <a:t>”, </a:t>
            </a:r>
            <a:r>
              <a:rPr lang="en-IN" sz="1200" i="1" dirty="0">
                <a:latin typeface="Times New Roman" panose="02020603050405020304" pitchFamily="18" charset="0"/>
                <a:cs typeface="Times New Roman" panose="02020603050405020304" pitchFamily="18" charset="0"/>
              </a:rPr>
              <a:t>2023 3</a:t>
            </a:r>
            <a:r>
              <a:rPr lang="en-IN" sz="1200" i="1" baseline="30000" dirty="0">
                <a:latin typeface="Times New Roman" panose="02020603050405020304" pitchFamily="18" charset="0"/>
                <a:cs typeface="Times New Roman" panose="02020603050405020304" pitchFamily="18" charset="0"/>
              </a:rPr>
              <a:t>rd</a:t>
            </a:r>
            <a:r>
              <a:rPr lang="en-IN" sz="1200" i="1" dirty="0">
                <a:latin typeface="Times New Roman" panose="02020603050405020304" pitchFamily="18" charset="0"/>
                <a:cs typeface="Times New Roman" panose="02020603050405020304" pitchFamily="18" charset="0"/>
              </a:rPr>
              <a:t> International Conference on Innovative Mechanisms for Industry Applications (ICIMIA)</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[13] Delano Oscar Do Rosario Lourenco, MVH Sai Sriraj, Krotha Kayne Thambi, Vibho Ranjan,“</a:t>
            </a:r>
            <a:r>
              <a:rPr lang="en-US" sz="1200" dirty="0">
                <a:latin typeface="Times New Roman" panose="02020603050405020304" pitchFamily="18" charset="0"/>
                <a:cs typeface="Times New Roman" panose="02020603050405020304" pitchFamily="18" charset="0"/>
              </a:rPr>
              <a:t>Malicious URLs and QR Code Classification using Machine Learning and Deep Learning Techniques</a:t>
            </a:r>
            <a:r>
              <a:rPr lang="en-IN"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2023 3rd Asian Conference on Innovation in Technology (ASIANCON)</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[14] </a:t>
            </a:r>
            <a:r>
              <a:rPr lang="en-IN" sz="1200" dirty="0" err="1">
                <a:latin typeface="Times New Roman" panose="02020603050405020304" pitchFamily="18" charset="0"/>
                <a:cs typeface="Times New Roman" panose="02020603050405020304" pitchFamily="18" charset="0"/>
              </a:rPr>
              <a:t>Swarangi</a:t>
            </a:r>
            <a:r>
              <a:rPr lang="en-IN" sz="1200" dirty="0">
                <a:latin typeface="Times New Roman" panose="02020603050405020304" pitchFamily="18" charset="0"/>
                <a:cs typeface="Times New Roman" panose="02020603050405020304" pitchFamily="18" charset="0"/>
              </a:rPr>
              <a:t> Uplenchwar, Varsha Sawant, Prajakta Surve, Shilpa Deshpande, Supriya Kelkar, “</a:t>
            </a:r>
            <a:r>
              <a:rPr lang="en-US" sz="1200" dirty="0">
                <a:latin typeface="Times New Roman" panose="02020603050405020304" pitchFamily="18" charset="0"/>
                <a:cs typeface="Times New Roman" panose="02020603050405020304" pitchFamily="18" charset="0"/>
              </a:rPr>
              <a:t>Phishing Attack Detection on Text Messages Using Machine Learning Techniques</a:t>
            </a:r>
            <a:r>
              <a:rPr lang="en-IN" sz="1200" dirty="0">
                <a:latin typeface="Times New Roman" panose="02020603050405020304" pitchFamily="18" charset="0"/>
                <a:cs typeface="Times New Roman" panose="02020603050405020304" pitchFamily="18" charset="0"/>
              </a:rPr>
              <a:t>”, </a:t>
            </a:r>
            <a:r>
              <a:rPr lang="en-IN" sz="1200" i="1" dirty="0">
                <a:latin typeface="Times New Roman" panose="02020603050405020304" pitchFamily="18" charset="0"/>
                <a:cs typeface="Times New Roman" panose="02020603050405020304" pitchFamily="18" charset="0"/>
              </a:rPr>
              <a:t>2022 IEEE Pune Section International Conference (</a:t>
            </a:r>
            <a:r>
              <a:rPr lang="en-IN" sz="1200" i="1" dirty="0" err="1">
                <a:latin typeface="Times New Roman" panose="02020603050405020304" pitchFamily="18" charset="0"/>
                <a:cs typeface="Times New Roman" panose="02020603050405020304" pitchFamily="18" charset="0"/>
              </a:rPr>
              <a:t>PuneCon</a:t>
            </a:r>
            <a:r>
              <a:rPr lang="en-IN" sz="1200" i="1"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[15] Samadhan M. </a:t>
            </a:r>
            <a:r>
              <a:rPr lang="en-IN" sz="1200" dirty="0" err="1">
                <a:latin typeface="Times New Roman" panose="02020603050405020304" pitchFamily="18" charset="0"/>
                <a:cs typeface="Times New Roman" panose="02020603050405020304" pitchFamily="18" charset="0"/>
              </a:rPr>
              <a:t>Nagare</a:t>
            </a:r>
            <a:r>
              <a:rPr lang="en-IN" sz="1200" dirty="0">
                <a:latin typeface="Times New Roman" panose="02020603050405020304" pitchFamily="18" charset="0"/>
                <a:cs typeface="Times New Roman" panose="02020603050405020304" pitchFamily="18" charset="0"/>
              </a:rPr>
              <a:t>, Pratibha P. Dapke, Syed Ahteshamuddin Quadri, Sagar B. </a:t>
            </a:r>
            <a:r>
              <a:rPr lang="en-IN" sz="1200" dirty="0" err="1">
                <a:latin typeface="Times New Roman" panose="02020603050405020304" pitchFamily="18" charset="0"/>
                <a:cs typeface="Times New Roman" panose="02020603050405020304" pitchFamily="18" charset="0"/>
              </a:rPr>
              <a:t>Bandal</a:t>
            </a:r>
            <a:r>
              <a:rPr lang="en-IN" sz="1200" dirty="0">
                <a:latin typeface="Times New Roman" panose="02020603050405020304" pitchFamily="18" charset="0"/>
                <a:cs typeface="Times New Roman" panose="02020603050405020304" pitchFamily="18" charset="0"/>
              </a:rPr>
              <a:t>, Manasi R. </a:t>
            </a:r>
            <a:r>
              <a:rPr lang="en-IN" sz="1200" dirty="0" err="1">
                <a:latin typeface="Times New Roman" panose="02020603050405020304" pitchFamily="18" charset="0"/>
                <a:cs typeface="Times New Roman" panose="02020603050405020304" pitchFamily="18" charset="0"/>
              </a:rPr>
              <a:t>Baheti</a:t>
            </a:r>
            <a:r>
              <a:rPr lang="en-IN"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Short Message Service (SMS) Mobile Spam Detection using Naïve Bayes</a:t>
            </a:r>
            <a:r>
              <a:rPr lang="en-IN"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2024 5th International Conference on Mobile Computing and Sustainable Informatics (ICMCSI)</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[16] N </a:t>
            </a:r>
            <a:r>
              <a:rPr lang="en-IN" sz="1200" dirty="0" err="1">
                <a:latin typeface="Times New Roman" panose="02020603050405020304" pitchFamily="18" charset="0"/>
                <a:cs typeface="Times New Roman" panose="02020603050405020304" pitchFamily="18" charset="0"/>
              </a:rPr>
              <a:t>Nasurudeen</a:t>
            </a:r>
            <a:r>
              <a:rPr lang="en-IN" sz="1200" dirty="0">
                <a:latin typeface="Times New Roman" panose="02020603050405020304" pitchFamily="18" charset="0"/>
                <a:cs typeface="Times New Roman" panose="02020603050405020304" pitchFamily="18" charset="0"/>
              </a:rPr>
              <a:t> Ahamed, Tangavel Murugan, Bhabendu Kumar Mohanta,“</a:t>
            </a:r>
            <a:r>
              <a:rPr lang="en-US" sz="1200" dirty="0">
                <a:latin typeface="Times New Roman" panose="02020603050405020304" pitchFamily="18" charset="0"/>
                <a:cs typeface="Times New Roman" panose="02020603050405020304" pitchFamily="18" charset="0"/>
              </a:rPr>
              <a:t>QR Code Phishing (</a:t>
            </a:r>
            <a:r>
              <a:rPr lang="en-US" sz="1200" dirty="0" err="1">
                <a:latin typeface="Times New Roman" panose="02020603050405020304" pitchFamily="18" charset="0"/>
                <a:cs typeface="Times New Roman" panose="02020603050405020304" pitchFamily="18" charset="0"/>
              </a:rPr>
              <a:t>Quishing</a:t>
            </a:r>
            <a:r>
              <a:rPr lang="en-US" sz="1200" dirty="0">
                <a:latin typeface="Times New Roman" panose="02020603050405020304" pitchFamily="18" charset="0"/>
                <a:cs typeface="Times New Roman" panose="02020603050405020304" pitchFamily="18" charset="0"/>
              </a:rPr>
              <a:t>): Food Supply Chain Management Traceability Risks Combined With Blockchain Technology</a:t>
            </a:r>
            <a:r>
              <a:rPr lang="en-IN"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2025 3rd International Conference on Business Analytics for Technology and Security (ICBATS)</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[17] Aleksandr Nahapetyan, Sathvik Prasad, Kevin Childs, Adam Oest, Yeganeh Ladwig, </a:t>
            </a:r>
            <a:r>
              <a:rPr lang="en-IN" sz="1200" dirty="0" err="1">
                <a:latin typeface="Times New Roman" panose="02020603050405020304" pitchFamily="18" charset="0"/>
                <a:cs typeface="Times New Roman" panose="02020603050405020304" pitchFamily="18" charset="0"/>
              </a:rPr>
              <a:t>Alexanderos</a:t>
            </a:r>
            <a:r>
              <a:rPr lang="en-IN" sz="1200" dirty="0">
                <a:latin typeface="Times New Roman" panose="02020603050405020304" pitchFamily="18" charset="0"/>
                <a:cs typeface="Times New Roman" panose="02020603050405020304" pitchFamily="18" charset="0"/>
              </a:rPr>
              <a:t> Kapravelous, Bradley Reaves,“</a:t>
            </a:r>
            <a:r>
              <a:rPr lang="en-US" sz="1200" dirty="0">
                <a:latin typeface="Times New Roman" panose="02020603050405020304" pitchFamily="18" charset="0"/>
                <a:cs typeface="Times New Roman" panose="02020603050405020304" pitchFamily="18" charset="0"/>
              </a:rPr>
              <a:t>On SMS Phishing Tactics and Infrastructure</a:t>
            </a:r>
            <a:r>
              <a:rPr lang="en-IN"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2024 IEEE Symposium on Security and Privacy (SP)</a:t>
            </a:r>
            <a:r>
              <a:rPr lang="en-IN" sz="1200" dirty="0">
                <a:latin typeface="Times New Roman" panose="02020603050405020304" pitchFamily="18" charset="0"/>
                <a:cs typeface="Times New Roman" panose="02020603050405020304" pitchFamily="18" charset="0"/>
              </a:rPr>
              <a:t>.</a:t>
            </a:r>
          </a:p>
          <a:p>
            <a:pPr marL="0" indent="0">
              <a:buNone/>
            </a:pPr>
            <a:r>
              <a:rPr lang="en-IN" sz="1200" dirty="0">
                <a:latin typeface="Times New Roman" panose="02020603050405020304" pitchFamily="18" charset="0"/>
                <a:cs typeface="Times New Roman" panose="02020603050405020304" pitchFamily="18" charset="0"/>
              </a:rPr>
              <a:t>[18] Zeynep </a:t>
            </a:r>
            <a:r>
              <a:rPr lang="en-IN" sz="1200" dirty="0" err="1">
                <a:latin typeface="Times New Roman" panose="02020603050405020304" pitchFamily="18" charset="0"/>
                <a:cs typeface="Times New Roman" panose="02020603050405020304" pitchFamily="18" charset="0"/>
              </a:rPr>
              <a:t>Aslanpencesi</a:t>
            </a:r>
            <a:r>
              <a:rPr lang="en-IN" sz="1200" dirty="0">
                <a:latin typeface="Times New Roman" panose="02020603050405020304" pitchFamily="18" charset="0"/>
                <a:cs typeface="Times New Roman" panose="02020603050405020304" pitchFamily="18" charset="0"/>
              </a:rPr>
              <a:t>, Muhammet Baykara, Talha Burak Alakus, “</a:t>
            </a:r>
            <a:r>
              <a:rPr lang="en-US" sz="1200" dirty="0">
                <a:latin typeface="Times New Roman" panose="02020603050405020304" pitchFamily="18" charset="0"/>
                <a:cs typeface="Times New Roman" panose="02020603050405020304" pitchFamily="18" charset="0"/>
              </a:rPr>
              <a:t>SMS Phishing Detection with Hybrid CNN-GRU</a:t>
            </a:r>
            <a:r>
              <a:rPr lang="en-IN"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2024 7th World Symposium on Communication Engineering (WSCE)</a:t>
            </a:r>
            <a:r>
              <a:rPr lang="en-IN" sz="1200" dirty="0">
                <a:latin typeface="Times New Roman" panose="02020603050405020304" pitchFamily="18" charset="0"/>
                <a:cs typeface="Times New Roman" panose="02020603050405020304" pitchFamily="18" charset="0"/>
              </a:rPr>
              <a:t>.</a:t>
            </a:r>
          </a:p>
          <a:p>
            <a:pPr marL="105252" indent="0">
              <a:lnSpc>
                <a:spcPct val="115000"/>
              </a:lnSpc>
              <a:spcBef>
                <a:spcPts val="0"/>
              </a:spcBef>
              <a:buSzPct val="100000"/>
              <a:buNone/>
            </a:pPr>
            <a:endParaRPr lang="en-US" sz="1200" dirty="0">
              <a:latin typeface="Times New Roman" panose="02020603050405020304" pitchFamily="18" charset="0"/>
              <a:ea typeface="Times New Roman"/>
              <a:cs typeface="Times New Roman" panose="02020603050405020304" pitchFamily="18" charset="0"/>
              <a:sym typeface="Times New Roman"/>
            </a:endParaRPr>
          </a:p>
          <a:p>
            <a:pPr marL="105252" indent="0">
              <a:lnSpc>
                <a:spcPct val="115000"/>
              </a:lnSpc>
              <a:spcBef>
                <a:spcPts val="0"/>
              </a:spcBef>
              <a:buSzPct val="100000"/>
              <a:buNone/>
            </a:pPr>
            <a:endParaRPr lang="en-US" sz="1200" dirty="0">
              <a:latin typeface="Times New Roman" panose="02020603050405020304" pitchFamily="18" charset="0"/>
              <a:ea typeface="Times New Roman"/>
              <a:cs typeface="Times New Roman" panose="02020603050405020304" pitchFamily="18" charset="0"/>
              <a:sym typeface="Times New Roman"/>
            </a:endParaRPr>
          </a:p>
        </p:txBody>
      </p:sp>
      <p:sp>
        <p:nvSpPr>
          <p:cNvPr id="4" name="Date Placeholder 3">
            <a:extLst>
              <a:ext uri="{FF2B5EF4-FFF2-40B4-BE49-F238E27FC236}">
                <a16:creationId xmlns:a16="http://schemas.microsoft.com/office/drawing/2014/main" id="{494BF346-E2CC-BEB0-7525-2BCF490A74F6}"/>
              </a:ext>
            </a:extLst>
          </p:cNvPr>
          <p:cNvSpPr>
            <a:spLocks noGrp="1"/>
          </p:cNvSpPr>
          <p:nvPr>
            <p:ph type="dt" sz="half" idx="10"/>
          </p:nvPr>
        </p:nvSpPr>
        <p:spPr/>
        <p:txBody>
          <a:bodyPr/>
          <a:lstStyle/>
          <a:p>
            <a:r>
              <a:rPr lang="en-IN" dirty="0">
                <a:latin typeface="Times New Roman" panose="02020603050405020304" pitchFamily="18" charset="0"/>
                <a:cs typeface="Times New Roman" panose="02020603050405020304" pitchFamily="18" charset="0"/>
              </a:rPr>
              <a:t>24/04/2026</a:t>
            </a:r>
            <a:endParaRPr lang="en-US"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EAFAA3A5-3EF4-BCA8-7C48-CA28BB497757}"/>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BMSIT&amp;M, CSE                                 </a:t>
            </a:r>
          </a:p>
        </p:txBody>
      </p:sp>
      <p:sp>
        <p:nvSpPr>
          <p:cNvPr id="6" name="Slide Number Placeholder 5">
            <a:extLst>
              <a:ext uri="{FF2B5EF4-FFF2-40B4-BE49-F238E27FC236}">
                <a16:creationId xmlns:a16="http://schemas.microsoft.com/office/drawing/2014/main" id="{DE304D16-176C-8AA7-6FA4-88AF1AACF3CC}"/>
              </a:ext>
            </a:extLst>
          </p:cNvPr>
          <p:cNvSpPr>
            <a:spLocks noGrp="1"/>
          </p:cNvSpPr>
          <p:nvPr>
            <p:ph type="sldNum" sz="quarter" idx="12"/>
          </p:nvPr>
        </p:nvSpPr>
        <p:spPr/>
        <p:txBody>
          <a:bodyPr/>
          <a:lstStyle/>
          <a:p>
            <a:fld id="{C1FF6DA9-008F-8B48-92A6-B652298478BF}" type="slidenum">
              <a:rPr lang="en-US" smtClean="0">
                <a:latin typeface="Times New Roman" panose="02020603050405020304" pitchFamily="18" charset="0"/>
                <a:cs typeface="Times New Roman" panose="02020603050405020304" pitchFamily="18" charset="0"/>
              </a:rPr>
              <a:t>24</a:t>
            </a:fld>
            <a:endParaRPr lang="en-US">
              <a:latin typeface="Times New Roman" panose="02020603050405020304" pitchFamily="18" charset="0"/>
              <a:cs typeface="Times New Roman" panose="02020603050405020304" pitchFamily="18" charset="0"/>
            </a:endParaRPr>
          </a:p>
        </p:txBody>
      </p:sp>
      <p:sp>
        <p:nvSpPr>
          <p:cNvPr id="7" name="Title 1">
            <a:extLst>
              <a:ext uri="{FF2B5EF4-FFF2-40B4-BE49-F238E27FC236}">
                <a16:creationId xmlns:a16="http://schemas.microsoft.com/office/drawing/2014/main" id="{E9841976-E672-3493-C28B-F916650A2A37}"/>
              </a:ext>
            </a:extLst>
          </p:cNvPr>
          <p:cNvSpPr txBox="1">
            <a:spLocks/>
          </p:cNvSpPr>
          <p:nvPr/>
        </p:nvSpPr>
        <p:spPr>
          <a:xfrm>
            <a:off x="1981200" y="91915"/>
            <a:ext cx="8229600" cy="548165"/>
          </a:xfrm>
          <a:prstGeom prst="rect">
            <a:avLst/>
          </a:prstGeom>
          <a:solidFill>
            <a:schemeClr val="accent1">
              <a:lumMod val="20000"/>
              <a:lumOff val="80000"/>
            </a:schemeClr>
          </a:solidFill>
          <a:ln w="19050">
            <a:solidFill>
              <a:schemeClr val="accent2">
                <a:lumMod val="50000"/>
              </a:schemeClr>
            </a:solidFill>
          </a:ln>
        </p:spPr>
        <p:txBody>
          <a:bodyPr vert="horz" lIns="91440" tIns="45720" rIns="91440" bIns="45720" rtlCol="0" anchor="ctr">
            <a:normAutofit fontScale="85000" lnSpcReduction="20000"/>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dirty="0">
                <a:latin typeface="Times New Roman" panose="02020603050405020304" pitchFamily="18" charset="0"/>
                <a:ea typeface="Roboto"/>
                <a:cs typeface="Times New Roman" panose="02020603050405020304" pitchFamily="18" charset="0"/>
                <a:sym typeface="Roboto"/>
              </a:rPr>
              <a:t>R</a:t>
            </a:r>
            <a:r>
              <a:rPr lang="en-US" sz="4400" dirty="0">
                <a:latin typeface="Times New Roman" panose="02020603050405020304" pitchFamily="18" charset="0"/>
                <a:ea typeface="Roboto"/>
                <a:cs typeface="Times New Roman" panose="02020603050405020304" pitchFamily="18" charset="0"/>
                <a:sym typeface="Roboto"/>
              </a:rPr>
              <a:t>eferences</a:t>
            </a:r>
            <a:endParaRPr lang="en-IN"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6933</TotalTime>
  <Words>3748</Words>
  <Application>Microsoft Office PowerPoint</Application>
  <PresentationFormat>Widescreen</PresentationFormat>
  <Paragraphs>371</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Calibri</vt:lpstr>
      <vt:lpstr>Times New Roman</vt:lpstr>
      <vt:lpstr>Wingdings</vt:lpstr>
      <vt:lpstr>Office Theme</vt:lpstr>
      <vt:lpstr>Department of Computer Science and Engineering</vt:lpstr>
      <vt:lpstr>PowerPoint Presentation</vt:lpstr>
      <vt:lpstr>Problem Statement</vt:lpstr>
      <vt:lpstr>PowerPoint Presentation</vt:lpstr>
      <vt:lpstr>PowerPoint Presentation</vt:lpstr>
      <vt:lpstr>PowerPoint Presentation</vt:lpstr>
      <vt:lpstr>PowerPoint Presentation</vt:lpstr>
      <vt:lpstr>PowerPoint Presentation</vt:lpstr>
      <vt:lpstr>Literature Survey Summary</vt:lpstr>
      <vt:lpstr>PowerPoint Presentation</vt:lpstr>
      <vt:lpstr>Proposed System Overview</vt:lpstr>
      <vt:lpstr>Objectives</vt:lpstr>
      <vt:lpstr>PowerPoint Presentation</vt:lpstr>
      <vt:lpstr>Proposed Methodology</vt:lpstr>
      <vt:lpstr>Proposed Methodology</vt:lpstr>
      <vt:lpstr>PowerPoint Presentation</vt:lpstr>
      <vt:lpstr>Tools &amp; Technologies</vt:lpstr>
      <vt:lpstr>PowerPoint Presentation</vt:lpstr>
      <vt:lpstr>Expected Outcomes</vt:lpstr>
      <vt:lpstr>Societal &amp; Environmental Impact</vt:lpstr>
      <vt:lpstr>Ethics</vt:lpstr>
      <vt:lpstr>PowerPoint Presentation</vt:lpstr>
      <vt:lpstr>Project Management</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Science and Engineering</dc:title>
  <dc:subject/>
  <dc:creator>Nithin Naik R</dc:creator>
  <cp:keywords/>
  <dc:description>generated using python-pptx</dc:description>
  <cp:lastModifiedBy>Nithin Naik R</cp:lastModifiedBy>
  <cp:revision>25</cp:revision>
  <cp:lastPrinted>2026-04-17T09:40:08Z</cp:lastPrinted>
  <dcterms:created xsi:type="dcterms:W3CDTF">2013-01-27T09:14:16Z</dcterms:created>
  <dcterms:modified xsi:type="dcterms:W3CDTF">2026-04-26T13:55:41Z</dcterms:modified>
  <cp:category/>
</cp:coreProperties>
</file>